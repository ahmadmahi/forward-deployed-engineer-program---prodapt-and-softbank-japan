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 i="0">
                <a:solidFill>
                  <a:srgbClr val="FF8A3D"/>
                </a:solidFill>
                <a:latin typeface="Calibri"/>
              </a:rPr>
              <a:t>DAY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</a:rPr>
              <a:t>FastAPI Advanced, Security and MongoDB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2316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 i="0">
                <a:solidFill>
                  <a:srgbClr val="CDEFEC"/>
                </a:solidFill>
                <a:latin typeface="Calibri"/>
              </a:rPr>
              <a:t>Dependencies, middleware, JWT and OWASP API Top 10, MongoDB APIs, and a security check for AI-generated code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3291840"/>
            <a:ext cx="164592" cy="164592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6112" y="3291840"/>
            <a:ext cx="164592" cy="164592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2144" y="3291840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0" i="0">
                <a:solidFill>
                  <a:srgbClr val="CDEFEC"/>
                </a:solidFill>
                <a:latin typeface="Calibri"/>
              </a:rPr>
              <a:t>Tue 03 Nov 2026  |  Basics 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6908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/>
              </a:rPr>
              <a:t>Prepared by Ahmed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1596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i="0">
                <a:solidFill>
                  <a:srgbClr val="CDEFEC"/>
                </a:solidFill>
                <a:latin typeface="Calibri"/>
              </a:rPr>
              <a:t>linkedin.com/in/ahmed-al-imaad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Today's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7  |  FastAPI Advanced, Security and MongoDB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FF8A3D"/>
                </a:solidFill>
                <a:latin typeface="Calibri"/>
              </a:rPr>
              <a:t>Ohayou gozaimasu (おはようございます): Good morning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Quiz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15 questions on Day 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66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594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94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24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Dependencies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94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Depends(), middleware, exception handling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788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88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8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Security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8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JWT, hashing, OWASP API Top 10. NEW (v4)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MongoDB APIs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CRUD, aggregation, pagination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766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4594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594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624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NoSQL injection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594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Validate every input. NEW (v4)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960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2788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788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818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Security check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788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bandit, pip-audit, vulnerability report v1. NEW (v4)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By the end of today you can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7  |  FastAPI Advanced, Security and MongoDB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Inject dependencies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Reuse DB access, settings and auth with Depends(); add middleware.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Secure endpoints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Hash passwords, issue short-lived scoped JWTs, map risks to OWASP API Top 10.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Build Mongo APIs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CRUD, aggregation and pagination with input validation.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Check AI code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Scan with bandit and pip-audit and write a vulnerability report.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Dependencies, middleware and 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Session 1 | 1.5 Hrs | Ask for what you need, FastAPI provides 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Without and with Depends()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7  |  FastAPI Advanced, Security and MongoDB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4023360" cy="32004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FF8A3D"/>
                </a:solidFill>
                <a:latin typeface="Calibri"/>
              </a:rPr>
              <a:t>Without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Every endpoint opens its own DB connection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Auth checks copied into each function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Hard to swap in a fake for tests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097280"/>
            <a:ext cx="4023360" cy="32004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9204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0FA3A3"/>
                </a:solidFill>
                <a:latin typeface="Calibri"/>
              </a:rPr>
              <a:t>With Depends()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Write the logic once as a function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Declare it as a parameter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FastAPI calls it for you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Override it easily in tests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Dependencies, with and without yield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7  |  FastAPI Advanced, Security and MongoDB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A dependency is just a function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Its return value becomes the parameter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Code after yield always runs: clean up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Perfect for database sessions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79" b="0" i="0">
                <a:solidFill>
                  <a:srgbClr val="EAF7F5"/>
                </a:solidFill>
                <a:latin typeface="Courier New"/>
              </a:rPr>
              <a:t>from fastapi import Depends, Query</a:t>
            </a:r>
          </a:p>
          <a:p>
            <a:r>
              <a:rPr sz="879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879" b="0" i="0">
                <a:solidFill>
                  <a:srgbClr val="EAF7F5"/>
                </a:solidFill>
                <a:latin typeface="Courier New"/>
              </a:rPr>
              <a:t>def pagination(skip: int = Query(0, ge=0),</a:t>
            </a:r>
          </a:p>
          <a:p>
            <a:r>
              <a:rPr sz="879" b="0" i="0">
                <a:solidFill>
                  <a:srgbClr val="EAF7F5"/>
                </a:solidFill>
                <a:latin typeface="Courier New"/>
              </a:rPr>
              <a:t>               limit: int = Query(10, ge=1, le=50)):</a:t>
            </a:r>
          </a:p>
          <a:p>
            <a:r>
              <a:rPr sz="879" b="0" i="0">
                <a:solidFill>
                  <a:srgbClr val="EAF7F5"/>
                </a:solidFill>
                <a:latin typeface="Courier New"/>
              </a:rPr>
              <a:t>    return {"skip": skip, "limit": limit}</a:t>
            </a:r>
          </a:p>
          <a:p>
            <a:r>
              <a:rPr sz="879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879" b="0" i="0">
                <a:solidFill>
                  <a:srgbClr val="EAF7F5"/>
                </a:solidFill>
                <a:latin typeface="Courier New"/>
              </a:rPr>
              <a:t>def get_db():</a:t>
            </a:r>
          </a:p>
          <a:p>
            <a:r>
              <a:rPr sz="879" b="0" i="0">
                <a:solidFill>
                  <a:srgbClr val="EAF7F5"/>
                </a:solidFill>
                <a:latin typeface="Courier New"/>
              </a:rPr>
              <a:t>    db = SessionLocal()</a:t>
            </a:r>
          </a:p>
          <a:p>
            <a:r>
              <a:rPr sz="879" b="0" i="0">
                <a:solidFill>
                  <a:srgbClr val="EAF7F5"/>
                </a:solidFill>
                <a:latin typeface="Courier New"/>
              </a:rPr>
              <a:t>    try:</a:t>
            </a:r>
          </a:p>
          <a:p>
            <a:r>
              <a:rPr sz="879" b="0" i="0">
                <a:solidFill>
                  <a:srgbClr val="EAF7F5"/>
                </a:solidFill>
                <a:latin typeface="Courier New"/>
              </a:rPr>
              <a:t>        yield db</a:t>
            </a:r>
          </a:p>
          <a:p>
            <a:r>
              <a:rPr sz="879" b="0" i="0">
                <a:solidFill>
                  <a:srgbClr val="EAF7F5"/>
                </a:solidFill>
                <a:latin typeface="Courier New"/>
              </a:rPr>
              <a:t>    finally:</a:t>
            </a:r>
          </a:p>
          <a:p>
            <a:r>
              <a:rPr sz="879" b="0" i="0">
                <a:solidFill>
                  <a:srgbClr val="EAF7F5"/>
                </a:solidFill>
                <a:latin typeface="Courier New"/>
              </a:rPr>
              <a:t>        db.close()</a:t>
            </a:r>
          </a:p>
          <a:p>
            <a:r>
              <a:rPr sz="879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879" b="0" i="0">
                <a:solidFill>
                  <a:srgbClr val="EAF7F5"/>
                </a:solidFill>
                <a:latin typeface="Courier New"/>
              </a:rPr>
              <a:t>@app.get("/tickets")</a:t>
            </a:r>
          </a:p>
          <a:p>
            <a:r>
              <a:rPr sz="879" b="0" i="0">
                <a:solidFill>
                  <a:srgbClr val="EAF7F5"/>
                </a:solidFill>
                <a:latin typeface="Courier New"/>
              </a:rPr>
              <a:t>def tickets(page=Depends(pagination), db=Depends(get_db)):</a:t>
            </a:r>
          </a:p>
          <a:p>
            <a:r>
              <a:rPr sz="879" b="0" i="0">
                <a:solidFill>
                  <a:srgbClr val="EAF7F5"/>
                </a:solidFill>
                <a:latin typeface="Courier New"/>
              </a:rPr>
              <a:t>    ...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How middleware wraps a request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7  |  FastAPI Advanced, Security and MongoDB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817370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37285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7285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163449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Request 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560320"/>
            <a:ext cx="159791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Middleware sees it first</a:t>
            </a:r>
          </a:p>
        </p:txBody>
      </p:sp>
      <p:sp>
        <p:nvSpPr>
          <p:cNvPr id="10" name="Chevron 9"/>
          <p:cNvSpPr/>
          <p:nvPr/>
        </p:nvSpPr>
        <p:spPr>
          <a:xfrm>
            <a:off x="2356865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94610" y="1371600"/>
            <a:ext cx="1817370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274695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4695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86050" y="2148840"/>
            <a:ext cx="163449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call_next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4338" y="2560320"/>
            <a:ext cx="159791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Passes it to your endpoint</a:t>
            </a:r>
          </a:p>
        </p:txBody>
      </p:sp>
      <p:sp>
        <p:nvSpPr>
          <p:cNvPr id="16" name="Chevron 15"/>
          <p:cNvSpPr/>
          <p:nvPr/>
        </p:nvSpPr>
        <p:spPr>
          <a:xfrm>
            <a:off x="4494276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32020" y="1371600"/>
            <a:ext cx="1817370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412105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12105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23459" y="2148840"/>
            <a:ext cx="163449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Response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1748" y="2560320"/>
            <a:ext cx="159791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Comes back through middleware</a:t>
            </a:r>
          </a:p>
        </p:txBody>
      </p:sp>
      <p:sp>
        <p:nvSpPr>
          <p:cNvPr id="22" name="Chevron 21"/>
          <p:cNvSpPr/>
          <p:nvPr/>
        </p:nvSpPr>
        <p:spPr>
          <a:xfrm>
            <a:off x="6631686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69429" y="1371600"/>
            <a:ext cx="1817370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549515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49515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60869" y="2148840"/>
            <a:ext cx="163449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Out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79157" y="2560320"/>
            <a:ext cx="159791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Headers added, time logged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977639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Use it for logging, timing, request ids and CORS. Keep it fast.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Middleware and exception handlers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7  |  FastAPI Advanced, Security and MongoDB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@app.middleware("http") wraps every request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Add timing and request id headers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@app.exception_handler turns your errors into clean JSON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Never leak stack traces to clients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85" b="0" i="0">
                <a:solidFill>
                  <a:srgbClr val="EAF7F5"/>
                </a:solidFill>
                <a:latin typeface="Courier New"/>
              </a:rPr>
              <a:t>@app.middleware("http")</a:t>
            </a:r>
          </a:p>
          <a:p>
            <a:r>
              <a:rPr sz="1085" b="0" i="0">
                <a:solidFill>
                  <a:srgbClr val="EAF7F5"/>
                </a:solidFill>
                <a:latin typeface="Courier New"/>
              </a:rPr>
              <a:t>async def timer(request, call_next):</a:t>
            </a:r>
          </a:p>
          <a:p>
            <a:r>
              <a:rPr sz="1085" b="0" i="0">
                <a:solidFill>
                  <a:srgbClr val="EAF7F5"/>
                </a:solidFill>
                <a:latin typeface="Courier New"/>
              </a:rPr>
              <a:t>    start = time.perf_counter()</a:t>
            </a:r>
          </a:p>
          <a:p>
            <a:r>
              <a:rPr sz="1085" b="0" i="0">
                <a:solidFill>
                  <a:srgbClr val="EAF7F5"/>
                </a:solidFill>
                <a:latin typeface="Courier New"/>
              </a:rPr>
              <a:t>    response = await call_next(request)</a:t>
            </a:r>
          </a:p>
          <a:p>
            <a:r>
              <a:rPr sz="1085" b="0" i="0">
                <a:solidFill>
                  <a:srgbClr val="EAF7F5"/>
                </a:solidFill>
                <a:latin typeface="Courier New"/>
              </a:rPr>
              <a:t>    ms = (time.perf_counter() - start) * 1000</a:t>
            </a:r>
          </a:p>
          <a:p>
            <a:r>
              <a:rPr sz="1085" b="0" i="0">
                <a:solidFill>
                  <a:srgbClr val="EAF7F5"/>
                </a:solidFill>
                <a:latin typeface="Courier New"/>
              </a:rPr>
              <a:t>    response.headers["X-Time-ms"] = f"{ms:.1f}"</a:t>
            </a:r>
          </a:p>
          <a:p>
            <a:r>
              <a:rPr sz="1085" b="0" i="0">
                <a:solidFill>
                  <a:srgbClr val="EAF7F5"/>
                </a:solidFill>
                <a:latin typeface="Courier New"/>
              </a:rPr>
              <a:t>    return response</a:t>
            </a:r>
          </a:p>
          <a:p>
            <a:r>
              <a:rPr sz="1085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085" b="0" i="0">
                <a:solidFill>
                  <a:srgbClr val="EAF7F5"/>
                </a:solidFill>
                <a:latin typeface="Courier New"/>
              </a:rPr>
              <a:t>class TicketLocked(Exception): ...</a:t>
            </a:r>
          </a:p>
          <a:p>
            <a:r>
              <a:rPr sz="1085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085" b="0" i="0">
                <a:solidFill>
                  <a:srgbClr val="EAF7F5"/>
                </a:solidFill>
                <a:latin typeface="Courier New"/>
              </a:rPr>
              <a:t>@app.exception_handler(TicketLocked)</a:t>
            </a:r>
          </a:p>
          <a:p>
            <a:r>
              <a:rPr sz="1085" b="0" i="0">
                <a:solidFill>
                  <a:srgbClr val="EAF7F5"/>
                </a:solidFill>
                <a:latin typeface="Courier New"/>
              </a:rPr>
              <a:t>def locked(request, exc):</a:t>
            </a:r>
          </a:p>
          <a:p>
            <a:r>
              <a:rPr sz="1085" b="0" i="0">
                <a:solidFill>
                  <a:srgbClr val="EAF7F5"/>
                </a:solidFill>
                <a:latin typeface="Courier New"/>
              </a:rPr>
              <a:t>    return JSONResponse(status_code=409,</a:t>
            </a:r>
          </a:p>
          <a:p>
            <a:r>
              <a:rPr sz="1085" b="0" i="0">
                <a:solidFill>
                  <a:srgbClr val="EAF7F5"/>
                </a:solidFill>
                <a:latin typeface="Courier New"/>
              </a:rPr>
              <a:t>        content={"detail": "Ticket is closed"})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Authentication, JWT and API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Session 2 | 2 Hrs | Proving who you are, safely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Authentication and authorisation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7  |  FastAPI Advanced, Security and MongoDB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4023360" cy="32004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FF8A3D"/>
                </a:solidFill>
                <a:latin typeface="Calibri"/>
              </a:rPr>
              <a:t>Authentication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Who are you?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Login with username and password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Fails with 401 Unauthorized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097280"/>
            <a:ext cx="4023360" cy="32004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9204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0FA3A3"/>
                </a:solidFill>
                <a:latin typeface="Calibri"/>
              </a:rPr>
              <a:t>Authorisation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What are you allowed to do?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Roles and scopes such as agent or admin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Fails with 403 Forbidden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Storing passwords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7  |  FastAPI Advanced, Security and MongoDB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Approach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Safe?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Plain text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Never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One leak exposes every account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Simple hash (md5, sha1)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Fast to crack with lookup tables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Slow salted hash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bcrypt, argon2, pbkdf2: slow and unique per user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2770632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You can check a password against a hash, but never turn the hash back into the password.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The JWT login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7  |  FastAPI Advanced, Security and MongoDB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FF8A3D"/>
                </a:solidFill>
                <a:latin typeface="Calibri"/>
              </a:rPr>
              <a:t>Himitsu (秘密): Secret. Keep the signing key safe!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817370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7285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7285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63449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Login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560320"/>
            <a:ext cx="159791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POST /token with username and password</a:t>
            </a:r>
          </a:p>
        </p:txBody>
      </p:sp>
      <p:sp>
        <p:nvSpPr>
          <p:cNvPr id="11" name="Chevron 10"/>
          <p:cNvSpPr/>
          <p:nvPr/>
        </p:nvSpPr>
        <p:spPr>
          <a:xfrm>
            <a:off x="2356865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94610" y="1371600"/>
            <a:ext cx="1817370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274695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74695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86050" y="2148840"/>
            <a:ext cx="163449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Verify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04338" y="2560320"/>
            <a:ext cx="159791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Server checks the password hash</a:t>
            </a:r>
          </a:p>
        </p:txBody>
      </p:sp>
      <p:sp>
        <p:nvSpPr>
          <p:cNvPr id="17" name="Chevron 16"/>
          <p:cNvSpPr/>
          <p:nvPr/>
        </p:nvSpPr>
        <p:spPr>
          <a:xfrm>
            <a:off x="4494276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32020" y="1371600"/>
            <a:ext cx="1817370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412105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12105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3459" y="2148840"/>
            <a:ext cx="163449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Issue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1748" y="2560320"/>
            <a:ext cx="159791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Server signs and returns a JWT</a:t>
            </a:r>
          </a:p>
        </p:txBody>
      </p:sp>
      <p:sp>
        <p:nvSpPr>
          <p:cNvPr id="23" name="Chevron 22"/>
          <p:cNvSpPr/>
          <p:nvPr/>
        </p:nvSpPr>
        <p:spPr>
          <a:xfrm>
            <a:off x="6631686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69429" y="1371600"/>
            <a:ext cx="1817370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549515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49515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60869" y="2148840"/>
            <a:ext cx="163449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Use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79157" y="2560320"/>
            <a:ext cx="159791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Authorization: Bearer &lt;token&gt;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977639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The server checks the signature on every request. No session storage needed.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Short-lived tokens with scopes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7  |  FastAPI Advanced, Security and MongoDB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exp: 15 minutes, not days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scope lists exactly what the token may do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Check the scope on every protected route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Signing key from the environment, never in code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62" b="0" i="0">
                <a:solidFill>
                  <a:srgbClr val="EAF7F5"/>
                </a:solidFill>
                <a:latin typeface="Courier New"/>
              </a:rPr>
              <a:t>def create_token(sub, role, scopes, minutes=15):</a:t>
            </a:r>
          </a:p>
          <a:p>
            <a:r>
              <a:rPr sz="962" b="0" i="0">
                <a:solidFill>
                  <a:srgbClr val="EAF7F5"/>
                </a:solidFill>
                <a:latin typeface="Courier New"/>
              </a:rPr>
              <a:t>    now = dt.datetime.now(dt.timezone.utc)</a:t>
            </a:r>
          </a:p>
          <a:p>
            <a:r>
              <a:rPr sz="962" b="0" i="0">
                <a:solidFill>
                  <a:srgbClr val="EAF7F5"/>
                </a:solidFill>
                <a:latin typeface="Courier New"/>
              </a:rPr>
              <a:t>    return jwt.encode({"sub": sub, "role": role,</a:t>
            </a:r>
          </a:p>
          <a:p>
            <a:r>
              <a:rPr sz="962" b="0" i="0">
                <a:solidFill>
                  <a:srgbClr val="EAF7F5"/>
                </a:solidFill>
                <a:latin typeface="Courier New"/>
              </a:rPr>
              <a:t>        "scope": " ".join(scopes),</a:t>
            </a:r>
          </a:p>
          <a:p>
            <a:r>
              <a:rPr sz="962" b="0" i="0">
                <a:solidFill>
                  <a:srgbClr val="EAF7F5"/>
                </a:solidFill>
                <a:latin typeface="Courier New"/>
              </a:rPr>
              <a:t>        "iat": now,</a:t>
            </a:r>
          </a:p>
          <a:p>
            <a:r>
              <a:rPr sz="962" b="0" i="0">
                <a:solidFill>
                  <a:srgbClr val="EAF7F5"/>
                </a:solidFill>
                <a:latin typeface="Courier New"/>
              </a:rPr>
              <a:t>        "exp": now + dt.timedelta(minutes=minutes)},</a:t>
            </a:r>
          </a:p>
          <a:p>
            <a:r>
              <a:rPr sz="962" b="0" i="0">
                <a:solidFill>
                  <a:srgbClr val="EAF7F5"/>
                </a:solidFill>
                <a:latin typeface="Courier New"/>
              </a:rPr>
              <a:t>        SECRET, algorithm="HS256")</a:t>
            </a:r>
          </a:p>
          <a:p>
            <a:r>
              <a:rPr sz="962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962" b="0" i="0">
                <a:solidFill>
                  <a:srgbClr val="EAF7F5"/>
                </a:solidFill>
                <a:latin typeface="Courier New"/>
              </a:rPr>
              <a:t>def require_scope(needed):</a:t>
            </a:r>
          </a:p>
          <a:p>
            <a:r>
              <a:rPr sz="962" b="0" i="0">
                <a:solidFill>
                  <a:srgbClr val="EAF7F5"/>
                </a:solidFill>
                <a:latin typeface="Courier New"/>
              </a:rPr>
              <a:t>    def check(user=Depends(current_user)):</a:t>
            </a:r>
          </a:p>
          <a:p>
            <a:r>
              <a:rPr sz="962" b="0" i="0">
                <a:solidFill>
                  <a:srgbClr val="EAF7F5"/>
                </a:solidFill>
                <a:latin typeface="Courier New"/>
              </a:rPr>
              <a:t>        if needed not in user["scopes"]:</a:t>
            </a:r>
          </a:p>
          <a:p>
            <a:r>
              <a:rPr sz="962" b="0" i="0">
                <a:solidFill>
                  <a:srgbClr val="EAF7F5"/>
                </a:solidFill>
                <a:latin typeface="Courier New"/>
              </a:rPr>
              <a:t>            raise HTTPException(403, "Missing scope")</a:t>
            </a:r>
          </a:p>
          <a:p>
            <a:r>
              <a:rPr sz="962" b="0" i="0">
                <a:solidFill>
                  <a:srgbClr val="EAF7F5"/>
                </a:solidFill>
                <a:latin typeface="Courier New"/>
              </a:rPr>
              <a:t>        return user</a:t>
            </a:r>
          </a:p>
          <a:p>
            <a:r>
              <a:rPr sz="962" b="0" i="0">
                <a:solidFill>
                  <a:srgbClr val="EAF7F5"/>
                </a:solidFill>
                <a:latin typeface="Courier New"/>
              </a:rPr>
              <a:t>    return check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OWASP API Security Top 10 (2023)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7  |  FastAPI Advanced, Security and MongoDB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097280"/>
          <a:ext cx="822960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SmartDesk example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API1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Broken object level authorisation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Agent reads another customer's ticket by id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API2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Broken authentication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Tokens that never expire; no lockout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API3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Broken object property level authorisation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Client sets role=admin when registering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API4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Unrestricted resource consumption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limit=1000000 on a list endpoint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API5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Broken function level authorisation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Member calls an admin-only route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API6 to API10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Business flows, SSRF, misconfiguration, inventory, unsafe API use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Read the full list tonight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922776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Source: OWASP API Security Project, 2023 edition. Map every finding in your report to one of these.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Three defences you write today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7  |  FastAPI Advanced, Security and MongoDB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2590800" cy="338327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Check ownership (API1)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09928"/>
            <a:ext cx="2225040" cy="2606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Filter every query by owner, not only by id.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76600" y="1051560"/>
            <a:ext cx="2590800" cy="338327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594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594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624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Allow-list fields (API3)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9480" y="1709928"/>
            <a:ext cx="2225040" cy="2606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Separate input models; never accept role from the client.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6000" y="1051560"/>
            <a:ext cx="2590800" cy="338327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2788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788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818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Cap everything (API4)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8880" y="1709928"/>
            <a:ext cx="2225040" cy="2606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le=50 on limit, max_length on strings, short token expiry.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FastAPI with MongoDB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Session 3 | 2 Hrs | CRUD, aggregation, pagination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A tickets API on MongoDB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7  |  FastAPI Advanced, Security and MongoDB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Endpoint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PyMongo call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Success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POST /tickets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insert_one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201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GET /tickets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find + skip + limit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200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GET /tickets/{id}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find_one by ObjectId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200 or 404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PATCH /tickets/{id}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update_one with $set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200 or 404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DELETE /tickets/{id}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delete_one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204 or 404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538727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Always validate the id with ObjectId.is_valid before querying. Convert _id to a string id.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An aggregation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7  |  FastAPI Advanced, Security and MongoDB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FF8A3D"/>
                </a:solidFill>
                <a:latin typeface="Calibri"/>
              </a:rPr>
              <a:t>Shuukei (集計): Totals and summaries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817370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7285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7285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63449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$match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560320"/>
            <a:ext cx="159791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Filter documents, like WHERE</a:t>
            </a:r>
          </a:p>
        </p:txBody>
      </p:sp>
      <p:sp>
        <p:nvSpPr>
          <p:cNvPr id="11" name="Chevron 10"/>
          <p:cNvSpPr/>
          <p:nvPr/>
        </p:nvSpPr>
        <p:spPr>
          <a:xfrm>
            <a:off x="2356865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94610" y="1371600"/>
            <a:ext cx="1817370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274695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74695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86050" y="2148840"/>
            <a:ext cx="163449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$group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04338" y="2560320"/>
            <a:ext cx="159791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Group and total, like GROUP BY</a:t>
            </a:r>
          </a:p>
        </p:txBody>
      </p:sp>
      <p:sp>
        <p:nvSpPr>
          <p:cNvPr id="17" name="Chevron 16"/>
          <p:cNvSpPr/>
          <p:nvPr/>
        </p:nvSpPr>
        <p:spPr>
          <a:xfrm>
            <a:off x="4494276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32020" y="1371600"/>
            <a:ext cx="1817370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412105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12105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3459" y="2148840"/>
            <a:ext cx="163449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$sort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1748" y="2560320"/>
            <a:ext cx="159791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Order the results</a:t>
            </a:r>
          </a:p>
        </p:txBody>
      </p:sp>
      <p:sp>
        <p:nvSpPr>
          <p:cNvPr id="23" name="Chevron 22"/>
          <p:cNvSpPr/>
          <p:nvPr/>
        </p:nvSpPr>
        <p:spPr>
          <a:xfrm>
            <a:off x="6631686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69429" y="1371600"/>
            <a:ext cx="1817370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549515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49515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60869" y="2148840"/>
            <a:ext cx="163449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$project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79157" y="2560320"/>
            <a:ext cx="159791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Shape the output fields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977639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Documents flow through each stage like water through filters.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Tickets by priority, and pagination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7  |  FastAPI Advanced, Security and MongoDB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$group counts per priority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$sort -1 means highest first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Offset pagination: skip and limit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Cap size with Query(le=50)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8" b="0" i="0">
                <a:solidFill>
                  <a:srgbClr val="EAF7F5"/>
                </a:solidFill>
                <a:latin typeface="Courier New"/>
              </a:rPr>
              <a:t>pipeline = [</a:t>
            </a:r>
          </a:p>
          <a:p>
            <a:r>
              <a:rPr sz="1108" b="0" i="0">
                <a:solidFill>
                  <a:srgbClr val="EAF7F5"/>
                </a:solidFill>
                <a:latin typeface="Courier New"/>
              </a:rPr>
              <a:t>    {"$match": {"status": {"$ne": "closed"}}},</a:t>
            </a:r>
          </a:p>
          <a:p>
            <a:r>
              <a:rPr sz="1108" b="0" i="0">
                <a:solidFill>
                  <a:srgbClr val="EAF7F5"/>
                </a:solidFill>
                <a:latin typeface="Courier New"/>
              </a:rPr>
              <a:t>    {"$group": {"_id": "$priority",</a:t>
            </a:r>
          </a:p>
          <a:p>
            <a:r>
              <a:rPr sz="1108" b="0" i="0">
                <a:solidFill>
                  <a:srgbClr val="EAF7F5"/>
                </a:solidFill>
                <a:latin typeface="Courier New"/>
              </a:rPr>
              <a:t>                "open": {"$sum": 1}}},</a:t>
            </a:r>
          </a:p>
          <a:p>
            <a:r>
              <a:rPr sz="1108" b="0" i="0">
                <a:solidFill>
                  <a:srgbClr val="EAF7F5"/>
                </a:solidFill>
                <a:latin typeface="Courier New"/>
              </a:rPr>
              <a:t>    {"$sort": {"open": -1}},</a:t>
            </a:r>
          </a:p>
          <a:p>
            <a:r>
              <a:rPr sz="1108" b="0" i="0">
                <a:solidFill>
                  <a:srgbClr val="EAF7F5"/>
                </a:solidFill>
                <a:latin typeface="Courier New"/>
              </a:rPr>
              <a:t>]</a:t>
            </a:r>
          </a:p>
          <a:p>
            <a:r>
              <a:rPr sz="1108" b="0" i="0">
                <a:solidFill>
                  <a:srgbClr val="EAF7F5"/>
                </a:solidFill>
                <a:latin typeface="Courier New"/>
              </a:rPr>
              <a:t>rows = list(tickets.aggregate(pipeline))</a:t>
            </a:r>
          </a:p>
          <a:p>
            <a:r>
              <a:rPr sz="1108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108" b="0" i="0">
                <a:solidFill>
                  <a:srgbClr val="EAF7F5"/>
                </a:solidFill>
                <a:latin typeface="Courier New"/>
              </a:rPr>
              <a:t>cur = (tickets.find().sort("_id", 1)</a:t>
            </a:r>
          </a:p>
          <a:p>
            <a:r>
              <a:rPr sz="1108" b="0" i="0">
                <a:solidFill>
                  <a:srgbClr val="EAF7F5"/>
                </a:solidFill>
                <a:latin typeface="Courier New"/>
              </a:rPr>
              <a:t>       .skip((page - 1) * size).limit(size))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NoSQL injection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7  |  FastAPI Advanced, Security and MongoDB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20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4023360" cy="283464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FF8A3D"/>
                </a:solidFill>
                <a:latin typeface="Calibri"/>
              </a:rPr>
              <a:t>Vulnerable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Login body accepted as a raw dict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password: {"$ne": ""} matches any user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Search builds $regex from raw input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Attacker logs in without a password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097280"/>
            <a:ext cx="4023360" cy="283464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0FA3A3"/>
                </a:solidFill>
                <a:latin typeface="Calibri"/>
              </a:rPr>
              <a:t>Defended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Pydantic model: username and password are str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Operators in input are rejected with 422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re.escape() user text before $regex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Never pass request JSON straight into a query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Same idea as SQL injection: data must never become query syntax.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Input validation stops it at the door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7  |  FastAPI Advanced, Security and MongoDB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Typed fields reject objects like {"$ne": ""}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Patterns and lengths limit what is accepted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Escape user text used in $regex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Same 422 for every bad input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10" b="0" i="0">
                <a:solidFill>
                  <a:srgbClr val="EAF7F5"/>
                </a:solidFill>
                <a:latin typeface="Courier New"/>
              </a:rPr>
              <a:t>class Login(BaseModel):</a:t>
            </a:r>
          </a:p>
          <a:p>
            <a:r>
              <a:rPr sz="910" b="0" i="0">
                <a:solidFill>
                  <a:srgbClr val="EAF7F5"/>
                </a:solidFill>
                <a:latin typeface="Courier New"/>
              </a:rPr>
              <a:t>    username: str = Field(min_length=3, max_length=30,</a:t>
            </a:r>
          </a:p>
          <a:p>
            <a:r>
              <a:rPr sz="910" b="0" i="0">
                <a:solidFill>
                  <a:srgbClr val="EAF7F5"/>
                </a:solidFill>
                <a:latin typeface="Courier New"/>
              </a:rPr>
              <a:t>                          pattern=r"^[a-z0-9_]+$")</a:t>
            </a:r>
          </a:p>
          <a:p>
            <a:r>
              <a:rPr sz="910" b="0" i="0">
                <a:solidFill>
                  <a:srgbClr val="EAF7F5"/>
                </a:solidFill>
                <a:latin typeface="Courier New"/>
              </a:rPr>
              <a:t>    password: str = Field(min_length=8, max_length=128)</a:t>
            </a:r>
          </a:p>
          <a:p>
            <a:r>
              <a:rPr sz="910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910" b="0" i="0">
                <a:solidFill>
                  <a:srgbClr val="EAF7F5"/>
                </a:solidFill>
                <a:latin typeface="Courier New"/>
              </a:rPr>
              <a:t>@app.get("/tickets/search")</a:t>
            </a:r>
          </a:p>
          <a:p>
            <a:r>
              <a:rPr sz="910" b="0" i="0">
                <a:solidFill>
                  <a:srgbClr val="EAF7F5"/>
                </a:solidFill>
                <a:latin typeface="Courier New"/>
              </a:rPr>
              <a:t>def search(q: str = Query(min_length=2, max_length=40)):</a:t>
            </a:r>
          </a:p>
          <a:p>
            <a:r>
              <a:rPr sz="910" b="0" i="0">
                <a:solidFill>
                  <a:srgbClr val="EAF7F5"/>
                </a:solidFill>
                <a:latin typeface="Courier New"/>
              </a:rPr>
              <a:t>    rx = {"$regex": re.escape(q), "$options": "i"}</a:t>
            </a:r>
          </a:p>
          <a:p>
            <a:r>
              <a:rPr sz="910" b="0" i="0">
                <a:solidFill>
                  <a:srgbClr val="EAF7F5"/>
                </a:solidFill>
                <a:latin typeface="Courier New"/>
              </a:rPr>
              <a:t>    return [out(d) for d in tickets.find({"title": rx})]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Security check for AI-generated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Session 4 | 1 Hr | bandit, pip-audit and vulnerability report v1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228600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35240" y="228600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Why scan AI-generated code?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7  |  FastAPI Advanced, Security and MongoDB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It looks confident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Generated code can include eval, shell=True or hard-coded secrets.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Old patterns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Models learned from old code: md5, outdated library versions.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Supply chain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A suggested package or pin may have known vulnerabilities.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You own 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Whoever merges the code is responsible for it.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Two tools, two jobs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7  |  FastAPI Advanced, Security and MongoDB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24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4023360" cy="32004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FF8A3D"/>
                </a:solidFill>
                <a:latin typeface="Calibri"/>
              </a:rPr>
              <a:t>bandit (SAST)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Reads your Python source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Finds risky patterns: eval, shell=True, md5, secrets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bandit -r app/ -f json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Severity and confidence per finding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097280"/>
            <a:ext cx="4023360" cy="32004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0FA3A3"/>
                </a:solidFill>
                <a:latin typeface="Calibri"/>
              </a:rPr>
              <a:t>pip-audit (dependencies)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Reads requirements.txt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Checks packages against known vulnerability data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pip-audit -r requirements.txt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Fix: upgrade to a patched version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Vulnerability report v1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7  |  FastAPI Advanced, Security and MongoDB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097280"/>
          <a:ext cx="82296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Column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to write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ID, finding, tool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V-01, hard-coded secret, bandit B105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Severity, affected file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High, app/security.py:4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Proposed fix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Read SECRET_KEY from the environment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Fixed by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Human or Codex-assisted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Verified, evidence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Yes: re-scan clean, test passes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538727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Template: shared/templates/Vulnerability_Report_Template.md. You update it on Days 20, 23 to 25 and 30.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SmartDesk step 6: secure SmartDesk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7  |  FastAPI Advanced, Security and MongoDB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JWT login with roles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customer, agent and admin roles; 15 minute scoped tokens.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Ownership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Customers see only their own tickets (API1).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Mongo analytics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GET /analytics/by-priority with an aggregation pipeline.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Report v1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Run bandit and pip-audit on your Codex-generated code and log every finding.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7  |  FastAPI Advanced, Security and MongoDB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Depends()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Write shared logic once; inject it everywhere; override in tests.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Security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Slow salted hashes; short-lived scoped JWTs; OWASP API Top 10 as a checklist.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MongoDB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Validate ids and inputs; aggregate in the database; cap page size.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AI code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Scan with bandit and pip-audit; record findings in the vulnerability report.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Before tomorrow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7  |  FastAPI Advanced, Security and MongoDB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0FA3A3"/>
                </a:solidFill>
                <a:latin typeface="Calibri"/>
              </a:rPr>
              <a:t>Tomorrow starts with a 15 question quiz on today's topics.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5544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Hotel 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Follow Day07_Hotel_Lab.md: post-read, notebook, report v1.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66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59480" y="15544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94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24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Workbook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94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Complete the Day 7 workbook.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78880" y="15544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88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8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Pre-read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8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Skim the Day 8 pre-read on JavaScript.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</a:rPr>
              <a:t>Connect with 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5740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 i="0">
                <a:solidFill>
                  <a:srgbClr val="CDEFEC"/>
                </a:solidFill>
                <a:latin typeface="Calibri"/>
              </a:rPr>
              <a:t>Questions after class, feedback, or want to share what you built today? Reach out on LinkedIn.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108960"/>
            <a:ext cx="4114800" cy="5029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108960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Calibri"/>
              </a:rPr>
              <a:t>Ahmed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  linkedin.com/in/ahmed-al-imaad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5740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 i="0">
                <a:solidFill>
                  <a:srgbClr val="CDEFEC"/>
                </a:solidFill>
                <a:latin typeface="Calibri"/>
              </a:rPr>
              <a:t>See you tomorrow for Day 8: JavaScript fundamentals and async JavaScript.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CDEFEC"/>
                </a:solidFill>
                <a:latin typeface="Calibri"/>
              </a:rPr>
              <a:t>Otsukaresama deshita (お疲れ様でした): Thank you for your hard work today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