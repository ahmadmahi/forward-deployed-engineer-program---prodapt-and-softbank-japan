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400" b="1" i="0">
                <a:solidFill>
                  <a:srgbClr val="FF8A3D"/>
                </a:solidFill>
                <a:latin typeface="Calibri"/>
              </a:rPr>
              <a:t>DAY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</a:rPr>
              <a:t>GenAI Intro, LLMs and Tokens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2316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0" i="0">
                <a:solidFill>
                  <a:srgbClr val="CDEFEC"/>
                </a:solidFill>
                <a:latin typeface="Calibri"/>
              </a:rPr>
              <a:t>How LLMs generate text, the 2026 model landscape, tokens and cost, and your first LLM API call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3291840"/>
            <a:ext cx="164592" cy="164592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96112" y="3291840"/>
            <a:ext cx="164592" cy="164592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2144" y="3291840"/>
            <a:ext cx="164592" cy="1645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6118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 i="0">
                <a:solidFill>
                  <a:srgbClr val="CDEFEC"/>
                </a:solidFill>
                <a:latin typeface="Calibri"/>
              </a:rPr>
              <a:t>Wed 11 Nov 2026  |  GenAI track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0690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Calibri"/>
              </a:rPr>
              <a:t>Prepared by Ahmed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315968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CDEFEC"/>
                </a:solidFill>
                <a:latin typeface="Calibri"/>
              </a:rPr>
              <a:t>linkedin.com/in/ahmed-al-imaad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Today's journey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12  |  GenAI Intro, LLMs and Tokens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FF8A3D"/>
                </a:solidFill>
                <a:latin typeface="Calibri"/>
              </a:rPr>
              <a:t>Ohayou gozaimasu (おはようございます): Good morning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Quiz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15 questions on Day 11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66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594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94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624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How LLMs work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94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Transformers, attention, next-token loop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2788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88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Model landscape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88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Reasoning, open-weight, LLM vs SLM. NEW (v4)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Tokens 101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Context window, token types, cost. NEW (v4)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766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4594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594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624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First API call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594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Python and FastAPI, with a token log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960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2788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788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818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SmartDesk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788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Ticket summariser with token logging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By the end of today you can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12  |  GenAI Intro, LLMs and Tokens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3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Explain LLMs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Describe tokens, next-token prediction and attention in plain words.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Choose a model type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Tell reasoning, light and open-weight models apart, and when an SLM fits.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Count and price tokens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Estimate input, output, reasoning and cached tokens and their cost.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Call an LLM safely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Call the OpenAI API from Python and FastAPI, with keys out of code.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What generative AI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Very good next-word prediction, at enormous scale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How an LLM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12  |  GenAI Intro, LLMs and Tokens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5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23544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Tokenise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Text split into tokens (word pieces)</a:t>
            </a:r>
          </a:p>
        </p:txBody>
      </p:sp>
      <p:sp>
        <p:nvSpPr>
          <p:cNvPr id="10" name="Chevron 9"/>
          <p:cNvSpPr/>
          <p:nvPr/>
        </p:nvSpPr>
        <p:spPr>
          <a:xfrm>
            <a:off x="1929384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167128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633472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33472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58568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Embed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76856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Each token becomes a vector</a:t>
            </a:r>
          </a:p>
        </p:txBody>
      </p:sp>
      <p:sp>
        <p:nvSpPr>
          <p:cNvPr id="16" name="Chevron 15"/>
          <p:cNvSpPr/>
          <p:nvPr/>
        </p:nvSpPr>
        <p:spPr>
          <a:xfrm>
            <a:off x="3639312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77056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343400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43400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68496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Transform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86784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Layers of attention mix in context</a:t>
            </a:r>
          </a:p>
        </p:txBody>
      </p:sp>
      <p:sp>
        <p:nvSpPr>
          <p:cNvPr id="22" name="Chevron 21"/>
          <p:cNvSpPr/>
          <p:nvPr/>
        </p:nvSpPr>
        <p:spPr>
          <a:xfrm>
            <a:off x="5349240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586984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053328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53328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78424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Predict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96712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Probabilities for the next token</a:t>
            </a:r>
          </a:p>
        </p:txBody>
      </p:sp>
      <p:sp>
        <p:nvSpPr>
          <p:cNvPr id="28" name="Chevron 27"/>
          <p:cNvSpPr/>
          <p:nvPr/>
        </p:nvSpPr>
        <p:spPr>
          <a:xfrm>
            <a:off x="7059168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296912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763256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63256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88352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Repeat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06640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Append and predict again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3977639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The model generates one token at a time. Everything else is built on this loop.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Words you will hear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12  |  GenAI Intro, LLMs and Tokens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22960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Term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Token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 piece of text, roughly 3 to 4 characters of English on average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Context window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How many tokens the model can see at once (prompt plus output)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Parameters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The learned numbers inside the model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Temperature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Randomness: low is focused, high is creative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Hallucination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Fluent but false output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Inference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Running the trained model to get an answer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Three big ideas inside a transformer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12  |  GenAI Intro, LLMs and Tokens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FF8A3D"/>
                </a:solidFill>
                <a:latin typeface="Calibri"/>
              </a:rPr>
              <a:t>Chuui (注意): Attention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7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2590800" cy="338327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Embeddings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709928"/>
            <a:ext cx="2225040" cy="2606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Tokens become vectors; similar meanings sit close together.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6600" y="1051560"/>
            <a:ext cx="2590800" cy="338327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594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94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624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Self-attention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9480" y="1709928"/>
            <a:ext cx="2225040" cy="2606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Each token looks at every other token and decides what matters.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0" y="1051560"/>
            <a:ext cx="2590800" cy="338327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2788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88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Stacked layers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8880" y="1709928"/>
            <a:ext cx="2225040" cy="2606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Many attention layers build richer understanding step by step.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Attention in one formula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12  |  GenAI Intro, LLMs and Tokens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Q: what each token is looking for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K: what each token offers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V: the information passed along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softmax turns scores into weights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14" b="0" i="0">
                <a:solidFill>
                  <a:srgbClr val="EAF7F5"/>
                </a:solidFill>
                <a:latin typeface="Courier New"/>
              </a:rPr>
              <a:t>import numpy as np</a:t>
            </a:r>
          </a:p>
          <a:p>
            <a:r>
              <a:rPr sz="1214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214" b="0" i="0">
                <a:solidFill>
                  <a:srgbClr val="EAF7F5"/>
                </a:solidFill>
                <a:latin typeface="Courier New"/>
              </a:rPr>
              <a:t>def attention(Q, K, V):</a:t>
            </a:r>
          </a:p>
          <a:p>
            <a:r>
              <a:rPr sz="1214" b="0" i="0">
                <a:solidFill>
                  <a:srgbClr val="EAF7F5"/>
                </a:solidFill>
                <a:latin typeface="Courier New"/>
              </a:rPr>
              <a:t>    d = Q.shape[-1]</a:t>
            </a:r>
          </a:p>
          <a:p>
            <a:r>
              <a:rPr sz="1214" b="0" i="0">
                <a:solidFill>
                  <a:srgbClr val="EAF7F5"/>
                </a:solidFill>
                <a:latin typeface="Courier New"/>
              </a:rPr>
              <a:t>    scores = Q @ K.T / np.sqrt(d)</a:t>
            </a:r>
          </a:p>
          <a:p>
            <a:r>
              <a:rPr sz="1214" b="0" i="0">
                <a:solidFill>
                  <a:srgbClr val="EAF7F5"/>
                </a:solidFill>
                <a:latin typeface="Courier New"/>
              </a:rPr>
              <a:t>    w = np.exp(scores)</a:t>
            </a:r>
          </a:p>
          <a:p>
            <a:r>
              <a:rPr sz="1214" b="0" i="0">
                <a:solidFill>
                  <a:srgbClr val="EAF7F5"/>
                </a:solidFill>
                <a:latin typeface="Courier New"/>
              </a:rPr>
              <a:t>    w = w / w.sum(axis=1, keepdims=True)</a:t>
            </a:r>
          </a:p>
          <a:p>
            <a:r>
              <a:rPr sz="1214" b="0" i="0">
                <a:solidFill>
                  <a:srgbClr val="EAF7F5"/>
                </a:solidFill>
                <a:latin typeface="Courier New"/>
              </a:rPr>
              <a:t>    return w @ V, w</a:t>
            </a:r>
          </a:p>
          <a:p>
            <a:r>
              <a:rPr sz="1214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214" b="0" i="0">
                <a:solidFill>
                  <a:srgbClr val="EAF7F5"/>
                </a:solidFill>
                <a:latin typeface="Courier New"/>
              </a:rPr>
              <a:t># "The bank of the river": attention helps</a:t>
            </a:r>
          </a:p>
          <a:p>
            <a:r>
              <a:rPr sz="1214" b="0" i="0">
                <a:solidFill>
                  <a:srgbClr val="EAF7F5"/>
                </a:solidFill>
                <a:latin typeface="Courier New"/>
              </a:rPr>
              <a:t># "bank" look at "river", not "money".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Three families of transformer 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12  |  GenAI Intro, LLMs and Tokens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22960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Family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Good at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Examples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Encoder-only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Understanding: classify, embed, search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BERT-style models, embedding models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Decoder-only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Generating text and code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GPT models, Llama, Qwen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Encoder-decoder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Transforming input to output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T5-style translation models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2770632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Most chat models today are decoder-only. Many use mixture of experts (MoE) inside.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Beyond text: multimodal and computer use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12  |  GenAI Intro, LLMs and Tokens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39446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Multimodal 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Models read images, audio and documents as well as text.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39446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Multimodal 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Some models produce images or speech, not only text.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674620"/>
            <a:ext cx="4000500" cy="139446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285750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85750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285750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Computer use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332987"/>
            <a:ext cx="3634740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The model sees a screen and clicks or types through a sandboxed browser.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674620"/>
            <a:ext cx="4000500" cy="139446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285750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285750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285750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What it means for FDEs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332987"/>
            <a:ext cx="3634740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More tasks become possible, and more things can go wrong. Keep a human check.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Computer-use agents return on Day 27 (hosted agents).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The 2026 model landscape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Reasoning, open-weight and small models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35240" y="228600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35240" y="2286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Standard vs reasoning models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12  |  GenAI Intro, LLMs and Tokens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12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97280"/>
            <a:ext cx="4023360" cy="283464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FF8A3D"/>
                </a:solidFill>
                <a:latin typeface="Calibri"/>
              </a:rPr>
              <a:t>Standard (fast) models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Answer straight away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Low latency, lower cost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Great for summaries, extraction, classification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1097280"/>
            <a:ext cx="4023360" cy="283464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9204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0FA3A3"/>
                </a:solidFill>
                <a:latin typeface="Calibri"/>
              </a:rPr>
              <a:t>Reasoning models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Think internally before answering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Reasoning tokens are billed as output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Better on multi-step logic, code, planning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Slower and more expensive per task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Reasoning effort (low, medium, high) trades quality for tokens and time.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OpenAI models used in this program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12  |  GenAI Intro, LLMs and Tokens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097280"/>
          <a:ext cx="82296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Tier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Use for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Light, cost-efficient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GPT-6 Luna (if approved)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Routine edits, simple classification, high volume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Default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GPT-6.1 Sol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Most feature work and app calls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Top tier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GPT-6 Astra (trainer approval)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Hard problems where the default fails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Retired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GPT-5.5 and older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Do not use; migrate to the current default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3154679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Names checked 21 Oct 2026. Confirm against the approved model list. See docs/MODEL_GUIDE.md.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Open-weight models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12  |  GenAI Intro, LLMs and Tokens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What they 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Model weights you can download and run on your own hardware.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Families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For example Phi, Gemma, Llama, Qwen and Mistral small models.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Why teams use them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Data stays on-prem, fixed cost, can be fine-tuned.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Trade-offs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You run, patch, scale and evaluate them yourself. Check each licence.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LLM vs SLM: a preview of Day 25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12  |  GenAI Intro, LLMs and Tokens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97280"/>
            <a:ext cx="4023360" cy="283464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FF8A3D"/>
                </a:solidFill>
                <a:latin typeface="Calibri"/>
              </a:rPr>
              <a:t>Large language model (LLM)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Broad knowledge and reasoning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Usually called through an API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Higher cost and latency per call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1097280"/>
            <a:ext cx="4023360" cy="283464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9204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0FA3A3"/>
                </a:solidFill>
                <a:latin typeface="Calibri"/>
              </a:rPr>
              <a:t>Small language model (SLM)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Narrow tasks done well (classify, extract)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Can run on a laptop, phone or on-prem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Cheap, fast, private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Weaker on open-ended reasoning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Common pattern: SLM first, escalate to an LLM when needed. Day 25 goes deep.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Tokens 101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The unit you are billed 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35240" y="228600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35240" y="2286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Tokenisation in practice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12  |  GenAI Intro, LLMs and Tokens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Common words are one token; rare words split into pieces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Numbers, code and non-English text often use more tokens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Japanese text can use more tokens per character than English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Count with tiktoken; estimate about 4 characters per token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85" b="0" i="0">
                <a:solidFill>
                  <a:srgbClr val="EAF7F5"/>
                </a:solidFill>
                <a:latin typeface="Courier New"/>
              </a:rPr>
              <a:t>import tiktoken</a:t>
            </a:r>
          </a:p>
          <a:p>
            <a:r>
              <a:rPr sz="1085" b="0" i="0">
                <a:solidFill>
                  <a:srgbClr val="EAF7F5"/>
                </a:solidFill>
                <a:latin typeface="Courier New"/>
              </a:rPr>
              <a:t>enc = tiktoken.get_encoding("o200k_base")</a:t>
            </a:r>
          </a:p>
          <a:p>
            <a:r>
              <a:rPr sz="1085" b="0" i="0">
                <a:solidFill>
                  <a:srgbClr val="EAF7F5"/>
                </a:solidFill>
                <a:latin typeface="Courier New"/>
              </a:rPr>
              <a:t>ids = enc.encode("Tokenisation is fascinating")</a:t>
            </a:r>
          </a:p>
          <a:p>
            <a:r>
              <a:rPr sz="1085" b="0" i="0">
                <a:solidFill>
                  <a:srgbClr val="EAF7F5"/>
                </a:solidFill>
                <a:latin typeface="Courier New"/>
              </a:rPr>
              <a:t>print(len(ids))</a:t>
            </a:r>
          </a:p>
          <a:p>
            <a:r>
              <a:rPr sz="1085" b="0" i="0">
                <a:solidFill>
                  <a:srgbClr val="EAF7F5"/>
                </a:solidFill>
                <a:latin typeface="Courier New"/>
              </a:rPr>
              <a:t>print([enc.decode([i]) for i in ids])</a:t>
            </a:r>
          </a:p>
          <a:p>
            <a:r>
              <a:rPr sz="1085" b="0" i="0">
                <a:solidFill>
                  <a:srgbClr val="EAF7F5"/>
                </a:solidFill>
                <a:latin typeface="Courier New"/>
              </a:rPr>
              <a:t># ['Token', 'isation', ' is', ' fascinating']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Four kinds of tokens on your bill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12  |  GenAI Intro, LLMs and Tokens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Input tokens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System prompt, user message, retrieved context, tool definitions.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Output tokens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The visible answer. Usually priced several times higher than input.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Reasoning tokens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Hidden thinking by reasoning models. Billed as output.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Cached input tokens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Repeated prompt prefixes served from cache at a discount.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The context window budget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12  |  GenAI Intro, LLMs and Tokens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23544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System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Rules and role</a:t>
            </a:r>
          </a:p>
        </p:txBody>
      </p:sp>
      <p:sp>
        <p:nvSpPr>
          <p:cNvPr id="12" name="Chevron 11"/>
          <p:cNvSpPr/>
          <p:nvPr/>
        </p:nvSpPr>
        <p:spPr>
          <a:xfrm>
            <a:off x="1929384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167128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633472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33472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58568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Context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76856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Docs, history, tools</a:t>
            </a:r>
          </a:p>
        </p:txBody>
      </p:sp>
      <p:sp>
        <p:nvSpPr>
          <p:cNvPr id="18" name="Chevron 17"/>
          <p:cNvSpPr/>
          <p:nvPr/>
        </p:nvSpPr>
        <p:spPr>
          <a:xfrm>
            <a:off x="3639312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877056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343400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43400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68496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User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86784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Today's request</a:t>
            </a:r>
          </a:p>
        </p:txBody>
      </p:sp>
      <p:sp>
        <p:nvSpPr>
          <p:cNvPr id="24" name="Chevron 23"/>
          <p:cNvSpPr/>
          <p:nvPr/>
        </p:nvSpPr>
        <p:spPr>
          <a:xfrm>
            <a:off x="5349240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586984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053328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53328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78424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Reasoning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96712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Hidden thinking</a:t>
            </a:r>
          </a:p>
        </p:txBody>
      </p:sp>
      <p:sp>
        <p:nvSpPr>
          <p:cNvPr id="30" name="Chevron 29"/>
          <p:cNvSpPr/>
          <p:nvPr/>
        </p:nvSpPr>
        <p:spPr>
          <a:xfrm>
            <a:off x="7059168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296912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763256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63256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88352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Output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6640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The answer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77639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Everything must fit in the window. More context costs more and can make answers worse.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Cost per request: the formula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12  |  GenAI Intro, LLMs and Tokens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20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8229600" cy="310896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188719"/>
            <a:ext cx="7863840" cy="283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58" b="0" i="0">
                <a:solidFill>
                  <a:srgbClr val="EAF7F5"/>
                </a:solidFill>
                <a:latin typeface="Courier New"/>
              </a:rPr>
              <a:t># PLACEHOLDER prices per 1M tokens. Not real prices. Use the approved price sheet.</a:t>
            </a:r>
          </a:p>
          <a:p>
            <a:r>
              <a:rPr sz="1258" b="0" i="0">
                <a:solidFill>
                  <a:srgbClr val="EAF7F5"/>
                </a:solidFill>
                <a:latin typeface="Courier New"/>
              </a:rPr>
              <a:t>PRICE = {"input": 1.00, "cached_input": 0.10, "output": 4.00}</a:t>
            </a:r>
          </a:p>
          <a:p>
            <a:r>
              <a:rPr sz="1258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258" b="0" i="0">
                <a:solidFill>
                  <a:srgbClr val="EAF7F5"/>
                </a:solidFill>
                <a:latin typeface="Courier New"/>
              </a:rPr>
              <a:t>def cost(input_t, output_t, cached_t=0, reasoning_t=0):</a:t>
            </a:r>
          </a:p>
          <a:p>
            <a:r>
              <a:rPr sz="1258" b="0" i="0">
                <a:solidFill>
                  <a:srgbClr val="EAF7F5"/>
                </a:solidFill>
                <a:latin typeface="Courier New"/>
              </a:rPr>
              <a:t>    fresh = input_t - cached_t</a:t>
            </a:r>
          </a:p>
          <a:p>
            <a:r>
              <a:rPr sz="1258" b="0" i="0">
                <a:solidFill>
                  <a:srgbClr val="EAF7F5"/>
                </a:solidFill>
                <a:latin typeface="Courier New"/>
              </a:rPr>
              <a:t>    return (fresh * PRICE["input"] + cached_t * PRICE["cached_input"]</a:t>
            </a:r>
          </a:p>
          <a:p>
            <a:r>
              <a:rPr sz="1258" b="0" i="0">
                <a:solidFill>
                  <a:srgbClr val="EAF7F5"/>
                </a:solidFill>
                <a:latin typeface="Courier New"/>
              </a:rPr>
              <a:t>            + (output_t + reasoning_t) * PRICE["output"]) / 1_000_000</a:t>
            </a:r>
          </a:p>
          <a:p>
            <a:r>
              <a:rPr sz="1258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258" b="0" i="0">
                <a:solidFill>
                  <a:srgbClr val="EAF7F5"/>
                </a:solidFill>
                <a:latin typeface="Courier New"/>
              </a:rPr>
              <a:t>print(round(cost(1200, 300) * 1000, 4), "per 1,000 requests")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5196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Cost per feature = cost per request x requests per day. Always state that prices are placeholders.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Your first LLM API call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From Python, then behind FastAPI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Calling the OpenAI API from Python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12  |  GenAI Intro, LLMs and Tokens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Key from Colab Secrets or a .env file, never in code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Model from the LLM_MODEL variable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The response includes token usage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Offline demo mode works without a key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879" b="0" i="0">
                <a:solidFill>
                  <a:srgbClr val="EAF7F5"/>
                </a:solidFill>
                <a:latin typeface="Courier New"/>
              </a:rPr>
              <a:t>import os</a:t>
            </a:r>
          </a:p>
          <a:p>
            <a:r>
              <a:rPr sz="879" b="0" i="0">
                <a:solidFill>
                  <a:srgbClr val="EAF7F5"/>
                </a:solidFill>
                <a:latin typeface="Courier New"/>
              </a:rPr>
              <a:t>from openai import OpenAI</a:t>
            </a:r>
          </a:p>
          <a:p>
            <a:r>
              <a:rPr sz="879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879" b="0" i="0">
                <a:solidFill>
                  <a:srgbClr val="EAF7F5"/>
                </a:solidFill>
                <a:latin typeface="Courier New"/>
              </a:rPr>
              <a:t>client = OpenAI()   # reads OPENAI_API_KEY</a:t>
            </a:r>
          </a:p>
          <a:p>
            <a:r>
              <a:rPr sz="879" b="0" i="0">
                <a:solidFill>
                  <a:srgbClr val="EAF7F5"/>
                </a:solidFill>
                <a:latin typeface="Courier New"/>
              </a:rPr>
              <a:t>model = os.getenv("LLM_MODEL", "gpt-6.1-sol")</a:t>
            </a:r>
          </a:p>
          <a:p>
            <a:r>
              <a:rPr sz="879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879" b="0" i="0">
                <a:solidFill>
                  <a:srgbClr val="EAF7F5"/>
                </a:solidFill>
                <a:latin typeface="Courier New"/>
              </a:rPr>
              <a:t>r = client.chat.completions.create(</a:t>
            </a:r>
          </a:p>
          <a:p>
            <a:r>
              <a:rPr sz="879" b="0" i="0">
                <a:solidFill>
                  <a:srgbClr val="EAF7F5"/>
                </a:solidFill>
                <a:latin typeface="Courier New"/>
              </a:rPr>
              <a:t>    model=model,</a:t>
            </a:r>
          </a:p>
          <a:p>
            <a:r>
              <a:rPr sz="879" b="0" i="0">
                <a:solidFill>
                  <a:srgbClr val="EAF7F5"/>
                </a:solidFill>
                <a:latin typeface="Courier New"/>
              </a:rPr>
              <a:t>    messages=[{"role": "user",</a:t>
            </a:r>
          </a:p>
          <a:p>
            <a:r>
              <a:rPr sz="879" b="0" i="0">
                <a:solidFill>
                  <a:srgbClr val="EAF7F5"/>
                </a:solidFill>
                <a:latin typeface="Courier New"/>
              </a:rPr>
              <a:t>               "content": "Summarise: my bill doubled."}])</a:t>
            </a:r>
          </a:p>
          <a:p>
            <a:r>
              <a:rPr sz="879" b="0" i="0">
                <a:solidFill>
                  <a:srgbClr val="EAF7F5"/>
                </a:solidFill>
                <a:latin typeface="Courier New"/>
              </a:rPr>
              <a:t>print(r.choices[0].message.content)</a:t>
            </a:r>
          </a:p>
          <a:p>
            <a:r>
              <a:rPr sz="879" b="0" i="0">
                <a:solidFill>
                  <a:srgbClr val="EAF7F5"/>
                </a:solidFill>
                <a:latin typeface="Courier New"/>
              </a:rPr>
              <a:t>print(r.usage.prompt_tokens, r.usage.completion_tokens)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Behind a FastAPI endpoint, with a token log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12  |  GenAI Intro, LLMs and Tokens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The front end never sees the key (Day 11 rule)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Validate input with Pydantic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Log tokens and cost for every call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Return a clear error on timeouts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19" b="0" i="0">
                <a:solidFill>
                  <a:srgbClr val="EAF7F5"/>
                </a:solidFill>
                <a:latin typeface="Courier New"/>
              </a:rPr>
              <a:t>@app.post("/summarise")</a:t>
            </a:r>
          </a:p>
          <a:p>
            <a:r>
              <a:rPr sz="1019" b="0" i="0">
                <a:solidFill>
                  <a:srgbClr val="EAF7F5"/>
                </a:solidFill>
                <a:latin typeface="Courier New"/>
              </a:rPr>
              <a:t>def summarise(t: Ticket):</a:t>
            </a:r>
          </a:p>
          <a:p>
            <a:r>
              <a:rPr sz="1019" b="0" i="0">
                <a:solidFill>
                  <a:srgbClr val="EAF7F5"/>
                </a:solidFill>
                <a:latin typeface="Courier New"/>
              </a:rPr>
              <a:t>    text = llm(f"Summarise in one line: {t.body}")</a:t>
            </a:r>
          </a:p>
          <a:p>
            <a:r>
              <a:rPr sz="1019" b="0" i="0">
                <a:solidFill>
                  <a:srgbClr val="EAF7F5"/>
                </a:solidFill>
                <a:latin typeface="Courier New"/>
              </a:rPr>
              <a:t>    u = usage()</a:t>
            </a:r>
          </a:p>
          <a:p>
            <a:r>
              <a:rPr sz="1019" b="0" i="0">
                <a:solidFill>
                  <a:srgbClr val="EAF7F5"/>
                </a:solidFill>
                <a:latin typeface="Courier New"/>
              </a:rPr>
              <a:t>    log.append({"ticket": t.id, **u,</a:t>
            </a:r>
          </a:p>
          <a:p>
            <a:r>
              <a:rPr sz="1019" b="0" i="0">
                <a:solidFill>
                  <a:srgbClr val="EAF7F5"/>
                </a:solidFill>
                <a:latin typeface="Courier New"/>
              </a:rPr>
              <a:t>                "cost": cost(u["input_tokens"],</a:t>
            </a:r>
          </a:p>
          <a:p>
            <a:r>
              <a:rPr sz="1019" b="0" i="0">
                <a:solidFill>
                  <a:srgbClr val="EAF7F5"/>
                </a:solidFill>
                <a:latin typeface="Courier New"/>
              </a:rPr>
              <a:t>                             u["output_tokens"])})</a:t>
            </a:r>
          </a:p>
          <a:p>
            <a:r>
              <a:rPr sz="1019" b="0" i="0">
                <a:solidFill>
                  <a:srgbClr val="EAF7F5"/>
                </a:solidFill>
                <a:latin typeface="Courier New"/>
              </a:rPr>
              <a:t>    return {"summary": text, "usage": u}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SmartDesk step 11: ticket summariser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12  |  GenAI Intro, LLMs and Tokens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24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Goal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Summarise each SmartDesk ticket in one line through the API.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Token log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Write prompt, input, output tokens and estimated cost to a CSV.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Safety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Key in Secrets or .env. Offline mode for anyone without a key.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Build with Codex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Use Day12_App_Build_Prompts.md. Review every line Codex writes.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Key 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12  |  GenAI Intro, LLMs and Tokens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25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LLMs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Predict the next token, one at a time, from context.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Model choice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Light, default or top tier; reasoning effort costs tokens.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Tokens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Input, output, reasoning and cached tokens are priced differently.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API calls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Keys out of code, model from LLM_MODEL, log every call.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Before tomorrow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12  |  GenAI Intro, LLMs and Tokens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0FA3A3"/>
                </a:solidFill>
                <a:latin typeface="Calibri"/>
              </a:rPr>
              <a:t>Tomorrow starts with a 15 question quiz on today's topics.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5544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Hotel lab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Follow Day12_Hotel_Lab.md: post-read, notebook, problems, token log.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66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59480" y="15544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94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624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Workbook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94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Complete the Day 12 workbook.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278880" y="15544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88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Pre-read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88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Skim the Day 13 pre-read on prompt engineering. Assessment day.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</a:rPr>
              <a:t>Connect with 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05740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0" i="0">
                <a:solidFill>
                  <a:srgbClr val="CDEFEC"/>
                </a:solidFill>
                <a:latin typeface="Calibri"/>
              </a:rPr>
              <a:t>Questions after class, feedback, or want to share what you built today? Reach out on LinkedIn.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3108960"/>
            <a:ext cx="4114800" cy="5029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08960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 i="0">
                <a:solidFill>
                  <a:srgbClr val="FFFFFF"/>
                </a:solidFill>
                <a:latin typeface="Calibri"/>
              </a:rPr>
              <a:t>Ahmed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   linkedin.com/in/ahmed-al-imaad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05740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0" i="0">
                <a:solidFill>
                  <a:srgbClr val="CDEFEC"/>
                </a:solidFill>
                <a:latin typeface="Calibri"/>
              </a:rPr>
              <a:t>See you tomorrow for Day 13: prompt engineering, plus GenAI assessment 1.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CDEFEC"/>
                </a:solidFill>
                <a:latin typeface="Calibri"/>
              </a:rPr>
              <a:t>Otsukaresama deshita (お疲れ様でした): Thank you for your hard work today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