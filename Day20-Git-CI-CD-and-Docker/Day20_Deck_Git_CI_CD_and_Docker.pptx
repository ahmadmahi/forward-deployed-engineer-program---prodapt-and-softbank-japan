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FF8A3D"/>
                </a:solidFill>
                <a:latin typeface="Calibri"/>
              </a:rPr>
              <a:t>DAY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Git, CI/CD and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2316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Azure Repos, pipelines with security gates, AI pull request review, hardened Docker images, and containerising the full stack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 i="0">
                <a:solidFill>
                  <a:srgbClr val="CDEFEC"/>
                </a:solidFill>
                <a:latin typeface="Calibri"/>
              </a:rPr>
              <a:t>Mon 23 Nov 2026  |  Basics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Prepared by Ahmed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159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CDEFEC"/>
                </a:solidFill>
                <a:latin typeface="Calibri"/>
              </a:rPr>
              <a:t>linkedin.com/in/ahmed-al-imaad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Today's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20  |  Git, CI/CD and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Ohayou gozaimasu (おはようございます): Good morning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Quiz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15 questions on Day 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0E3B43"/>
                </a:solidFill>
                <a:latin typeface="Calibri"/>
              </a:rPr>
              <a:t>Git and Azure Repos (1 hr)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Commits, branches, pull requests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Pipelines (2 hrs)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YAML, security gates, AI PR review. NEW (v4)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Docker (2 hrs)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Images, Dockerfiles, hardening. NEW (v4)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766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4594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594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624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Full stack (1.5 hrs)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94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Containerise back end and front end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2788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88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18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SmartDesk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88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Images, CI gates, vulnerability report v2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By the end of today you 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20  |  Git, CI/CD and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Use Git daily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Commit, branch, merge, resolve a conflict and open a pull request.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Gate every 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Write pipeline YAML that fails on tests, bandit, pip-audit or a leaked secret.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Review safely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Use Codex as a pull request reviewer while a human approves the merge.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Ship hardened images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Write slim, non-root, scanned images for the API and the React app.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Git and Azure Repos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1 (1 hr). A time machine for your 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The places your code lives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20  |  Git, CI/CD and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7285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728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Working folder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Files you edit</a:t>
            </a:r>
          </a:p>
        </p:txBody>
      </p:sp>
      <p:sp>
        <p:nvSpPr>
          <p:cNvPr id="10" name="Chevron 9"/>
          <p:cNvSpPr/>
          <p:nvPr/>
        </p:nvSpPr>
        <p:spPr>
          <a:xfrm>
            <a:off x="2356865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9461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74695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469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86050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Staging area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433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git add: chosen changes</a:t>
            </a:r>
          </a:p>
        </p:txBody>
      </p:sp>
      <p:sp>
        <p:nvSpPr>
          <p:cNvPr id="16" name="Chevron 15"/>
          <p:cNvSpPr/>
          <p:nvPr/>
        </p:nvSpPr>
        <p:spPr>
          <a:xfrm>
            <a:off x="4494276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3202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412105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1210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3459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Repository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174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git commit: saved snapshot</a:t>
            </a:r>
          </a:p>
        </p:txBody>
      </p:sp>
      <p:sp>
        <p:nvSpPr>
          <p:cNvPr id="22" name="Chevron 21"/>
          <p:cNvSpPr/>
          <p:nvPr/>
        </p:nvSpPr>
        <p:spPr>
          <a:xfrm>
            <a:off x="6631686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69429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549515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951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0869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Remote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9157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git push: shared with the team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Commands you will use every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20  |  Git, CI/CD and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Command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git status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What changed and what is staged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git add file / git add .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Stage changes for the next commit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git commit -m "message"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Save a snapshot with a message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git switch -c feature/x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Create and move to a new branch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git pull / git push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Get or send commits to the remote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git log --oneline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Short history of commits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Merging and conflicts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20  |  Git, CI/CD and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Kyouryoku (協力): Cooperation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Merge brings a branch's commits into main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Conflict: both sides changed the same lines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Git marks both versions in the file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Choose, delete markers, add, commit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094" b="0" i="0">
                <a:solidFill>
                  <a:srgbClr val="EAF7F5"/>
                </a:solidFill>
                <a:latin typeface="Courier New"/>
              </a:rPr>
              <a:t>git switch main</a:t>
            </a:r>
          </a:p>
          <a:p>
            <a:r>
              <a:rPr sz="1094" b="0" i="0">
                <a:solidFill>
                  <a:srgbClr val="EAF7F5"/>
                </a:solidFill>
                <a:latin typeface="Courier New"/>
              </a:rPr>
              <a:t>git merge feature/greeting</a:t>
            </a:r>
          </a:p>
          <a:p>
            <a:r>
              <a:rPr sz="1094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094" b="0" i="0">
                <a:solidFill>
                  <a:srgbClr val="EAF7F5"/>
                </a:solidFill>
                <a:latin typeface="Courier New"/>
              </a:rPr>
              <a:t># CONFLICT in app.py</a:t>
            </a:r>
          </a:p>
          <a:p>
            <a:r>
              <a:rPr sz="1094" b="0" i="0">
                <a:solidFill>
                  <a:srgbClr val="EAF7F5"/>
                </a:solidFill>
                <a:latin typeface="Courier New"/>
              </a:rPr>
              <a:t>&lt;&lt;&lt;&lt;&lt;&lt;&lt; HEAD</a:t>
            </a:r>
          </a:p>
          <a:p>
            <a:r>
              <a:rPr sz="1094" b="0" i="0">
                <a:solidFill>
                  <a:srgbClr val="EAF7F5"/>
                </a:solidFill>
                <a:latin typeface="Courier New"/>
              </a:rPr>
              <a:t>greeting = "Hello"</a:t>
            </a:r>
          </a:p>
          <a:p>
            <a:r>
              <a:rPr sz="1094" b="0" i="0">
                <a:solidFill>
                  <a:srgbClr val="EAF7F5"/>
                </a:solidFill>
                <a:latin typeface="Courier New"/>
              </a:rPr>
              <a:t>=======</a:t>
            </a:r>
          </a:p>
          <a:p>
            <a:r>
              <a:rPr sz="1094" b="0" i="0">
                <a:solidFill>
                  <a:srgbClr val="EAF7F5"/>
                </a:solidFill>
                <a:latin typeface="Courier New"/>
              </a:rPr>
              <a:t>greeting = "Konnichiwa"</a:t>
            </a:r>
          </a:p>
          <a:p>
            <a:r>
              <a:rPr sz="1094" b="0" i="0">
                <a:solidFill>
                  <a:srgbClr val="EAF7F5"/>
                </a:solidFill>
                <a:latin typeface="Courier New"/>
              </a:rPr>
              <a:t>&gt;&gt;&gt;&gt;&gt;&gt;&gt; feature/greeting</a:t>
            </a:r>
          </a:p>
          <a:p>
            <a:r>
              <a:rPr sz="1094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094" b="0" i="0">
                <a:solidFill>
                  <a:srgbClr val="EAF7F5"/>
                </a:solidFill>
                <a:latin typeface="Courier New"/>
              </a:rPr>
              <a:t># edit to the final version, then:</a:t>
            </a:r>
          </a:p>
          <a:p>
            <a:r>
              <a:rPr sz="1094" b="0" i="0">
                <a:solidFill>
                  <a:srgbClr val="EAF7F5"/>
                </a:solidFill>
                <a:latin typeface="Courier New"/>
              </a:rPr>
              <a:t>git add app.py</a:t>
            </a:r>
          </a:p>
          <a:p>
            <a:r>
              <a:rPr sz="1094" b="0" i="0">
                <a:solidFill>
                  <a:srgbClr val="EAF7F5"/>
                </a:solidFill>
                <a:latin typeface="Courier New"/>
              </a:rPr>
              <a:t>git commit -m "Resolve greeting conflict"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 pull request workflow in Azure Repos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20  |  Git, CI/CD and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Branch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feature/add-filter</a:t>
            </a:r>
          </a:p>
        </p:txBody>
      </p:sp>
      <p:sp>
        <p:nvSpPr>
          <p:cNvPr id="10" name="Chevron 9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Push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git push -u origin feature/add-filter</a:t>
            </a:r>
          </a:p>
        </p:txBody>
      </p:sp>
      <p:sp>
        <p:nvSpPr>
          <p:cNvPr id="16" name="Chevron 15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Open PR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Describe what and why</a:t>
            </a:r>
          </a:p>
        </p:txBody>
      </p:sp>
      <p:sp>
        <p:nvSpPr>
          <p:cNvPr id="22" name="Chevron 21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Checks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CI and security gates run</a:t>
            </a:r>
          </a:p>
        </p:txBody>
      </p:sp>
      <p:sp>
        <p:nvSpPr>
          <p:cNvPr id="28" name="Chevron 27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Merge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After human approval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Branch policies on main can require a green build and at least one human reviewer.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Azure Pipelines and security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2 (2 hrs). Stages, jobs, steps, and gates that stop bad code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Pipeline building blocks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20  |  Git, CI/CD and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Level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Contains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Pipeline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One or more stages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azure-pipelines.yml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Jobs; can depend on other stages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Test, Security, Docker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Job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Steps that run on one agent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unit_tests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 script or a task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pytest -q, Docker@2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15467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Triggers decide when it runs: trigger for pushes to main, pr for pull requests.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Security gates in CI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20  |  Git, CI/CD and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SAST: bandit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09928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 i="0">
                <a:solidFill>
                  <a:srgbClr val="1F4E55"/>
                </a:solidFill>
                <a:latin typeface="Calibri"/>
              </a:rPr>
              <a:t>Scans Python code for insecure patterns such as shell=True or hard-coded passwords.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6300" y="105156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Dependencies: pip-audit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9180" y="1709928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Checks pinned packages against known vulnerabilities (npm audit for Node).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67462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285750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8575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85750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Secret scanning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332987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Finds keys and passwords in files and Git history before they leave the laptop.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6300" y="267462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69180" y="285750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9180" y="28575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2100" y="285750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Image scanning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9180" y="3332987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Scans the built image for vulnerable OS packages (for example Trivy).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A gate is a step that fails the pipeline. Warnings that never fail are easy to ignore.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 pipeline with a Security stage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20  |  Git, CI/CD and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8229600" cy="347472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88719"/>
            <a:ext cx="7863840" cy="320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105" b="0" i="0">
                <a:solidFill>
                  <a:srgbClr val="EAF7F5"/>
                </a:solidFill>
                <a:latin typeface="Courier New"/>
              </a:rPr>
              <a:t>stages:</a:t>
            </a:r>
          </a:p>
          <a:p>
            <a:r>
              <a:rPr sz="1105" b="0" i="0">
                <a:solidFill>
                  <a:srgbClr val="EAF7F5"/>
                </a:solidFill>
                <a:latin typeface="Courier New"/>
              </a:rPr>
              <a:t>- stage: Test</a:t>
            </a:r>
          </a:p>
          <a:p>
            <a:r>
              <a:rPr sz="1105" b="0" i="0">
                <a:solidFill>
                  <a:srgbClr val="EAF7F5"/>
                </a:solidFill>
                <a:latin typeface="Courier New"/>
              </a:rPr>
              <a:t>  jobs:</a:t>
            </a:r>
          </a:p>
          <a:p>
            <a:r>
              <a:rPr sz="1105" b="0" i="0">
                <a:solidFill>
                  <a:srgbClr val="EAF7F5"/>
                </a:solidFill>
                <a:latin typeface="Courier New"/>
              </a:rPr>
              <a:t>  - job: unit</a:t>
            </a:r>
          </a:p>
          <a:p>
            <a:r>
              <a:rPr sz="1105" b="0" i="0">
                <a:solidFill>
                  <a:srgbClr val="EAF7F5"/>
                </a:solidFill>
                <a:latin typeface="Courier New"/>
              </a:rPr>
              <a:t>    steps:</a:t>
            </a:r>
          </a:p>
          <a:p>
            <a:r>
              <a:rPr sz="1105" b="0" i="0">
                <a:solidFill>
                  <a:srgbClr val="EAF7F5"/>
                </a:solidFill>
                <a:latin typeface="Courier New"/>
              </a:rPr>
              <a:t>    - script: pip install -r requirements.txt pytest ruff</a:t>
            </a:r>
          </a:p>
          <a:p>
            <a:r>
              <a:rPr sz="1105" b="0" i="0">
                <a:solidFill>
                  <a:srgbClr val="EAF7F5"/>
                </a:solidFill>
                <a:latin typeface="Courier New"/>
              </a:rPr>
              <a:t>    - script: ruff check . &amp;&amp; pytest -q</a:t>
            </a:r>
          </a:p>
          <a:p>
            <a:r>
              <a:rPr sz="1105" b="0" i="0">
                <a:solidFill>
                  <a:srgbClr val="EAF7F5"/>
                </a:solidFill>
                <a:latin typeface="Courier New"/>
              </a:rPr>
              <a:t>- stage: Security</a:t>
            </a:r>
          </a:p>
          <a:p>
            <a:r>
              <a:rPr sz="1105" b="0" i="0">
                <a:solidFill>
                  <a:srgbClr val="EAF7F5"/>
                </a:solidFill>
                <a:latin typeface="Courier New"/>
              </a:rPr>
              <a:t>  dependsOn: Test</a:t>
            </a:r>
          </a:p>
          <a:p>
            <a:r>
              <a:rPr sz="1105" b="0" i="0">
                <a:solidFill>
                  <a:srgbClr val="EAF7F5"/>
                </a:solidFill>
                <a:latin typeface="Courier New"/>
              </a:rPr>
              <a:t>  jobs:</a:t>
            </a:r>
          </a:p>
          <a:p>
            <a:r>
              <a:rPr sz="1105" b="0" i="0">
                <a:solidFill>
                  <a:srgbClr val="EAF7F5"/>
                </a:solidFill>
                <a:latin typeface="Courier New"/>
              </a:rPr>
              <a:t>  - job: scan</a:t>
            </a:r>
          </a:p>
          <a:p>
            <a:r>
              <a:rPr sz="1105" b="0" i="0">
                <a:solidFill>
                  <a:srgbClr val="EAF7F5"/>
                </a:solidFill>
                <a:latin typeface="Courier New"/>
              </a:rPr>
              <a:t>    steps:</a:t>
            </a:r>
          </a:p>
          <a:p>
            <a:r>
              <a:rPr sz="1105" b="0" i="0">
                <a:solidFill>
                  <a:srgbClr val="EAF7F5"/>
                </a:solidFill>
                <a:latin typeface="Courier New"/>
              </a:rPr>
              <a:t>    - script: pip install bandit pip-audit</a:t>
            </a:r>
          </a:p>
          <a:p>
            <a:r>
              <a:rPr sz="1105" b="0" i="0">
                <a:solidFill>
                  <a:srgbClr val="EAF7F5"/>
                </a:solidFill>
                <a:latin typeface="Courier New"/>
              </a:rPr>
              <a:t>    - script: bandit -r app -ll          # fail on medium and high</a:t>
            </a:r>
          </a:p>
          <a:p>
            <a:r>
              <a:rPr sz="1105" b="0" i="0">
                <a:solidFill>
                  <a:srgbClr val="EAF7F5"/>
                </a:solidFill>
                <a:latin typeface="Courier New"/>
              </a:rPr>
              <a:t>    - script: pip-audit -r requirements.txt</a:t>
            </a:r>
          </a:p>
          <a:p>
            <a:r>
              <a:rPr sz="1105" b="0" i="0">
                <a:solidFill>
                  <a:srgbClr val="EAF7F5"/>
                </a:solidFill>
                <a:latin typeface="Courier New"/>
              </a:rPr>
              <a:t>    - script: python tools/scan_secrets.py   # exit 1 on any hit</a:t>
            </a:r>
          </a:p>
          <a:p>
            <a:r>
              <a:rPr sz="1105" b="0" i="0">
                <a:solidFill>
                  <a:srgbClr val="EAF7F5"/>
                </a:solidFill>
                <a:latin typeface="Courier New"/>
              </a:rPr>
              <a:t>- stage: Docker</a:t>
            </a:r>
          </a:p>
          <a:p>
            <a:r>
              <a:rPr sz="1105" b="0" i="0">
                <a:solidFill>
                  <a:srgbClr val="EAF7F5"/>
                </a:solidFill>
                <a:latin typeface="Courier New"/>
              </a:rPr>
              <a:t>  dependsOn: Security</a:t>
            </a:r>
          </a:p>
          <a:p>
            <a:r>
              <a:rPr sz="1105" b="0" i="0">
                <a:solidFill>
                  <a:srgbClr val="EAF7F5"/>
                </a:solidFill>
                <a:latin typeface="Courier New"/>
              </a:rPr>
              <a:t>  condition: eq(variables['Build.SourceBranch'], 'refs/heads/main')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Fail, remediate, re-run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20  |  Git, CI/CD and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Fail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Gate goes red on a finding</a:t>
            </a:r>
          </a:p>
        </p:txBody>
      </p:sp>
      <p:sp>
        <p:nvSpPr>
          <p:cNvPr id="12" name="Chevron 11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Triage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Real issue or false positive?</a:t>
            </a:r>
          </a:p>
        </p:txBody>
      </p:sp>
      <p:sp>
        <p:nvSpPr>
          <p:cNvPr id="18" name="Chevron 17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Remediate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Fix code or upgrade package</a:t>
            </a:r>
          </a:p>
        </p:txBody>
      </p:sp>
      <p:sp>
        <p:nvSpPr>
          <p:cNvPr id="24" name="Chevron 23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Prove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Add a test for the fix</a:t>
            </a:r>
          </a:p>
        </p:txBody>
      </p:sp>
      <p:sp>
        <p:nvSpPr>
          <p:cNvPr id="30" name="Chevron 29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Re-run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Gate goes green; log 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Suppress a finding only with a written reason (for example # nosec B101 with a comment).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Vulnerability report v2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20  |  Git, CI/CD and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97280"/>
          <a:ext cx="8229599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7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Finding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Severity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Fix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Fixed by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Verified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V-01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subprocess with shell=True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bandit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Pass a list, no shell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Codex-assisted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V-02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requests 2.19.0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pip-audit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Upgrade to 2.20.0 or later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Human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V-03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API key in config.py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secret scan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Revoke, rotate, env var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Human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2770632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Template: shared/templates/Vulnerability_Report_Template.md. v1 was Day 7; v3 comes on Day 30.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AI pull request review with Codex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20  |  Git, CI/CD and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4023360" cy="283464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Codex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Reads the diff and explains it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Flags bugs, missing tests, risky patterns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Suggests changes as comments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Saves reviewer time on routine checks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097280"/>
            <a:ext cx="4023360" cy="283464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The human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Decides if the change is right for the product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Checks every Codex suggestion before accepting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Approves the merge (branch policy)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Owns the 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Codex is a reviewer, never the approver. No secrets or customer data in review prompts.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 good pull request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20  |  Git, CI/CD and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Small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One idea per PR. Easier to review, faster to merge.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Explained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What changed, why, and how to test 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Green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Tests and security gates pass before you ask for review.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Kind reviews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Comment on code, not people. Suggest, do not command.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3 (2 hrs). It works on my machine, and on every machine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Docker vocabulary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20  |  Git, CI/CD and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Analogy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Dockerfile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Recipe to build an image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 recipe card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Image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Read-only package built from the recipe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 frozen meal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Container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 running instance of an image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The meal being eaten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Registry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Storage for images (ACR, Docker Hub)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The freezer shop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 Dockerfile for FastAPI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20  |  Git, CI/CD and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Junbi (準備):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Start from a small official base image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Copy requirements first for caching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Then copy the code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CMD starts the server on port 8000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897" b="0" i="0">
                <a:solidFill>
                  <a:srgbClr val="EAF7F5"/>
                </a:solidFill>
                <a:latin typeface="Courier New"/>
              </a:rPr>
              <a:t>FROM python:3.12-slim</a:t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>WORKDIR /app</a:t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>COPY requirements.txt .</a:t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>RUN pip install --no-cache-dir -r requirements.txt</a:t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>COPY app/ ./app</a:t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>EXPOSE 8000</a:t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>CMD ["uvicorn", "app.main:app",</a:t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>     "--host", "0.0.0.0", "--port", "8000"]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Build, run, inspect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20  |  Git, CI/CD and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build creates an image from the Dockerfile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-p maps laptop port to container port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logs and ps help debugging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.dockerignore keeps images small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246" b="0" i="0">
                <a:solidFill>
                  <a:srgbClr val="EAF7F5"/>
                </a:solidFill>
                <a:latin typeface="Courier New"/>
              </a:rPr>
              <a:t>docker build -t tasks-api:1.0 .</a:t>
            </a:r>
          </a:p>
          <a:p>
            <a:r>
              <a:rPr sz="1246" b="0" i="0">
                <a:solidFill>
                  <a:srgbClr val="EAF7F5"/>
                </a:solidFill>
                <a:latin typeface="Courier New"/>
              </a:rPr>
              <a:t>docker run -d -p 8000:8000 \</a:t>
            </a:r>
          </a:p>
          <a:p>
            <a:r>
              <a:rPr sz="1246" b="0" i="0">
                <a:solidFill>
                  <a:srgbClr val="EAF7F5"/>
                </a:solidFill>
                <a:latin typeface="Courier New"/>
              </a:rPr>
              <a:t>  --name tasks tasks-api:1.0</a:t>
            </a:r>
          </a:p>
          <a:p>
            <a:r>
              <a:rPr sz="1246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246" b="0" i="0">
                <a:solidFill>
                  <a:srgbClr val="EAF7F5"/>
                </a:solidFill>
                <a:latin typeface="Courier New"/>
              </a:rPr>
              <a:t>docker ps</a:t>
            </a:r>
          </a:p>
          <a:p>
            <a:r>
              <a:rPr sz="1246" b="0" i="0">
                <a:solidFill>
                  <a:srgbClr val="EAF7F5"/>
                </a:solidFill>
                <a:latin typeface="Courier New"/>
              </a:rPr>
              <a:t>docker logs tasks</a:t>
            </a:r>
          </a:p>
          <a:p>
            <a:r>
              <a:rPr sz="1246" b="0" i="0">
                <a:solidFill>
                  <a:srgbClr val="EAF7F5"/>
                </a:solidFill>
                <a:latin typeface="Courier New"/>
              </a:rPr>
              <a:t>curl http://localhost:8000/health</a:t>
            </a:r>
          </a:p>
          <a:p>
            <a:r>
              <a:rPr sz="1246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246" b="0" i="0">
                <a:solidFill>
                  <a:srgbClr val="EAF7F5"/>
                </a:solidFill>
                <a:latin typeface="Courier New"/>
              </a:rPr>
              <a:t>docker stop tasks &amp;&amp; docker rm tasks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Image hardening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20  |  Git, CI/CD and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Anzen (安全):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Small base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slim or distroless: fewer packages, fewer vulnerabilities.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Non-root user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If the app is broken into, the attacker is not root.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No secrets in layers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Secrets come from the platform at runtime, never COPY or ENV.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Pin and scan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Pin versions; scan the image in CI and fail on high findings.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 hardened Dockerfile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20  |  Git, CI/CD and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Pinned slim base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No pip cache, no build tools left behind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Runs as appuser, not root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HEALTHCHECK runs check.py, which calls /health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043" b="0" i="0">
                <a:solidFill>
                  <a:srgbClr val="EAF7F5"/>
                </a:solidFill>
                <a:latin typeface="Courier New"/>
              </a:rPr>
              <a:t>FROM python:3.12-slim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ENV PYTHONUNBUFFERED=1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WORKDIR /app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COPY requirements.txt .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RUN pip install --no-cache-dir \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    -r requirements.txt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COPY app/ ./app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RUN useradd -m -u 10001 appuser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USER appuser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EXPOSE 8000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HEALTHCHECK CMD python /app/app/check.py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CMD ["uvicorn", "app.main:app",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     "--host", "0.0.0.0", "--port", "8000"]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Containerising back end and front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4 (1.5 hrs). The same image in every environment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Habits of a cloud-ready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20  |  Git, CI/CD and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FA3A3"/>
                </a:solidFill>
                <a:latin typeface="Calibri"/>
              </a:rPr>
              <a:t>Build once, deploy the same image everywhere with different settings.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4000500" cy="141731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544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Config from env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29967"/>
            <a:ext cx="3634740" cy="640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URLs, secrets and flags come from environment variables.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86300" y="1371600"/>
            <a:ext cx="4000500" cy="141731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869180" y="15544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91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72100" y="15544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Stateless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9180" y="2029967"/>
            <a:ext cx="3634740" cy="640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No files or sessions stored inside the container.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17520"/>
            <a:ext cx="4000500" cy="141731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" y="320040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2004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20040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Health endpoints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675887"/>
            <a:ext cx="3634740" cy="640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/health says alive; /ready says able to serve.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86300" y="3017520"/>
            <a:ext cx="4000500" cy="141731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69180" y="320040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69180" y="32004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72100" y="320040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Logs to stdout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9180" y="3675887"/>
            <a:ext cx="3634740" cy="640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Print logs; the platform collects them.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Multi-stage build for the React front 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20  |  Git, CI/CD and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Stage 1 builds with Node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Stage 2 serves static files with nginx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Only the built files ship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No API keys in front-end builds (Day 11 rule)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915" b="0" i="0">
                <a:solidFill>
                  <a:srgbClr val="EAF7F5"/>
                </a:solidFill>
                <a:latin typeface="Courier New"/>
              </a:rPr>
              <a:t>FROM node:22-slim AS build</a:t>
            </a:r>
          </a:p>
          <a:p>
            <a:r>
              <a:rPr sz="915" b="0" i="0">
                <a:solidFill>
                  <a:srgbClr val="EAF7F5"/>
                </a:solidFill>
                <a:latin typeface="Courier New"/>
              </a:rPr>
              <a:t>WORKDIR /web</a:t>
            </a:r>
          </a:p>
          <a:p>
            <a:r>
              <a:rPr sz="915" b="0" i="0">
                <a:solidFill>
                  <a:srgbClr val="EAF7F5"/>
                </a:solidFill>
                <a:latin typeface="Courier New"/>
              </a:rPr>
              <a:t>COPY package*.json ./</a:t>
            </a:r>
          </a:p>
          <a:p>
            <a:r>
              <a:rPr sz="915" b="0" i="0">
                <a:solidFill>
                  <a:srgbClr val="EAF7F5"/>
                </a:solidFill>
                <a:latin typeface="Courier New"/>
              </a:rPr>
              <a:t>RUN npm ci</a:t>
            </a:r>
          </a:p>
          <a:p>
            <a:r>
              <a:rPr sz="915" b="0" i="0">
                <a:solidFill>
                  <a:srgbClr val="EAF7F5"/>
                </a:solidFill>
                <a:latin typeface="Courier New"/>
              </a:rPr>
              <a:t>COPY . .</a:t>
            </a:r>
          </a:p>
          <a:p>
            <a:r>
              <a:rPr sz="915" b="0" i="0">
                <a:solidFill>
                  <a:srgbClr val="EAF7F5"/>
                </a:solidFill>
                <a:latin typeface="Courier New"/>
              </a:rPr>
              <a:t>RUN npm run build</a:t>
            </a:r>
          </a:p>
          <a:p>
            <a:r>
              <a:rPr sz="915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915" b="0" i="0">
                <a:solidFill>
                  <a:srgbClr val="EAF7F5"/>
                </a:solidFill>
                <a:latin typeface="Courier New"/>
              </a:rPr>
              <a:t>FROM nginx:alpine</a:t>
            </a:r>
          </a:p>
          <a:p>
            <a:r>
              <a:rPr sz="915" b="0" i="0">
                <a:solidFill>
                  <a:srgbClr val="EAF7F5"/>
                </a:solidFill>
                <a:latin typeface="Courier New"/>
              </a:rPr>
              <a:t>COPY --from=build /web/dist /usr/share/nginx/html</a:t>
            </a:r>
          </a:p>
          <a:p>
            <a:r>
              <a:rPr sz="915" b="0" i="0">
                <a:solidFill>
                  <a:srgbClr val="EAF7F5"/>
                </a:solidFill>
                <a:latin typeface="Courier New"/>
              </a:rPr>
              <a:t>COPY nginx.conf /etc/nginx/conf.d/default.conf</a:t>
            </a:r>
          </a:p>
          <a:p>
            <a:r>
              <a:rPr sz="915" b="0" i="0">
                <a:solidFill>
                  <a:srgbClr val="EAF7F5"/>
                </a:solidFill>
                <a:latin typeface="Courier New"/>
              </a:rPr>
              <a:t>EXPOSE 80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docker compose: the full local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20  |  Git, CI/CD and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One file describes several services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Services reach each other by name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Volumes keep database data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One command starts everything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164" b="0" i="0">
                <a:solidFill>
                  <a:srgbClr val="EAF7F5"/>
                </a:solidFill>
                <a:latin typeface="Courier New"/>
              </a:rPr>
              <a:t>services:</a:t>
            </a:r>
          </a:p>
          <a:p>
            <a:r>
              <a:rPr sz="1164" b="0" i="0">
                <a:solidFill>
                  <a:srgbClr val="EAF7F5"/>
                </a:solidFill>
                <a:latin typeface="Courier New"/>
              </a:rPr>
              <a:t>  api:</a:t>
            </a:r>
          </a:p>
          <a:p>
            <a:r>
              <a:rPr sz="1164" b="0" i="0">
                <a:solidFill>
                  <a:srgbClr val="EAF7F5"/>
                </a:solidFill>
                <a:latin typeface="Courier New"/>
              </a:rPr>
              <a:t>    build: ./api</a:t>
            </a:r>
          </a:p>
          <a:p>
            <a:r>
              <a:rPr sz="1164" b="0" i="0">
                <a:solidFill>
                  <a:srgbClr val="EAF7F5"/>
                </a:solidFill>
                <a:latin typeface="Courier New"/>
              </a:rPr>
              <a:t>    ports: ["8000:8000"]</a:t>
            </a:r>
          </a:p>
          <a:p>
            <a:r>
              <a:rPr sz="1164" b="0" i="0">
                <a:solidFill>
                  <a:srgbClr val="EAF7F5"/>
                </a:solidFill>
                <a:latin typeface="Courier New"/>
              </a:rPr>
              <a:t>    environment:</a:t>
            </a:r>
          </a:p>
          <a:p>
            <a:r>
              <a:rPr sz="1164" b="0" i="0">
                <a:solidFill>
                  <a:srgbClr val="EAF7F5"/>
                </a:solidFill>
                <a:latin typeface="Courier New"/>
              </a:rPr>
              <a:t>      APP_ENV: local</a:t>
            </a:r>
          </a:p>
          <a:p>
            <a:r>
              <a:rPr sz="1164" b="0" i="0">
                <a:solidFill>
                  <a:srgbClr val="EAF7F5"/>
                </a:solidFill>
                <a:latin typeface="Courier New"/>
              </a:rPr>
              <a:t>      MONGO_URI: mongodb://db:27017</a:t>
            </a:r>
          </a:p>
          <a:p>
            <a:r>
              <a:rPr sz="1164" b="0" i="0">
                <a:solidFill>
                  <a:srgbClr val="EAF7F5"/>
                </a:solidFill>
                <a:latin typeface="Courier New"/>
              </a:rPr>
              <a:t>    depends_on: [db]</a:t>
            </a:r>
          </a:p>
          <a:p>
            <a:r>
              <a:rPr sz="1164" b="0" i="0">
                <a:solidFill>
                  <a:srgbClr val="EAF7F5"/>
                </a:solidFill>
                <a:latin typeface="Courier New"/>
              </a:rPr>
              <a:t>  web:</a:t>
            </a:r>
          </a:p>
          <a:p>
            <a:r>
              <a:rPr sz="1164" b="0" i="0">
                <a:solidFill>
                  <a:srgbClr val="EAF7F5"/>
                </a:solidFill>
                <a:latin typeface="Courier New"/>
              </a:rPr>
              <a:t>    build: ./web</a:t>
            </a:r>
          </a:p>
          <a:p>
            <a:r>
              <a:rPr sz="1164" b="0" i="0">
                <a:solidFill>
                  <a:srgbClr val="EAF7F5"/>
                </a:solidFill>
                <a:latin typeface="Courier New"/>
              </a:rPr>
              <a:t>    ports: ["8080:80"]</a:t>
            </a:r>
          </a:p>
          <a:p>
            <a:r>
              <a:rPr sz="1164" b="0" i="0">
                <a:solidFill>
                  <a:srgbClr val="EAF7F5"/>
                </a:solidFill>
                <a:latin typeface="Courier New"/>
              </a:rPr>
              <a:t>    depends_on: [api]</a:t>
            </a:r>
          </a:p>
          <a:p>
            <a:r>
              <a:rPr sz="1164" b="0" i="0">
                <a:solidFill>
                  <a:srgbClr val="EAF7F5"/>
                </a:solidFill>
                <a:latin typeface="Courier New"/>
              </a:rPr>
              <a:t>  db:</a:t>
            </a:r>
          </a:p>
          <a:p>
            <a:r>
              <a:rPr sz="1164" b="0" i="0">
                <a:solidFill>
                  <a:srgbClr val="EAF7F5"/>
                </a:solidFill>
                <a:latin typeface="Courier New"/>
              </a:rPr>
              <a:t>    image: mongo:7</a:t>
            </a:r>
          </a:p>
          <a:p>
            <a:r>
              <a:rPr sz="1164" b="0" i="0">
                <a:solidFill>
                  <a:srgbClr val="EAF7F5"/>
                </a:solidFill>
                <a:latin typeface="Courier New"/>
              </a:rPr>
              <a:t>    volumes: ["mongo-data:/data/db"]</a:t>
            </a:r>
          </a:p>
          <a:p>
            <a:r>
              <a:rPr sz="1164" b="0" i="0">
                <a:solidFill>
                  <a:srgbClr val="EAF7F5"/>
                </a:solidFill>
                <a:latin typeface="Courier New"/>
              </a:rPr>
              <a:t>volumes:</a:t>
            </a:r>
          </a:p>
          <a:p>
            <a:r>
              <a:rPr sz="1164" b="0" i="0">
                <a:solidFill>
                  <a:srgbClr val="EAF7F5"/>
                </a:solidFill>
                <a:latin typeface="Courier New"/>
              </a:rPr>
              <a:t>  mongo-data: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SmartDesk step 17: images and CI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20  |  Git, CI/CD and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Images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Hardened images for the SmartDesk API and dashboard.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CI gates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Test, bandit, pip-audit, npm audit and secret scan in the pipeline.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Report 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Scan before and after fixes; log each finding in the template.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Build with Codex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Use Day20_App_Build_Prompts.md. A human approves every merge.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20  |  Git, CI/CD and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Git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add, commit, branch, merge. Small, explained pull requests.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Gates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Tests, SAST, dependency and secret scans fail the build. Fix, prove, re-run.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AI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Codex comments; a human approves.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Docker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Slim, non-root, scanned images. Same image everywhere.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Before tomorrow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20  |  Git, CI/CD and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FA3A3"/>
                </a:solidFill>
                <a:latin typeface="Calibri"/>
              </a:rPr>
              <a:t>Tomorrow starts with a 15 question quiz on today's topics.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Hotel 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Follow Day20_Hotel_Lab.md: Git, Docker, gates, report v2.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5544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Workbook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Complete the Day 20 workbook.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Pre-read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Skim the Day 21 pre-read on deploying to Azure.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Connect with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Questions after class, feedback, or want to share what you built today? Reach out on LinkedIn.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08960"/>
            <a:ext cx="4114800" cy="5029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Ahmed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  linkedin.com/in/ahmed-al-imaad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See you tomorrow for Day 21: Azure deployment and continuous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CDEFEC"/>
                </a:solidFill>
                <a:latin typeface="Calibri"/>
              </a:rPr>
              <a:t>Otsukaresama deshita (お疲れ様でした): Thank you for your hard work 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