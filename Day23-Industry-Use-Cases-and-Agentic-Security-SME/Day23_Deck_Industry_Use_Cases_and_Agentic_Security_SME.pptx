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5D6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91440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400" b="1" i="0">
                <a:solidFill>
                  <a:srgbClr val="FF8A3D"/>
                </a:solidFill>
                <a:latin typeface="Calibri"/>
              </a:rPr>
              <a:t>DAY 23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78638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3400" b="1" i="0">
                <a:solidFill>
                  <a:srgbClr val="FFFFFF"/>
                </a:solidFill>
                <a:latin typeface="Cambria"/>
              </a:rPr>
              <a:t>Industry Use Cases and Agentic Security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423160"/>
            <a:ext cx="78638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700" b="0" i="0">
                <a:solidFill>
                  <a:srgbClr val="CDEFEC"/>
                </a:solidFill>
                <a:latin typeface="Calibri"/>
              </a:rPr>
              <a:t>GenAI by industry, maturity levels and enterprise do's and don'ts, then an SME session on security in the agentic world, Patching as a Service and Code Modernisation as a Service</a:t>
            </a:r>
          </a:p>
        </p:txBody>
      </p:sp>
      <p:sp>
        <p:nvSpPr>
          <p:cNvPr id="5" name="Oval 4"/>
          <p:cNvSpPr/>
          <p:nvPr/>
        </p:nvSpPr>
        <p:spPr>
          <a:xfrm>
            <a:off x="640080" y="3291840"/>
            <a:ext cx="164592" cy="164592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96112" y="3291840"/>
            <a:ext cx="164592" cy="164592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52144" y="3291840"/>
            <a:ext cx="164592" cy="16459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361188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200" b="0" i="0">
                <a:solidFill>
                  <a:srgbClr val="CDEFEC"/>
                </a:solidFill>
                <a:latin typeface="Calibri"/>
              </a:rPr>
              <a:t>Thu 26 Nov 2026  |  GenAI track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069080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00" b="1" i="0">
                <a:solidFill>
                  <a:srgbClr val="FFFFFF"/>
                </a:solidFill>
                <a:latin typeface="Calibri"/>
              </a:rPr>
              <a:t>Prepared by Ahmed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315968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00" b="0" i="0">
                <a:solidFill>
                  <a:srgbClr val="CDEFEC"/>
                </a:solidFill>
                <a:latin typeface="Calibri"/>
              </a:rPr>
              <a:t>linkedin.com/in/ahmed-al-imaad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Today's journey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23  |  Industry Use Cases and Agentic Security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06240" y="4754880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1">
                <a:solidFill>
                  <a:srgbClr val="FF8A3D"/>
                </a:solidFill>
                <a:latin typeface="Calibri"/>
              </a:rPr>
              <a:t>Ohayou gozaimasu (おはようございます): Good morning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2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51560"/>
            <a:ext cx="25908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0080" y="1234439"/>
            <a:ext cx="384048" cy="384048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234439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234439"/>
            <a:ext cx="17221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Quiz (30 min)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709928"/>
            <a:ext cx="22250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15 questions on Day 22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76600" y="1051560"/>
            <a:ext cx="25908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459480" y="1234439"/>
            <a:ext cx="384048" cy="384048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59480" y="1234439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62400" y="1234439"/>
            <a:ext cx="17221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GenAI by industry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59480" y="1709928"/>
            <a:ext cx="22250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Telecom, BFSI, retail, healthcare, manufacturing. NEW (v4)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96000" y="1051560"/>
            <a:ext cx="25908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278880" y="1234439"/>
            <a:ext cx="384048" cy="384048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78880" y="1234439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81800" y="1234439"/>
            <a:ext cx="17221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Maturity levels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78880" y="1709928"/>
            <a:ext cx="22250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Experiment to agentic; pilot to production. NEW (v4)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2857500"/>
            <a:ext cx="25908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40080" y="3040380"/>
            <a:ext cx="384048" cy="384048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304038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43000" y="3040380"/>
            <a:ext cx="17221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Do's and don'ts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3515868"/>
            <a:ext cx="22250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Privacy, oversight, value, transparency. NEW (v4)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76600" y="2857500"/>
            <a:ext cx="25908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3459480" y="3040380"/>
            <a:ext cx="384048" cy="384048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459480" y="304038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962400" y="3040380"/>
            <a:ext cx="17221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SME: agentic security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459480" y="3515868"/>
            <a:ext cx="22250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Identity, tools, OWASP, supply chain. NEW (v4)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096000" y="2857500"/>
            <a:ext cx="25908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6278880" y="3040380"/>
            <a:ext cx="384048" cy="384048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278880" y="304038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81800" y="3040380"/>
            <a:ext cx="17221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SME: services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78880" y="3515868"/>
            <a:ext cx="22250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Patching and Code Modernisation as a Service. NEW (v4)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By the end of today you can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23  |  Industry Use Cases and Agentic Security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3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51560"/>
            <a:ext cx="40005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40080" y="1234439"/>
            <a:ext cx="384048" cy="384048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234439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1234439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Map use cases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709928"/>
            <a:ext cx="36347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Match GenAI use cases to an industry and spot the main risk in each.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86300" y="1051560"/>
            <a:ext cx="40005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869180" y="1234439"/>
            <a:ext cx="384048" cy="384048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69180" y="1234439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72100" y="1234439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200" b="1" i="0">
                <a:solidFill>
                  <a:srgbClr val="0E3B43"/>
                </a:solidFill>
                <a:latin typeface="Calibri"/>
              </a:rPr>
              <a:t>Place a system on the maturity ladder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69180" y="1709928"/>
            <a:ext cx="36347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Say what it takes to move a pilot to production.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2857500"/>
            <a:ext cx="40005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40080" y="3040380"/>
            <a:ext cx="384048" cy="384048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304038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" y="3040380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Secure an agent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3515868"/>
            <a:ext cx="36347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Apply scoped identity, deny-by-default tools and the OWASP agentic themes.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686300" y="2857500"/>
            <a:ext cx="40005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869180" y="3040380"/>
            <a:ext cx="384048" cy="384048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869180" y="304038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72100" y="3040380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Patch and modernise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69180" y="3515868"/>
            <a:ext cx="36347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Scan, patch with Codex, prove fixes with tests, migrate in small steps.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5D6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868680"/>
            <a:ext cx="3657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4000" b="1" i="0">
                <a:solidFill>
                  <a:srgbClr val="FF8A3D"/>
                </a:solidFill>
                <a:latin typeface="Cambria"/>
              </a:rPr>
              <a:t>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783080"/>
            <a:ext cx="78638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3000" b="1" i="0">
                <a:solidFill>
                  <a:srgbClr val="FFFFFF"/>
                </a:solidFill>
                <a:latin typeface="Cambria"/>
              </a:rPr>
              <a:t>GenAI by industry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468880"/>
            <a:ext cx="78638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CDEFEC"/>
                </a:solidFill>
                <a:latin typeface="Calibri"/>
              </a:rPr>
              <a:t>Session 1: where GenAI earns its keep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635240" y="228600"/>
            <a:ext cx="1051560" cy="274320"/>
          </a:xfrm>
          <a:prstGeom prst="roundRect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35240" y="228600"/>
            <a:ext cx="10515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NEW (v4)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13232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Common use cases by industry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635240" y="109728"/>
            <a:ext cx="1051560" cy="274320"/>
          </a:xfrm>
          <a:prstGeom prst="roundRect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635240" y="109728"/>
            <a:ext cx="10515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NEW (v4)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23  |  Industry Use Cases and Agentic Security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5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097280"/>
          <a:ext cx="8229600" cy="2304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Industry</a:t>
                      </a:r>
                    </a:p>
                  </a:txBody>
                  <a:tcPr marL="73152" marR="73152" marT="27432" marB="27432">
                    <a:solidFill>
                      <a:srgbClr val="0FA3A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Typical GenAI use cases</a:t>
                      </a:r>
                    </a:p>
                  </a:txBody>
                  <a:tcPr marL="73152" marR="73152" marT="27432" marB="27432">
                    <a:solidFill>
                      <a:srgbClr val="0FA3A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Watch out for</a:t>
                      </a:r>
                    </a:p>
                  </a:txBody>
                  <a:tcPr marL="73152" marR="73152" marT="27432" marB="27432">
                    <a:solidFill>
                      <a:srgbClr val="0FA3A3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Telecom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Care assistant, incident summaries, ticket triage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Customer data, outage errors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BFSI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KYC and claim extraction, compliance search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Regulation, explainability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Retail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Product content, search, support chat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Brand tone, wrong prices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Healthcare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Clinical note drafts for review, patient FAQs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Safety, privacy, sign-off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Manufacturing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Maintenance manual search, quality reports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Unsafe advice, IP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57200" y="3538727"/>
            <a:ext cx="8229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300" b="0" i="1">
                <a:solidFill>
                  <a:srgbClr val="0FA3A3"/>
                </a:solidFill>
                <a:latin typeface="Calibri"/>
              </a:rPr>
              <a:t>Illustrative examples. Check every use case against the customer's own data and rules.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13232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Telecom deep dive (illustrative scenarios)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635240" y="109728"/>
            <a:ext cx="1051560" cy="274320"/>
          </a:xfrm>
          <a:prstGeom prst="roundRect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635240" y="109728"/>
            <a:ext cx="10515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NEW (v4)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23  |  Industry Use Cases and Agentic Security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6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051560"/>
            <a:ext cx="4000500" cy="1394460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40080" y="1234439"/>
            <a:ext cx="384048" cy="384048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234439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1234439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Care assistant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1709928"/>
            <a:ext cx="3634740" cy="617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250" b="0" i="0">
                <a:solidFill>
                  <a:srgbClr val="1F4E55"/>
                </a:solidFill>
                <a:latin typeface="Calibri"/>
              </a:rPr>
              <a:t>Answers plan and billing questions from approved FAQs, with citations. Hands over to a human.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686300" y="1051560"/>
            <a:ext cx="4000500" cy="1394460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869180" y="1234439"/>
            <a:ext cx="384048" cy="384048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69180" y="1234439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72100" y="1234439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Incident summaries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69180" y="1709928"/>
            <a:ext cx="3634740" cy="617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Turns alarm floods and chat logs into a timeline for the on-call engineer.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2674620"/>
            <a:ext cx="4000500" cy="1394460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40080" y="2857500"/>
            <a:ext cx="384048" cy="384048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285750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3000" y="2857500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Field guidance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3332987"/>
            <a:ext cx="3634740" cy="617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Searches manuals and past tickets for the engineer on site, offline if needed.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686300" y="2674620"/>
            <a:ext cx="4000500" cy="1394460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4869180" y="2857500"/>
            <a:ext cx="384048" cy="384048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869180" y="285750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72100" y="2857500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Ticket triage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69180" y="3332987"/>
            <a:ext cx="3634740" cy="617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Classifies and routes tickets; a small model handles volume (Day 25).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4206240"/>
            <a:ext cx="8229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300" b="0" i="1">
                <a:solidFill>
                  <a:srgbClr val="0FA3A3"/>
                </a:solidFill>
                <a:latin typeface="Calibri"/>
              </a:rPr>
              <a:t>SmartDesk, our running project, sits in the care assistant and triage space.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13232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Choosing a good first use case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635240" y="109728"/>
            <a:ext cx="1051560" cy="274320"/>
          </a:xfrm>
          <a:prstGeom prst="roundRect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635240" y="109728"/>
            <a:ext cx="10515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NEW (v4)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23  |  Industry Use Cases and Agentic Security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143000"/>
            <a:ext cx="8229600" cy="3017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600"/>
              </a:spcAft>
            </a:pPr>
            <a:r>
              <a:rPr sz="1600" b="0" i="0">
                <a:solidFill>
                  <a:srgbClr val="0E3B43"/>
                </a:solidFill>
                <a:latin typeface="Calibri"/>
              </a:rPr>
              <a:t>•  High volume, repetitive work with clear right answers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0E3B43"/>
                </a:solidFill>
                <a:latin typeface="Calibri"/>
              </a:rPr>
              <a:t>•  Data you are allowed to use, already in digital form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0E3B43"/>
                </a:solidFill>
                <a:latin typeface="Calibri"/>
              </a:rPr>
              <a:t>•  A human stays in the loop for anything that affects money, safety or rights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0E3B43"/>
                </a:solidFill>
                <a:latin typeface="Calibri"/>
              </a:rPr>
              <a:t>•  A baseline you can measure today (time, cost, quality)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0E3B43"/>
                </a:solidFill>
                <a:latin typeface="Calibri"/>
              </a:rPr>
              <a:t>•  Low blast radius if the model is wrong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206240"/>
            <a:ext cx="8229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300" b="0" i="1">
                <a:solidFill>
                  <a:srgbClr val="0FA3A3"/>
                </a:solidFill>
                <a:latin typeface="Calibri"/>
              </a:rPr>
              <a:t>Avoid starting with the hardest, riskiest process just because it is exciting.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5D6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868680"/>
            <a:ext cx="3657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4000" b="1" i="0">
                <a:solidFill>
                  <a:srgbClr val="FF8A3D"/>
                </a:solidFill>
                <a:latin typeface="Cambria"/>
              </a:rP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783080"/>
            <a:ext cx="78638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3000" b="1" i="0">
                <a:solidFill>
                  <a:srgbClr val="FFFFFF"/>
                </a:solidFill>
                <a:latin typeface="Cambria"/>
              </a:rPr>
              <a:t>Maturity levels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468880"/>
            <a:ext cx="78638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CDEFEC"/>
                </a:solidFill>
                <a:latin typeface="Calibri"/>
              </a:rPr>
              <a:t>From experiment to agentic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635240" y="228600"/>
            <a:ext cx="1051560" cy="274320"/>
          </a:xfrm>
          <a:prstGeom prst="roundRect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35240" y="228600"/>
            <a:ext cx="10515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NEW (v4)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13232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The GenAI maturity ladder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635240" y="109728"/>
            <a:ext cx="1051560" cy="274320"/>
          </a:xfrm>
          <a:prstGeom prst="roundRect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635240" y="109728"/>
            <a:ext cx="10515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NEW (v4)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23  |  Industry Use Cases and Agentic Security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9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1389888" cy="2286000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23544" y="1554480"/>
            <a:ext cx="457200" cy="457200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23544" y="155448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148840"/>
            <a:ext cx="1207008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0E3B43"/>
                </a:solidFill>
                <a:latin typeface="Calibri"/>
              </a:rPr>
              <a:t>Experiment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2560320"/>
            <a:ext cx="1170432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0">
                <a:solidFill>
                  <a:srgbClr val="1F4E55"/>
                </a:solidFill>
                <a:latin typeface="Calibri"/>
              </a:rPr>
              <a:t>Notebook or demo, no real users</a:t>
            </a:r>
          </a:p>
        </p:txBody>
      </p:sp>
      <p:sp>
        <p:nvSpPr>
          <p:cNvPr id="12" name="Chevron 11"/>
          <p:cNvSpPr/>
          <p:nvPr/>
        </p:nvSpPr>
        <p:spPr>
          <a:xfrm>
            <a:off x="1929384" y="2377440"/>
            <a:ext cx="155448" cy="274320"/>
          </a:xfrm>
          <a:prstGeom prst="chevron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167128" y="1371600"/>
            <a:ext cx="1389888" cy="2286000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2633472" y="1554480"/>
            <a:ext cx="457200" cy="457200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633472" y="155448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58568" y="2148840"/>
            <a:ext cx="1207008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0E3B43"/>
                </a:solidFill>
                <a:latin typeface="Calibri"/>
              </a:rPr>
              <a:t>Pilot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76856" y="2560320"/>
            <a:ext cx="1170432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0">
                <a:solidFill>
                  <a:srgbClr val="1F4E55"/>
                </a:solidFill>
                <a:latin typeface="Calibri"/>
              </a:rPr>
              <a:t>Real users, small scope, close watch</a:t>
            </a:r>
          </a:p>
        </p:txBody>
      </p:sp>
      <p:sp>
        <p:nvSpPr>
          <p:cNvPr id="18" name="Chevron 17"/>
          <p:cNvSpPr/>
          <p:nvPr/>
        </p:nvSpPr>
        <p:spPr>
          <a:xfrm>
            <a:off x="3639312" y="2377440"/>
            <a:ext cx="155448" cy="274320"/>
          </a:xfrm>
          <a:prstGeom prst="chevron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877056" y="1371600"/>
            <a:ext cx="1389888" cy="2286000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4343400" y="1554480"/>
            <a:ext cx="457200" cy="457200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43400" y="155448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968496" y="2148840"/>
            <a:ext cx="1207008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0E3B43"/>
                </a:solidFill>
                <a:latin typeface="Calibri"/>
              </a:rPr>
              <a:t>Production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986784" y="2560320"/>
            <a:ext cx="1170432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0">
                <a:solidFill>
                  <a:srgbClr val="1F4E55"/>
                </a:solidFill>
                <a:latin typeface="Calibri"/>
              </a:rPr>
              <a:t>SLAs, monitoring, support</a:t>
            </a:r>
          </a:p>
        </p:txBody>
      </p:sp>
      <p:sp>
        <p:nvSpPr>
          <p:cNvPr id="24" name="Chevron 23"/>
          <p:cNvSpPr/>
          <p:nvPr/>
        </p:nvSpPr>
        <p:spPr>
          <a:xfrm>
            <a:off x="5349240" y="2377440"/>
            <a:ext cx="155448" cy="274320"/>
          </a:xfrm>
          <a:prstGeom prst="chevron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586984" y="1371600"/>
            <a:ext cx="1389888" cy="2286000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053328" y="1554480"/>
            <a:ext cx="457200" cy="457200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053328" y="155448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78424" y="2148840"/>
            <a:ext cx="1207008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0E3B43"/>
                </a:solidFill>
                <a:latin typeface="Calibri"/>
              </a:rPr>
              <a:t>Scaled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96712" y="2560320"/>
            <a:ext cx="1170432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0">
                <a:solidFill>
                  <a:srgbClr val="1F4E55"/>
                </a:solidFill>
                <a:latin typeface="Calibri"/>
              </a:rPr>
              <a:t>Many teams, shared platform</a:t>
            </a:r>
          </a:p>
        </p:txBody>
      </p:sp>
      <p:sp>
        <p:nvSpPr>
          <p:cNvPr id="30" name="Chevron 29"/>
          <p:cNvSpPr/>
          <p:nvPr/>
        </p:nvSpPr>
        <p:spPr>
          <a:xfrm>
            <a:off x="7059168" y="2377440"/>
            <a:ext cx="155448" cy="274320"/>
          </a:xfrm>
          <a:prstGeom prst="chevron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296912" y="1371600"/>
            <a:ext cx="1389888" cy="2286000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7763256" y="1554480"/>
            <a:ext cx="457200" cy="457200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763256" y="155448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88352" y="2148840"/>
            <a:ext cx="1207008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0E3B43"/>
                </a:solidFill>
                <a:latin typeface="Calibri"/>
              </a:rPr>
              <a:t>Agentic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06640" y="2560320"/>
            <a:ext cx="1170432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0">
                <a:solidFill>
                  <a:srgbClr val="1F4E55"/>
                </a:solidFill>
                <a:latin typeface="Calibri"/>
              </a:rPr>
              <a:t>Agents act with tools, under guardrails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3977639"/>
            <a:ext cx="8229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300" b="0" i="1">
                <a:solidFill>
                  <a:srgbClr val="0FA3A3"/>
                </a:solidFill>
                <a:latin typeface="Calibri"/>
              </a:rPr>
              <a:t>Most organisations have many experiments and few systems in production.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13232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What changes at each level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635240" y="109728"/>
            <a:ext cx="1051560" cy="274320"/>
          </a:xfrm>
          <a:prstGeom prst="roundRect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635240" y="109728"/>
            <a:ext cx="10515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NEW (v4)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23  |  Industry Use Cases and Agentic Security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10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097280"/>
          <a:ext cx="8229600" cy="26883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Area</a:t>
                      </a:r>
                    </a:p>
                  </a:txBody>
                  <a:tcPr marL="73152" marR="73152" marT="27432" marB="27432">
                    <a:solidFill>
                      <a:srgbClr val="0FA3A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Experiment / pilot</a:t>
                      </a:r>
                    </a:p>
                  </a:txBody>
                  <a:tcPr marL="73152" marR="73152" marT="27432" marB="27432">
                    <a:solidFill>
                      <a:srgbClr val="0FA3A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Production / scaled / agentic</a:t>
                      </a:r>
                    </a:p>
                  </a:txBody>
                  <a:tcPr marL="73152" marR="73152" marT="27432" marB="27432">
                    <a:solidFill>
                      <a:srgbClr val="0FA3A3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Ownership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One enthusiastic team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Named owner, on-call, budget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Data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Sample or copied data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Governed access, retention, consent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Quality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Looks good in a demo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Golden sets, evals, quality gates (Days 31 to 32)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Security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Shared key, broad access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Scoped identity, guardrails, red-team (Day 30)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Cost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Nobody tracks it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Budgets, per-user quotas, cost per task (Day 25)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Operations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Manual restarts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Tracing, drift watch, rollback (Days 33 to 35)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13232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What moves a pilot to production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635240" y="109728"/>
            <a:ext cx="1051560" cy="274320"/>
          </a:xfrm>
          <a:prstGeom prst="roundRect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635240" y="109728"/>
            <a:ext cx="10515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NEW (v4)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23  |  Industry Use Cases and Agentic Security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11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051560"/>
            <a:ext cx="25908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40080" y="1234439"/>
            <a:ext cx="384048" cy="384048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234439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1234439"/>
            <a:ext cx="17221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A measured win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1709928"/>
            <a:ext cx="22250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Baseline vs pilot numbers the business agrees with.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76600" y="1051560"/>
            <a:ext cx="25908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459480" y="1234439"/>
            <a:ext cx="384048" cy="384048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59480" y="1234439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62400" y="1234439"/>
            <a:ext cx="17221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An owner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59480" y="1709928"/>
            <a:ext cx="22250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Someone accountable for quality, cost and incidents.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096000" y="1051560"/>
            <a:ext cx="25908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278880" y="1234439"/>
            <a:ext cx="384048" cy="384048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78880" y="1234439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81800" y="1234439"/>
            <a:ext cx="17221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Evals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78880" y="1709928"/>
            <a:ext cx="22250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A golden set and a gate that blocks bad releases.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2857500"/>
            <a:ext cx="25908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0080" y="3040380"/>
            <a:ext cx="384048" cy="384048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304038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43000" y="3040380"/>
            <a:ext cx="17221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Security review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3515868"/>
            <a:ext cx="22250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Threat model, OWASP checklist, vulnerability report.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76600" y="2857500"/>
            <a:ext cx="25908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3459480" y="3040380"/>
            <a:ext cx="384048" cy="384048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459480" y="304038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962400" y="3040380"/>
            <a:ext cx="17221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Cost model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459480" y="3515868"/>
            <a:ext cx="22250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Cost per task at expected volume, with a budget.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096000" y="2857500"/>
            <a:ext cx="25908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6278880" y="3040380"/>
            <a:ext cx="384048" cy="384048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78880" y="304038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81800" y="3040380"/>
            <a:ext cx="17221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Runbook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78880" y="3515868"/>
            <a:ext cx="22250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Monitoring, alerts, rollback and human escalation.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5D6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868680"/>
            <a:ext cx="3657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4000" b="1" i="0">
                <a:solidFill>
                  <a:srgbClr val="FF8A3D"/>
                </a:solidFill>
                <a:latin typeface="Cambria"/>
              </a:rP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783080"/>
            <a:ext cx="78638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3000" b="1" i="0">
                <a:solidFill>
                  <a:srgbClr val="FFFFFF"/>
                </a:solidFill>
                <a:latin typeface="Cambria"/>
              </a:rPr>
              <a:t>Enterprise do's and don'ts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468880"/>
            <a:ext cx="78638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CDEFEC"/>
                </a:solidFill>
                <a:latin typeface="Calibri"/>
              </a:rPr>
              <a:t>Privacy, oversight, value and transparency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635240" y="228600"/>
            <a:ext cx="1051560" cy="274320"/>
          </a:xfrm>
          <a:prstGeom prst="roundRect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35240" y="228600"/>
            <a:ext cx="10515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NEW (v4)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13232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Do's and don'ts for enterprise GenAI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635240" y="109728"/>
            <a:ext cx="1051560" cy="274320"/>
          </a:xfrm>
          <a:prstGeom prst="roundRect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635240" y="109728"/>
            <a:ext cx="10515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NEW (v4)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23  |  Industry Use Cases and Agentic Security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13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097280"/>
            <a:ext cx="4023360" cy="3200400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234440"/>
            <a:ext cx="3566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500" b="1" i="0">
                <a:solidFill>
                  <a:srgbClr val="FF8A3D"/>
                </a:solidFill>
                <a:latin typeface="Calibri"/>
              </a:rPr>
              <a:t>Do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691640"/>
            <a:ext cx="356616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300" b="0" i="0">
                <a:solidFill>
                  <a:srgbClr val="0E3B43"/>
                </a:solidFill>
                <a:latin typeface="Calibri"/>
              </a:rPr>
              <a:t>•  Use only data you are allowed to use; minimise personal data</a:t>
            </a:r>
          </a:p>
          <a:p>
            <a:pPr>
              <a:spcAft>
                <a:spcPts val="400"/>
              </a:spcAft>
            </a:pPr>
            <a:r>
              <a:rPr sz="1300" b="0" i="0">
                <a:solidFill>
                  <a:srgbClr val="0E3B43"/>
                </a:solidFill>
                <a:latin typeface="Calibri"/>
              </a:rPr>
              <a:t>•  Keep a human in the loop for high-impact decisions</a:t>
            </a:r>
          </a:p>
          <a:p>
            <a:pPr>
              <a:spcAft>
                <a:spcPts val="400"/>
              </a:spcAft>
            </a:pPr>
            <a:r>
              <a:rPr sz="1300" b="0" i="0">
                <a:solidFill>
                  <a:srgbClr val="0E3B43"/>
                </a:solidFill>
                <a:latin typeface="Calibri"/>
              </a:rPr>
              <a:t>•  Measure value against a baseline</a:t>
            </a:r>
          </a:p>
          <a:p>
            <a:pPr>
              <a:spcAft>
                <a:spcPts val="400"/>
              </a:spcAft>
            </a:pPr>
            <a:r>
              <a:rPr sz="1300" b="0" i="0">
                <a:solidFill>
                  <a:srgbClr val="0E3B43"/>
                </a:solidFill>
                <a:latin typeface="Calibri"/>
              </a:rPr>
              <a:t>•  Tell people when they are dealing with AI</a:t>
            </a:r>
          </a:p>
          <a:p>
            <a:pPr>
              <a:spcAft>
                <a:spcPts val="400"/>
              </a:spcAft>
            </a:pPr>
            <a:r>
              <a:rPr sz="1300" b="0" i="0">
                <a:solidFill>
                  <a:srgbClr val="0E3B43"/>
                </a:solidFill>
                <a:latin typeface="Calibri"/>
              </a:rPr>
              <a:t>•  Log, evaluate and review regularly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63440" y="1097280"/>
            <a:ext cx="4023360" cy="3200400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92040" y="1234440"/>
            <a:ext cx="3566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500" b="1" i="0">
                <a:solidFill>
                  <a:srgbClr val="0FA3A3"/>
                </a:solidFill>
                <a:latin typeface="Calibri"/>
              </a:rPr>
              <a:t>Don't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92040" y="1691640"/>
            <a:ext cx="356616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300" b="0" i="0">
                <a:solidFill>
                  <a:srgbClr val="0E3B43"/>
                </a:solidFill>
                <a:latin typeface="Calibri"/>
              </a:rPr>
              <a:t>•  Paste customer data or secrets into prompts or tools</a:t>
            </a:r>
          </a:p>
          <a:p>
            <a:pPr>
              <a:spcAft>
                <a:spcPts val="400"/>
              </a:spcAft>
            </a:pPr>
            <a:r>
              <a:rPr sz="1300" b="0" i="0">
                <a:solidFill>
                  <a:srgbClr val="0E3B43"/>
                </a:solidFill>
                <a:latin typeface="Calibri"/>
              </a:rPr>
              <a:t>•  Let an agent act on money, safety or rights unchecked</a:t>
            </a:r>
          </a:p>
          <a:p>
            <a:pPr>
              <a:spcAft>
                <a:spcPts val="400"/>
              </a:spcAft>
            </a:pPr>
            <a:r>
              <a:rPr sz="1300" b="0" i="0">
                <a:solidFill>
                  <a:srgbClr val="0E3B43"/>
                </a:solidFill>
                <a:latin typeface="Calibri"/>
              </a:rPr>
              <a:t>•  Ship because the demo looked good</a:t>
            </a:r>
          </a:p>
          <a:p>
            <a:pPr>
              <a:spcAft>
                <a:spcPts val="400"/>
              </a:spcAft>
            </a:pPr>
            <a:r>
              <a:rPr sz="1300" b="0" i="0">
                <a:solidFill>
                  <a:srgbClr val="0E3B43"/>
                </a:solidFill>
                <a:latin typeface="Calibri"/>
              </a:rPr>
              <a:t>•  Hide AI-generated content or decisions</a:t>
            </a:r>
          </a:p>
          <a:p>
            <a:pPr>
              <a:spcAft>
                <a:spcPts val="400"/>
              </a:spcAft>
            </a:pPr>
            <a:r>
              <a:rPr sz="1300" b="0" i="0">
                <a:solidFill>
                  <a:srgbClr val="0E3B43"/>
                </a:solidFill>
                <a:latin typeface="Calibri"/>
              </a:rPr>
              <a:t>•  Assume the model or provider never changes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13232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Transparency rules to know about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635240" y="109728"/>
            <a:ext cx="1051560" cy="274320"/>
          </a:xfrm>
          <a:prstGeom prst="roundRect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635240" y="109728"/>
            <a:ext cx="10515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NEW (v4)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23  |  Industry Use Cases and Agentic Security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14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097280"/>
          <a:ext cx="8229600" cy="1536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Source</a:t>
                      </a:r>
                    </a:p>
                  </a:txBody>
                  <a:tcPr marL="73152" marR="73152" marT="27432" marB="27432">
                    <a:solidFill>
                      <a:srgbClr val="0FA3A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What it is about</a:t>
                      </a:r>
                    </a:p>
                  </a:txBody>
                  <a:tcPr marL="73152" marR="73152" marT="27432" marB="27432">
                    <a:solidFill>
                      <a:srgbClr val="0FA3A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What FDEs do</a:t>
                      </a:r>
                    </a:p>
                  </a:txBody>
                  <a:tcPr marL="73152" marR="73152" marT="27432" marB="27432">
                    <a:solidFill>
                      <a:srgbClr val="0FA3A3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EU AI Act, Article 50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Tell people they deal with AI; mark AI-generated content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Label AI chat and content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Japan AI Business Guidelines v1.2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Voluntary, risk-based guidance for AI businesses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Use as a checklist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Customer policies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Contracts, data residency, sector rules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Ask early; write them down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57200" y="2770632"/>
            <a:ext cx="8229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300" b="0" i="1">
                <a:solidFill>
                  <a:srgbClr val="0FA3A3"/>
                </a:solidFill>
                <a:latin typeface="Calibri"/>
              </a:rPr>
              <a:t>Not legal advice. Rules change: check current official sources and the customer's legal team.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5D6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868680"/>
            <a:ext cx="3657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4000" b="1" i="0">
                <a:solidFill>
                  <a:srgbClr val="FF8A3D"/>
                </a:solidFill>
                <a:latin typeface="Cambria"/>
              </a:rP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783080"/>
            <a:ext cx="78638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3000" b="1" i="0">
                <a:solidFill>
                  <a:srgbClr val="FFFFFF"/>
                </a:solidFill>
                <a:latin typeface="Cambria"/>
              </a:rPr>
              <a:t>Security in the agentic world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468880"/>
            <a:ext cx="78638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CDEFEC"/>
                </a:solidFill>
                <a:latin typeface="Calibri"/>
              </a:rPr>
              <a:t>Session 2: SME session (4 hrs)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635240" y="228600"/>
            <a:ext cx="1051560" cy="274320"/>
          </a:xfrm>
          <a:prstGeom prst="roundRect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35240" y="228600"/>
            <a:ext cx="10515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NEW (v4)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13232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Why agents change the security picture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635240" y="109728"/>
            <a:ext cx="1051560" cy="274320"/>
          </a:xfrm>
          <a:prstGeom prst="roundRect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635240" y="109728"/>
            <a:ext cx="10515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NEW (v4)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23  |  Industry Use Cases and Agentic Security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16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051560"/>
            <a:ext cx="40005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40080" y="1234439"/>
            <a:ext cx="384048" cy="384048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234439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1234439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They act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1709928"/>
            <a:ext cx="36347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Agents call tools that change data, send messages and spend money.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686300" y="1051560"/>
            <a:ext cx="40005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869180" y="1234439"/>
            <a:ext cx="384048" cy="384048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69180" y="1234439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72100" y="1234439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They read untrusted text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69180" y="1709928"/>
            <a:ext cx="36347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Tickets, web pages and documents can carry hidden instructions.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2857500"/>
            <a:ext cx="40005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40080" y="3040380"/>
            <a:ext cx="384048" cy="384048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304038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3000" y="3040380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They remember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3515868"/>
            <a:ext cx="36347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Long-term memory can be poisoned and can leak (Day 27).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686300" y="2857500"/>
            <a:ext cx="40005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4869180" y="3040380"/>
            <a:ext cx="384048" cy="384048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869180" y="304038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72100" y="3040380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They talk to each other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69180" y="3515868"/>
            <a:ext cx="36347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Agent-to-agent calls and MCP servers widen the attack surface (Day 28).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13232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Agent identity and scoped tokens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635240" y="109728"/>
            <a:ext cx="1051560" cy="274320"/>
          </a:xfrm>
          <a:prstGeom prst="roundRect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635240" y="109728"/>
            <a:ext cx="10515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NEW (v4)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23  |  Industry Use Cases and Agentic Security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143000"/>
            <a:ext cx="3749039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600"/>
              </a:spcAft>
            </a:pPr>
            <a:r>
              <a:rPr sz="1600" b="0" i="0">
                <a:solidFill>
                  <a:srgbClr val="0E3B43"/>
                </a:solidFill>
                <a:latin typeface="Calibri"/>
              </a:rPr>
              <a:t>•  Each agent has its own identity, not a shared key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0E3B43"/>
                </a:solidFill>
                <a:latin typeface="Calibri"/>
              </a:rPr>
              <a:t>•  Tokens carry scopes: exactly what the agent may do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0E3B43"/>
                </a:solidFill>
                <a:latin typeface="Calibri"/>
              </a:rPr>
              <a:t>•  Short-lived (minutes), revocable, audited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0E3B43"/>
                </a:solidFill>
                <a:latin typeface="Calibri"/>
              </a:rPr>
              <a:t>•  No long-lived keys in prompts, code or memory</a:t>
            </a:r>
          </a:p>
        </p:txBody>
      </p:sp>
      <p:sp>
        <p:nvSpPr>
          <p:cNvPr id="8" name="Rectangle 7"/>
          <p:cNvSpPr/>
          <p:nvPr/>
        </p:nvSpPr>
        <p:spPr>
          <a:xfrm>
            <a:off x="4434840" y="1097280"/>
            <a:ext cx="4251960" cy="3291840"/>
          </a:xfrm>
          <a:prstGeom prst="rect">
            <a:avLst/>
          </a:prstGeom>
          <a:solidFill>
            <a:srgbClr val="0F2C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17720" y="1234439"/>
            <a:ext cx="3886200" cy="30175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r>
              <a:rPr sz="1122" b="0" i="0">
                <a:solidFill>
                  <a:srgbClr val="EAF7F5"/>
                </a:solidFill>
                <a:latin typeface="Courier New"/>
              </a:rPr>
              <a:t>claims = {</a:t>
            </a:r>
          </a:p>
          <a:p>
            <a:r>
              <a:rPr sz="1122" b="0" i="0">
                <a:solidFill>
                  <a:srgbClr val="EAF7F5"/>
                </a:solidFill>
                <a:latin typeface="Courier New"/>
              </a:rPr>
              <a:t>  "sub": "agent:smartdesk-triage",</a:t>
            </a:r>
          </a:p>
          <a:p>
            <a:r>
              <a:rPr sz="1122" b="0" i="0">
                <a:solidFill>
                  <a:srgbClr val="EAF7F5"/>
                </a:solidFill>
                <a:latin typeface="Courier New"/>
              </a:rPr>
              <a:t>  "scope": ["tickets:read",</a:t>
            </a:r>
          </a:p>
          <a:p>
            <a:r>
              <a:rPr sz="1122" b="0" i="0">
                <a:solidFill>
                  <a:srgbClr val="EAF7F5"/>
                </a:solidFill>
                <a:latin typeface="Courier New"/>
              </a:rPr>
              <a:t>            "tickets:classify"],</a:t>
            </a:r>
          </a:p>
          <a:p>
            <a:r>
              <a:rPr sz="1122" b="0" i="0">
                <a:solidFill>
                  <a:srgbClr val="EAF7F5"/>
                </a:solidFill>
                <a:latin typeface="Courier New"/>
              </a:rPr>
              <a:t>  "aud": "smartdesk-api",</a:t>
            </a:r>
          </a:p>
          <a:p>
            <a:r>
              <a:rPr sz="1122" b="0" i="0">
                <a:solidFill>
                  <a:srgbClr val="EAF7F5"/>
                </a:solidFill>
                <a:latin typeface="Courier New"/>
              </a:rPr>
              <a:t>  "exp": now + 15 * 60,     # 15 minutes</a:t>
            </a:r>
          </a:p>
          <a:p>
            <a:r>
              <a:rPr sz="1122" b="0" i="0">
                <a:solidFill>
                  <a:srgbClr val="EAF7F5"/>
                </a:solidFill>
                <a:latin typeface="Courier New"/>
              </a:rPr>
              <a:t>}</a:t>
            </a:r>
          </a:p>
          <a:p>
            <a:r>
              <a:rPr sz="1122" b="0" i="0">
                <a:solidFill>
                  <a:srgbClr val="EAF7F5"/>
                </a:solidFill>
                <a:latin typeface="Courier New"/>
              </a:rPr>
              <a:t># tickets:close is NOT granted.</a:t>
            </a:r>
          </a:p>
          <a:p>
            <a:r>
              <a:rPr sz="1122" b="0" i="0">
                <a:solidFill>
                  <a:srgbClr val="EAF7F5"/>
                </a:solidFill>
                <a:latin typeface="Courier New"/>
              </a:rPr>
              <a:t># The API checks scope on every call.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13232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Tool permissions: deny by default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635240" y="109728"/>
            <a:ext cx="1051560" cy="274320"/>
          </a:xfrm>
          <a:prstGeom prst="roundRect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635240" y="109728"/>
            <a:ext cx="10515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NEW (v4)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23  |  Industry Use Cases and Agentic Security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18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097280"/>
          <a:ext cx="8229600" cy="26883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Tool</a:t>
                      </a:r>
                    </a:p>
                  </a:txBody>
                  <a:tcPr marL="73152" marR="73152" marT="27432" marB="27432">
                    <a:solidFill>
                      <a:srgbClr val="0FA3A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Allowed</a:t>
                      </a:r>
                    </a:p>
                  </a:txBody>
                  <a:tcPr marL="73152" marR="73152" marT="27432" marB="27432">
                    <a:solidFill>
                      <a:srgbClr val="0FA3A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Approval</a:t>
                      </a:r>
                    </a:p>
                  </a:txBody>
                  <a:tcPr marL="73152" marR="73152" marT="27432" marB="27432">
                    <a:solidFill>
                      <a:srgbClr val="0FA3A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Why</a:t>
                      </a:r>
                    </a:p>
                  </a:txBody>
                  <a:tcPr marL="73152" marR="73152" marT="27432" marB="27432">
                    <a:solidFill>
                      <a:srgbClr val="0FA3A3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search_kb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Read-only, public FAQ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read_ticket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Read-only, scoped to the customer's tickets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refund_customer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Human approval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Moves money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close_ticket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Supervisor agent only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Changes state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delete_customer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n/a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Not needed for this agent's job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any unknown tool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n/a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Deny by default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13232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OWASP agentic risks: the themes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635240" y="109728"/>
            <a:ext cx="1051560" cy="274320"/>
          </a:xfrm>
          <a:prstGeom prst="roundRect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635240" y="109728"/>
            <a:ext cx="10515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NEW (v4)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23  |  Industry Use Cases and Agentic Security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19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051560"/>
            <a:ext cx="2590800" cy="1394460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40080" y="1234439"/>
            <a:ext cx="384048" cy="384048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234439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1234439"/>
            <a:ext cx="17221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300" b="1" i="0">
                <a:solidFill>
                  <a:srgbClr val="0E3B43"/>
                </a:solidFill>
                <a:latin typeface="Calibri"/>
              </a:rPr>
              <a:t>Goal and instruction hijack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1709928"/>
            <a:ext cx="2225040" cy="617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Untrusted text changes what the agent tries to do.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76600" y="1051560"/>
            <a:ext cx="2590800" cy="1394460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459480" y="1234439"/>
            <a:ext cx="384048" cy="384048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59480" y="1234439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62400" y="1234439"/>
            <a:ext cx="17221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Tool misuse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59480" y="1709928"/>
            <a:ext cx="2225040" cy="617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Legitimate tools used in harmful ways.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096000" y="1051560"/>
            <a:ext cx="2590800" cy="1394460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278880" y="1234439"/>
            <a:ext cx="384048" cy="384048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78880" y="1234439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81800" y="1234439"/>
            <a:ext cx="17221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Identity and privilege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78880" y="1709928"/>
            <a:ext cx="2225040" cy="617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Over-powered or shared credentials.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2674620"/>
            <a:ext cx="2590800" cy="1394460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0080" y="2857500"/>
            <a:ext cx="384048" cy="384048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285750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43000" y="2857500"/>
            <a:ext cx="17221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Supply chain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3332987"/>
            <a:ext cx="2225040" cy="617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Malicious or vulnerable MCP servers, skills and packages.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76600" y="2674620"/>
            <a:ext cx="2590800" cy="1394460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3459480" y="2857500"/>
            <a:ext cx="384048" cy="384048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459480" y="285750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962400" y="2857500"/>
            <a:ext cx="17221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Memory poisoning (ASI06)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459480" y="3332987"/>
            <a:ext cx="2225040" cy="617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Bad data stored and reused later.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096000" y="2674620"/>
            <a:ext cx="2590800" cy="1394460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6278880" y="2857500"/>
            <a:ext cx="384048" cy="384048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78880" y="285750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81800" y="2857500"/>
            <a:ext cx="17221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300" b="1" i="0">
                <a:solidFill>
                  <a:srgbClr val="0E3B43"/>
                </a:solidFill>
                <a:latin typeface="Calibri"/>
              </a:rPr>
              <a:t>Cascades and rogue agents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78880" y="3332987"/>
            <a:ext cx="2225040" cy="617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Failures spread; agents drift from intent.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" y="4206240"/>
            <a:ext cx="8229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300" b="0" i="1">
                <a:solidFill>
                  <a:srgbClr val="0FA3A3"/>
                </a:solidFill>
                <a:latin typeface="Calibri"/>
              </a:rPr>
              <a:t>Source: OWASP GenAI Security Project, Dec 2025. Use the official list for exact IDs (checklist in shared/templates).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13232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MCP and skill supply chain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635240" y="109728"/>
            <a:ext cx="1051560" cy="274320"/>
          </a:xfrm>
          <a:prstGeom prst="roundRect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635240" y="109728"/>
            <a:ext cx="10515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NEW (v4)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23  |  Industry Use Cases and Agentic Security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20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051560"/>
            <a:ext cx="4000500" cy="1394460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40080" y="1234439"/>
            <a:ext cx="384048" cy="384048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234439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1234439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Treat them like packages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1709928"/>
            <a:ext cx="3634740" cy="617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An MCP server or skill is code plus instructions you did not write.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686300" y="1051560"/>
            <a:ext cx="4000500" cy="1394460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869180" y="1234439"/>
            <a:ext cx="384048" cy="384048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69180" y="1234439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72100" y="1234439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Pin and verify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69180" y="1709928"/>
            <a:ext cx="3634740" cy="617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Pin versions, record hashes, review changes before upgrading.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2674620"/>
            <a:ext cx="4000500" cy="1394460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40080" y="2857500"/>
            <a:ext cx="384048" cy="384048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285750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3000" y="2857500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Least privilege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3332987"/>
            <a:ext cx="3634740" cy="617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Give each server only the scopes it needs; prefer OAuth over static keys.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686300" y="2674620"/>
            <a:ext cx="4000500" cy="1394460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4869180" y="2857500"/>
            <a:ext cx="384048" cy="384048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869180" y="285750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72100" y="2857500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Keep a register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69180" y="3332987"/>
            <a:ext cx="3634740" cy="617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Source, version, reviewer, date. Remove what you do not use.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4206240"/>
            <a:ext cx="8229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300" b="0" i="1">
                <a:solidFill>
                  <a:srgbClr val="0FA3A3"/>
                </a:solidFill>
                <a:latin typeface="Calibri"/>
              </a:rPr>
              <a:t>Public audits in 2026 found malicious skills in the wild. Review before you install.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5D6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868680"/>
            <a:ext cx="3657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4000" b="1" i="0">
                <a:solidFill>
                  <a:srgbClr val="FF8A3D"/>
                </a:solidFill>
                <a:latin typeface="Cambria"/>
              </a:rPr>
              <a:t>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783080"/>
            <a:ext cx="78638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3000" b="1" i="0">
                <a:solidFill>
                  <a:srgbClr val="FFFFFF"/>
                </a:solidFill>
                <a:latin typeface="Cambria"/>
              </a:rPr>
              <a:t>Patching as a Service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468880"/>
            <a:ext cx="78638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CDEFEC"/>
                </a:solidFill>
                <a:latin typeface="Calibri"/>
              </a:rPr>
              <a:t>Continuous, AI-assisted, human-approved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635240" y="228600"/>
            <a:ext cx="1051560" cy="274320"/>
          </a:xfrm>
          <a:prstGeom prst="roundRect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35240" y="228600"/>
            <a:ext cx="10515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NEW (v4)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13232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The patching loop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635240" y="109728"/>
            <a:ext cx="1051560" cy="274320"/>
          </a:xfrm>
          <a:prstGeom prst="roundRect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635240" y="109728"/>
            <a:ext cx="10515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NEW (v4)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23  |  Industry Use Cases and Agentic Security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22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1389888" cy="2286000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23544" y="1554480"/>
            <a:ext cx="457200" cy="457200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23544" y="155448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148840"/>
            <a:ext cx="1207008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0E3B43"/>
                </a:solidFill>
                <a:latin typeface="Calibri"/>
              </a:rPr>
              <a:t>Scan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2560320"/>
            <a:ext cx="1170432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0">
                <a:solidFill>
                  <a:srgbClr val="1F4E55"/>
                </a:solidFill>
                <a:latin typeface="Calibri"/>
              </a:rPr>
              <a:t>bandit, pip-audit, npm audit, image scans</a:t>
            </a:r>
          </a:p>
        </p:txBody>
      </p:sp>
      <p:sp>
        <p:nvSpPr>
          <p:cNvPr id="12" name="Chevron 11"/>
          <p:cNvSpPr/>
          <p:nvPr/>
        </p:nvSpPr>
        <p:spPr>
          <a:xfrm>
            <a:off x="1929384" y="2377440"/>
            <a:ext cx="155448" cy="274320"/>
          </a:xfrm>
          <a:prstGeom prst="chevron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167128" y="1371600"/>
            <a:ext cx="1389888" cy="2286000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2633472" y="1554480"/>
            <a:ext cx="457200" cy="457200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633472" y="155448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58568" y="2148840"/>
            <a:ext cx="1207008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0E3B43"/>
                </a:solidFill>
                <a:latin typeface="Calibri"/>
              </a:rPr>
              <a:t>Triage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76856" y="2560320"/>
            <a:ext cx="1170432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0">
                <a:solidFill>
                  <a:srgbClr val="1F4E55"/>
                </a:solidFill>
                <a:latin typeface="Calibri"/>
              </a:rPr>
              <a:t>Severity, reachability, owner</a:t>
            </a:r>
          </a:p>
        </p:txBody>
      </p:sp>
      <p:sp>
        <p:nvSpPr>
          <p:cNvPr id="18" name="Chevron 17"/>
          <p:cNvSpPr/>
          <p:nvPr/>
        </p:nvSpPr>
        <p:spPr>
          <a:xfrm>
            <a:off x="3639312" y="2377440"/>
            <a:ext cx="155448" cy="274320"/>
          </a:xfrm>
          <a:prstGeom prst="chevron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877056" y="1371600"/>
            <a:ext cx="1389888" cy="2286000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4343400" y="1554480"/>
            <a:ext cx="457200" cy="457200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43400" y="155448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968496" y="2148840"/>
            <a:ext cx="1207008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0E3B43"/>
                </a:solidFill>
                <a:latin typeface="Calibri"/>
              </a:rPr>
              <a:t>Patch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986784" y="2560320"/>
            <a:ext cx="1170432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0">
                <a:solidFill>
                  <a:srgbClr val="1F4E55"/>
                </a:solidFill>
                <a:latin typeface="Calibri"/>
              </a:rPr>
              <a:t>Codex proposes, engineer decides</a:t>
            </a:r>
          </a:p>
        </p:txBody>
      </p:sp>
      <p:sp>
        <p:nvSpPr>
          <p:cNvPr id="24" name="Chevron 23"/>
          <p:cNvSpPr/>
          <p:nvPr/>
        </p:nvSpPr>
        <p:spPr>
          <a:xfrm>
            <a:off x="5349240" y="2377440"/>
            <a:ext cx="155448" cy="274320"/>
          </a:xfrm>
          <a:prstGeom prst="chevron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586984" y="1371600"/>
            <a:ext cx="1389888" cy="2286000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053328" y="1554480"/>
            <a:ext cx="457200" cy="457200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053328" y="155448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78424" y="2148840"/>
            <a:ext cx="1207008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0E3B43"/>
                </a:solidFill>
                <a:latin typeface="Calibri"/>
              </a:rPr>
              <a:t>Test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96712" y="2560320"/>
            <a:ext cx="1170432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0">
                <a:solidFill>
                  <a:srgbClr val="1F4E55"/>
                </a:solidFill>
                <a:latin typeface="Calibri"/>
              </a:rPr>
              <a:t>Prove the fix; run the full suite</a:t>
            </a:r>
          </a:p>
        </p:txBody>
      </p:sp>
      <p:sp>
        <p:nvSpPr>
          <p:cNvPr id="30" name="Chevron 29"/>
          <p:cNvSpPr/>
          <p:nvPr/>
        </p:nvSpPr>
        <p:spPr>
          <a:xfrm>
            <a:off x="7059168" y="2377440"/>
            <a:ext cx="155448" cy="274320"/>
          </a:xfrm>
          <a:prstGeom prst="chevron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296912" y="1371600"/>
            <a:ext cx="1389888" cy="2286000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7763256" y="1554480"/>
            <a:ext cx="457200" cy="457200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763256" y="155448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88352" y="2148840"/>
            <a:ext cx="1207008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0E3B43"/>
                </a:solidFill>
                <a:latin typeface="Calibri"/>
              </a:rPr>
              <a:t>Roll out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06640" y="2560320"/>
            <a:ext cx="1170432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0">
                <a:solidFill>
                  <a:srgbClr val="1F4E55"/>
                </a:solidFill>
                <a:latin typeface="Calibri"/>
              </a:rPr>
              <a:t>Approve, deploy, monitor, report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3977639"/>
            <a:ext cx="8229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300" b="0" i="1">
                <a:solidFill>
                  <a:srgbClr val="0FA3A3"/>
                </a:solidFill>
                <a:latin typeface="Calibri"/>
              </a:rPr>
              <a:t>The model proposes; the engineer decides. Every fix needs a test.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13232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Service levels: an example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635240" y="109728"/>
            <a:ext cx="1051560" cy="274320"/>
          </a:xfrm>
          <a:prstGeom prst="roundRect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635240" y="109728"/>
            <a:ext cx="10515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NEW (v4)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23  |  Industry Use Cases and Agentic Security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23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097280"/>
          <a:ext cx="822960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Severity</a:t>
                      </a:r>
                    </a:p>
                  </a:txBody>
                  <a:tcPr marL="73152" marR="73152" marT="27432" marB="27432">
                    <a:solidFill>
                      <a:srgbClr val="0FA3A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Example fix target</a:t>
                      </a:r>
                    </a:p>
                  </a:txBody>
                  <a:tcPr marL="73152" marR="73152" marT="27432" marB="27432">
                    <a:solidFill>
                      <a:srgbClr val="0FA3A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Approval</a:t>
                      </a:r>
                    </a:p>
                  </a:txBody>
                  <a:tcPr marL="73152" marR="73152" marT="27432" marB="27432">
                    <a:solidFill>
                      <a:srgbClr val="0FA3A3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Critical (exploited or easy to exploit)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Days, with an emergency change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Service owner, same day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High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Within the next sprint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Change board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Medium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Within a planned release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Normal review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Low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Batch with other work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Normal review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57200" y="3154679"/>
            <a:ext cx="8229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300" b="0" i="1">
                <a:solidFill>
                  <a:srgbClr val="0FA3A3"/>
                </a:solidFill>
                <a:latin typeface="Calibri"/>
              </a:rPr>
              <a:t>Example only. Agree real targets with the customer, based on their contract and risk policy.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5D6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868680"/>
            <a:ext cx="3657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4000" b="1" i="0">
                <a:solidFill>
                  <a:srgbClr val="FF8A3D"/>
                </a:solidFill>
                <a:latin typeface="Cambria"/>
              </a:rPr>
              <a:t>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783080"/>
            <a:ext cx="78638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3000" b="1" i="0">
                <a:solidFill>
                  <a:srgbClr val="FFFFFF"/>
                </a:solidFill>
                <a:latin typeface="Cambria"/>
              </a:rPr>
              <a:t>Code Modernisation as a Service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468880"/>
            <a:ext cx="78638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CDEFEC"/>
                </a:solidFill>
                <a:latin typeface="Calibri"/>
              </a:rPr>
              <a:t>Assess, plan, migrate with coding agents, verify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635240" y="228600"/>
            <a:ext cx="1051560" cy="274320"/>
          </a:xfrm>
          <a:prstGeom prst="roundRect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35240" y="228600"/>
            <a:ext cx="10515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NEW (v4)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13232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Plan: from rehost to rebuild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635240" y="109728"/>
            <a:ext cx="1051560" cy="274320"/>
          </a:xfrm>
          <a:prstGeom prst="roundRect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635240" y="109728"/>
            <a:ext cx="10515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NEW (v4)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23  |  Industry Use Cases and Agentic Security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25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097280"/>
          <a:ext cx="8229600" cy="26883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Path</a:t>
                      </a:r>
                    </a:p>
                  </a:txBody>
                  <a:tcPr marL="73152" marR="73152" marT="27432" marB="27432">
                    <a:solidFill>
                      <a:srgbClr val="0FA3A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What changes</a:t>
                      </a:r>
                    </a:p>
                  </a:txBody>
                  <a:tcPr marL="73152" marR="73152" marT="27432" marB="27432">
                    <a:solidFill>
                      <a:srgbClr val="0FA3A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When</a:t>
                      </a:r>
                    </a:p>
                  </a:txBody>
                  <a:tcPr marL="73152" marR="73152" marT="27432" marB="27432">
                    <a:solidFill>
                      <a:srgbClr val="0FA3A3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Rehost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Same code, new infrastructure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Fast exit from old hardware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Replatform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Small changes to use managed services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Quick wins, low risk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Refactor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Improve code structure, same behaviour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Code is valuable but hard to change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Rearchitect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Split or redesign (for example into APIs)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Scale or agility limits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Rebuild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Rewrite with modern stack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Old code blocks the business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Replace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Buy or adopt a product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Commodity function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13232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Migrating safely with coding agents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635240" y="109728"/>
            <a:ext cx="1051560" cy="274320"/>
          </a:xfrm>
          <a:prstGeom prst="roundRect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635240" y="109728"/>
            <a:ext cx="10515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NEW (v4)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23  |  Industry Use Cases and Agentic Security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26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1389888" cy="2286000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23544" y="1554480"/>
            <a:ext cx="457200" cy="457200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23544" y="155448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148840"/>
            <a:ext cx="1207008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0E3B43"/>
                </a:solidFill>
                <a:latin typeface="Calibri"/>
              </a:rPr>
              <a:t>Assess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2560320"/>
            <a:ext cx="1170432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0">
                <a:solidFill>
                  <a:srgbClr val="1F4E55"/>
                </a:solidFill>
                <a:latin typeface="Calibri"/>
              </a:rPr>
              <a:t>Inventory, risks, dependencies</a:t>
            </a:r>
          </a:p>
        </p:txBody>
      </p:sp>
      <p:sp>
        <p:nvSpPr>
          <p:cNvPr id="12" name="Chevron 11"/>
          <p:cNvSpPr/>
          <p:nvPr/>
        </p:nvSpPr>
        <p:spPr>
          <a:xfrm>
            <a:off x="1929384" y="2377440"/>
            <a:ext cx="155448" cy="274320"/>
          </a:xfrm>
          <a:prstGeom prst="chevron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167128" y="1371600"/>
            <a:ext cx="1389888" cy="2286000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2633472" y="1554480"/>
            <a:ext cx="457200" cy="457200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633472" y="155448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58568" y="2148840"/>
            <a:ext cx="1207008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0E3B43"/>
                </a:solidFill>
                <a:latin typeface="Calibri"/>
              </a:rPr>
              <a:t>Characterise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76856" y="2560320"/>
            <a:ext cx="1170432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0">
                <a:solidFill>
                  <a:srgbClr val="1F4E55"/>
                </a:solidFill>
                <a:latin typeface="Calibri"/>
              </a:rPr>
              <a:t>Tests that record today's behaviour</a:t>
            </a:r>
          </a:p>
        </p:txBody>
      </p:sp>
      <p:sp>
        <p:nvSpPr>
          <p:cNvPr id="18" name="Chevron 17"/>
          <p:cNvSpPr/>
          <p:nvPr/>
        </p:nvSpPr>
        <p:spPr>
          <a:xfrm>
            <a:off x="3639312" y="2377440"/>
            <a:ext cx="155448" cy="274320"/>
          </a:xfrm>
          <a:prstGeom prst="chevron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877056" y="1371600"/>
            <a:ext cx="1389888" cy="2286000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4343400" y="1554480"/>
            <a:ext cx="457200" cy="457200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43400" y="155448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968496" y="2148840"/>
            <a:ext cx="1207008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0E3B43"/>
                </a:solidFill>
                <a:latin typeface="Calibri"/>
              </a:rPr>
              <a:t>Small step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986784" y="2560320"/>
            <a:ext cx="1170432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0">
                <a:solidFill>
                  <a:srgbClr val="1F4E55"/>
                </a:solidFill>
                <a:latin typeface="Calibri"/>
              </a:rPr>
              <a:t>Codex migrates one piece</a:t>
            </a:r>
          </a:p>
        </p:txBody>
      </p:sp>
      <p:sp>
        <p:nvSpPr>
          <p:cNvPr id="24" name="Chevron 23"/>
          <p:cNvSpPr/>
          <p:nvPr/>
        </p:nvSpPr>
        <p:spPr>
          <a:xfrm>
            <a:off x="5349240" y="2377440"/>
            <a:ext cx="155448" cy="274320"/>
          </a:xfrm>
          <a:prstGeom prst="chevron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586984" y="1371600"/>
            <a:ext cx="1389888" cy="2286000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053328" y="1554480"/>
            <a:ext cx="457200" cy="457200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053328" y="155448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78424" y="2148840"/>
            <a:ext cx="1207008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0E3B43"/>
                </a:solidFill>
                <a:latin typeface="Calibri"/>
              </a:rPr>
              <a:t>Verify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96712" y="2560320"/>
            <a:ext cx="1170432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0">
                <a:solidFill>
                  <a:srgbClr val="1F4E55"/>
                </a:solidFill>
                <a:latin typeface="Calibri"/>
              </a:rPr>
              <a:t>Same tests pass; review the diff</a:t>
            </a:r>
          </a:p>
        </p:txBody>
      </p:sp>
      <p:sp>
        <p:nvSpPr>
          <p:cNvPr id="30" name="Chevron 29"/>
          <p:cNvSpPr/>
          <p:nvPr/>
        </p:nvSpPr>
        <p:spPr>
          <a:xfrm>
            <a:off x="7059168" y="2377440"/>
            <a:ext cx="155448" cy="274320"/>
          </a:xfrm>
          <a:prstGeom prst="chevron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296912" y="1371600"/>
            <a:ext cx="1389888" cy="2286000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7763256" y="1554480"/>
            <a:ext cx="457200" cy="457200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763256" y="155448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88352" y="2148840"/>
            <a:ext cx="1207008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0E3B43"/>
                </a:solidFill>
                <a:latin typeface="Calibri"/>
              </a:rPr>
              <a:t>Repeat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06640" y="2560320"/>
            <a:ext cx="1170432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0">
                <a:solidFill>
                  <a:srgbClr val="1F4E55"/>
                </a:solidFill>
                <a:latin typeface="Calibri"/>
              </a:rPr>
              <a:t>Commit, then the next piece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3977639"/>
            <a:ext cx="8229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300" b="0" i="1">
                <a:solidFill>
                  <a:srgbClr val="0FA3A3"/>
                </a:solidFill>
                <a:latin typeface="Calibri"/>
              </a:rPr>
              <a:t>Tests first. If behaviour changes on purpose, document it.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13232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Telecom scenarios (illustrative)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635240" y="109728"/>
            <a:ext cx="1051560" cy="274320"/>
          </a:xfrm>
          <a:prstGeom prst="roundRect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635240" y="109728"/>
            <a:ext cx="10515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NEW (v4)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23  |  Industry Use Cases and Agentic Security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27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051560"/>
            <a:ext cx="4000500" cy="1394460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40080" y="1234439"/>
            <a:ext cx="384048" cy="384048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234439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1234439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Legacy billing export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1709928"/>
            <a:ext cx="3634740" cy="617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Nightly CSV jobs moved to an API with the same parsing rules, proven by tests.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686300" y="1051560"/>
            <a:ext cx="4000500" cy="1394460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869180" y="1234439"/>
            <a:ext cx="384048" cy="384048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69180" y="1234439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72100" y="1234439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Ticketing monolith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69180" y="1709928"/>
            <a:ext cx="3634740" cy="617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Search and import split into FastAPI services, one module at a time.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2674620"/>
            <a:ext cx="4000500" cy="1394460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40080" y="2857500"/>
            <a:ext cx="384048" cy="384048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285750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3000" y="2857500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Outdated dependencies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3332987"/>
            <a:ext cx="3634740" cy="617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A monthly patching cycle with scans in CI and a vulnerability report.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686300" y="2674620"/>
            <a:ext cx="4000500" cy="1394460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4869180" y="2857500"/>
            <a:ext cx="384048" cy="384048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869180" y="285750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72100" y="2857500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Shell scripts on servers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69180" y="3332987"/>
            <a:ext cx="3634740" cy="617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Diagnostics rewritten without shell calls, inputs validated.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4206240"/>
            <a:ext cx="8229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300" b="0" i="1">
                <a:solidFill>
                  <a:srgbClr val="0FA3A3"/>
                </a:solidFill>
                <a:latin typeface="Calibri"/>
              </a:rPr>
              <a:t>Scenarios for discussion, not real customer results.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5D6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868680"/>
            <a:ext cx="3657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4000" b="1" i="0">
                <a:solidFill>
                  <a:srgbClr val="FF8A3D"/>
                </a:solidFill>
                <a:latin typeface="Cambria"/>
              </a:rPr>
              <a:t>07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783080"/>
            <a:ext cx="78638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3000" b="1" i="0">
                <a:solidFill>
                  <a:srgbClr val="FFFFFF"/>
                </a:solidFill>
                <a:latin typeface="Cambria"/>
              </a:rPr>
              <a:t>Assignment: Patch and Modernise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468880"/>
            <a:ext cx="78638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CDEFEC"/>
                </a:solidFill>
                <a:latin typeface="Calibri"/>
              </a:rPr>
              <a:t>Due Day 25, 09:30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635240" y="228600"/>
            <a:ext cx="1051560" cy="274320"/>
          </a:xfrm>
          <a:prstGeom prst="roundRect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35240" y="228600"/>
            <a:ext cx="10515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NEW (v4)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13232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Patch and Modernise: what to do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635240" y="109728"/>
            <a:ext cx="1051560" cy="274320"/>
          </a:xfrm>
          <a:prstGeom prst="roundRect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635240" y="109728"/>
            <a:ext cx="10515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NEW (v4)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23  |  Industry Use Cases and Agentic Security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29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097280"/>
          <a:ext cx="8229600" cy="26883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Step</a:t>
                      </a:r>
                    </a:p>
                  </a:txBody>
                  <a:tcPr marL="73152" marR="73152" marT="27432" marB="27432">
                    <a:solidFill>
                      <a:srgbClr val="0FA3A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What you deliver</a:t>
                      </a:r>
                    </a:p>
                  </a:txBody>
                  <a:tcPr marL="73152" marR="73152" marT="27432" marB="27432">
                    <a:solidFill>
                      <a:srgbClr val="0FA3A3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Scan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bandit, pip-audit and npm audit output on the starter repo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Report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Vulnerability report: finding, severity, file, fix, verified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Patch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Codex-proposed fixes, each proven by a test; scans re-run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Modernise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One legacy module migrated in small verified steps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Explain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One-page note: approach, risks, what you would offer as a service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Submit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Pull request plus report and note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57200" y="3922776"/>
            <a:ext cx="8229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300" b="0" i="1">
                <a:solidFill>
                  <a:srgbClr val="0FA3A3"/>
                </a:solidFill>
                <a:latin typeface="Calibri"/>
              </a:rPr>
              <a:t>Starter repo: shared/PatchAndModernise_Starter/. Reviewed in the Day 25 opening slot.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13232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Rubric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635240" y="109728"/>
            <a:ext cx="1051560" cy="274320"/>
          </a:xfrm>
          <a:prstGeom prst="roundRect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635240" y="109728"/>
            <a:ext cx="10515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NEW (v4)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23  |  Industry Use Cases and Agentic Security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30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097280"/>
          <a:ext cx="8229600" cy="2304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Criterion</a:t>
                      </a:r>
                    </a:p>
                  </a:txBody>
                  <a:tcPr marL="73152" marR="73152" marT="27432" marB="27432">
                    <a:solidFill>
                      <a:srgbClr val="0FA3A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Points</a:t>
                      </a:r>
                    </a:p>
                  </a:txBody>
                  <a:tcPr marL="73152" marR="73152" marT="27432" marB="27432">
                    <a:solidFill>
                      <a:srgbClr val="0FA3A3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Findings identified and correctly rated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25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Fixes work and are proven by tests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30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Modernisation done in safe, verified steps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25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Clarity of report and service note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20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0E3B43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0E3B43"/>
                          </a:solidFill>
                          <a:latin typeface="Calibri"/>
                        </a:rPr>
                        <a:t>100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SmartDesk step 20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23  |  Industry Use Cases and Agentic Security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31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51560"/>
            <a:ext cx="40005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40080" y="1234439"/>
            <a:ext cx="384048" cy="384048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234439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1234439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Patch and modernise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709928"/>
            <a:ext cx="36347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Apply the same method to SmartDesk's legacy CSV import module.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86300" y="1051560"/>
            <a:ext cx="40005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869180" y="1234439"/>
            <a:ext cx="384048" cy="384048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69180" y="1234439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72100" y="1234439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Maturity level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69180" y="1709928"/>
            <a:ext cx="36347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Place SmartDesk on the ladder; list what is missing for the next level.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2857500"/>
            <a:ext cx="40005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40080" y="3040380"/>
            <a:ext cx="384048" cy="384048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304038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" y="3040380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Checklist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3515868"/>
            <a:ext cx="36347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Fill in the OWASP agentic checklist for SmartDesk's assistant.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686300" y="2857500"/>
            <a:ext cx="40005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869180" y="3040380"/>
            <a:ext cx="384048" cy="384048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869180" y="304038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72100" y="3040380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Build with Codex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69180" y="3515868"/>
            <a:ext cx="36347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Use Day23_App_Build_Prompts.md. Review every line Codex writes.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Key takeaways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23  |  Industry Use Cases and Agentic Security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32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51560"/>
            <a:ext cx="40005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40080" y="1234439"/>
            <a:ext cx="384048" cy="384048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234439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1234439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Use cases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709928"/>
            <a:ext cx="36347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Start with high-volume, measurable, low blast-radius work.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86300" y="1051560"/>
            <a:ext cx="40005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869180" y="1234439"/>
            <a:ext cx="384048" cy="384048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69180" y="1234439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72100" y="1234439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Maturity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69180" y="1709928"/>
            <a:ext cx="36347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Production needs an owner, evals, security, a cost model and a runbook.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2857500"/>
            <a:ext cx="40005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40080" y="3040380"/>
            <a:ext cx="384048" cy="384048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304038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" y="3040380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Agentic security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3515868"/>
            <a:ext cx="36347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Scoped identity, deny-by-default tools, trusted supply chain.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686300" y="2857500"/>
            <a:ext cx="40005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869180" y="3040380"/>
            <a:ext cx="384048" cy="384048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869180" y="304038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72100" y="3040380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Services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69180" y="3515868"/>
            <a:ext cx="36347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Patching and modernisation: scan, test first, small verified steps.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Before the next technical day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23  |  Industry Use Cases and Agentic Security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33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300" b="0" i="0">
                <a:solidFill>
                  <a:srgbClr val="0FA3A3"/>
                </a:solidFill>
                <a:latin typeface="Calibri"/>
              </a:rPr>
              <a:t>Day 25 starts with a quiz on today and the assignment review.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2590800" cy="30632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0080" y="1554480"/>
            <a:ext cx="384048" cy="384048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55448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554480"/>
            <a:ext cx="17221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Hotel lab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29967"/>
            <a:ext cx="2225040" cy="2285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Follow Day23_Hotel_Lab.md: scans and the draft vulnerability report.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76600" y="1371600"/>
            <a:ext cx="2590800" cy="30632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459480" y="1554480"/>
            <a:ext cx="384048" cy="384048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59480" y="155448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62400" y="1554480"/>
            <a:ext cx="17221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Assignment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59480" y="2029967"/>
            <a:ext cx="2225040" cy="2285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Finish Patch and Modernise. Due Day 25, 09:30.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96000" y="1371600"/>
            <a:ext cx="2590800" cy="30632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278880" y="1554480"/>
            <a:ext cx="384048" cy="384048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78880" y="155448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81800" y="1554480"/>
            <a:ext cx="17221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Pre-read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78880" y="2029967"/>
            <a:ext cx="2225040" cy="2285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Skim the Day 25 pre-read on SLMs and token cost.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5D6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914400"/>
            <a:ext cx="78638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3400" b="1" i="0">
                <a:solidFill>
                  <a:srgbClr val="FFFFFF"/>
                </a:solidFill>
                <a:latin typeface="Cambria"/>
              </a:rPr>
              <a:t>Connect with 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057400"/>
            <a:ext cx="78638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700" b="0" i="0">
                <a:solidFill>
                  <a:srgbClr val="CDEFEC"/>
                </a:solidFill>
                <a:latin typeface="Calibri"/>
              </a:rPr>
              <a:t>Questions after class, feedback, or want to share what you built today? Reach out on LinkedIn.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3108960"/>
            <a:ext cx="4114800" cy="502920"/>
          </a:xfrm>
          <a:prstGeom prst="roundRect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3108960"/>
            <a:ext cx="38404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300" b="1" i="0">
                <a:solidFill>
                  <a:srgbClr val="FFFFFF"/>
                </a:solidFill>
                <a:latin typeface="Calibri"/>
              </a:rPr>
              <a:t>Ahmed</a:t>
            </a:r>
            <a:r>
              <a:rPr sz="1300" b="0" i="0">
                <a:solidFill>
                  <a:srgbClr val="FFFFFF"/>
                </a:solidFill>
                <a:latin typeface="Calibri"/>
              </a:rPr>
              <a:t>   linkedin.com/in/ahmed-al-imaad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5D6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914400"/>
            <a:ext cx="78638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3400" b="1" i="0">
                <a:solidFill>
                  <a:srgbClr val="FFFFFF"/>
                </a:solidFill>
                <a:latin typeface="Cambria"/>
              </a:rP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057400"/>
            <a:ext cx="78638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700" b="0" i="0">
                <a:solidFill>
                  <a:srgbClr val="CDEFEC"/>
                </a:solidFill>
                <a:latin typeface="Calibri"/>
              </a:rPr>
              <a:t>Next: Day 24, FDE Mindset Session 4. Patch and Modernise assignment due Day 25, 09:30.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06240" y="4754880"/>
            <a:ext cx="44805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1">
                <a:solidFill>
                  <a:srgbClr val="CDEFEC"/>
                </a:solidFill>
                <a:latin typeface="Calibri"/>
              </a:rPr>
              <a:t>Otsukaresama deshita (お疲れ様でした): Thank you for your hard work today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