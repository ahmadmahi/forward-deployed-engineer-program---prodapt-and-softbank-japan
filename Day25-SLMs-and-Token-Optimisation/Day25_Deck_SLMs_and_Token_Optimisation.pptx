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1" i="0">
                <a:solidFill>
                  <a:srgbClr val="FF8A3D"/>
                </a:solidFill>
                <a:latin typeface="Calibri"/>
              </a:rPr>
              <a:t>DAY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SLMs and Token Optimisation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2316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Small language models, when to use them, token economics, optimisation and FinOps for GenAI and Codex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3291840"/>
            <a:ext cx="164592" cy="164592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96112" y="3291840"/>
            <a:ext cx="164592" cy="164592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3291840"/>
            <a:ext cx="164592" cy="1645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>
                <a:solidFill>
                  <a:srgbClr val="CDEFEC"/>
                </a:solidFill>
                <a:latin typeface="Calibri"/>
              </a:rPr>
              <a:t>Mon 30 Nov 2026  |  GenAI 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69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Prepared by Ahmed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1596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CDEFEC"/>
                </a:solidFill>
                <a:latin typeface="Calibri"/>
              </a:rPr>
              <a:t>linkedin.com/in/ahmed-al-imaad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Today's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25  |  SLMs and Token Optimisation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Ohayou gozaimasu (おはようございます): Good morning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Quiz and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15 questions on Day 23; Patch and Modernise review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What SLMs 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Small open-weight models. NEW (v4)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SLM or LLM?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Latency, cost, privacy, on-prem. NEW (v4)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Hands-on SLM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Run a small model in Colab. NEW (v4)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766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4594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594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624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Token economics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594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Price input, output, cached, reasoning. NEW (v4)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2788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8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818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Optimise and govern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788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Caching, routing, FinOps. NEW (v4)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By the end of today you can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25  |  SLMs and Token Optimisation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Explain SLMs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Say what a small language model is and name open-weight families.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Choose SLM or LLM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Decide by latency, cost, privacy and where the model must run.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 i="0">
                <a:solidFill>
                  <a:srgbClr val="0E3B43"/>
                </a:solidFill>
                <a:latin typeface="Calibri"/>
              </a:rPr>
              <a:t>Estimate cost per feature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Turn tokens per request into cost per 1,000 tickets.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Cut cost safely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Apply caching, trimming, output limits and routing, then measure.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Opening: Patch and Modernise review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25  |  SLMs and Token Optimisation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1737360"/>
          </a:xfrm>
          <a:prstGeom prst="rect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768096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000" b="1" i="0">
                <a:solidFill>
                  <a:srgbClr val="FFFFFF"/>
                </a:solidFill>
                <a:latin typeface="Cambria"/>
              </a:rPr>
              <a:t>Show your vulnerability report: one finding, the fix, and the test that proves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54680"/>
            <a:ext cx="8229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E3B43"/>
                </a:solidFill>
                <a:latin typeface="Calibri"/>
              </a:rPr>
              <a:t>Two minutes per team. We look for findings rated correctly, fixes proven by tests, and modernisation in small verified steps. Rubric: Day 23 assignment brief (100 points).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Small language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Smaller, faster, cheaper, and often good enough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35240" y="228600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2286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What an SLM 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25  |  SLMs and Token Optimisation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Small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 b="0" i="0">
                <a:solidFill>
                  <a:srgbClr val="1F4E55"/>
                </a:solidFill>
                <a:latin typeface="Calibri"/>
              </a:rPr>
              <a:t>Roughly a few hundred million to a few billion parameters, not hundreds of billions.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Open-weight, usually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You download the weights and run them on your own hardware.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Narrow but strong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Very good at focused tasks: classify, extract, route, short replies.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Local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Fits on a laptop, a phone, a single GPU or an on-prem server.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Open-weight families you will meet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25  |  SLMs and Token Optimisation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097280"/>
          <a:ext cx="82296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Family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Typical small sizes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Phi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Small instruct models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Strong reasoning for their size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Gemma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Small instruct models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Several sizes, multilingual variants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Llama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Small instruct models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Large ecosystem of fine-tunes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Qwen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From under 1B upwards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Good multilingual, including Japanese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Mistral small models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Small instruct models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Efficient, popular for on-prem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538727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Sizes and licences change often. Check the model card and licence before any customer use.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When to use an SLM vs an LLM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25  |  SLMs and Token Optimisation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4023360" cy="283464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Pick an SLM when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The task is narrow and repetitive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Latency must be very low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Data must stay on-prem or on-device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Volume is high and cost matters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1097280"/>
            <a:ext cx="4023360" cy="283464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Pick an LLM when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The task is open-ended or multi-step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Broad knowledge or strong reasoning is needed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Volume is low and quality matters most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You do not want to run infrastructure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Most production systems use both: SLM first, LLM on escalation.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Four questions to decide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25  |  SLMs and Token Optimisation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How hard?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Classify a ticket: easy. Plan a network migration: hard.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How often?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Ten calls a day or a million? Volume multiplies every cost.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How private?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Customer data that cannot leave the network points to on-prem.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How fast?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An agent waiting on screen needs an answer in under a second.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Quantisation: shrinking a model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25  |  SLMs and Token Optimisation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7285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728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FP16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2 bytes per weight</a:t>
            </a:r>
          </a:p>
        </p:txBody>
      </p:sp>
      <p:sp>
        <p:nvSpPr>
          <p:cNvPr id="12" name="Chevron 11"/>
          <p:cNvSpPr/>
          <p:nvPr/>
        </p:nvSpPr>
        <p:spPr>
          <a:xfrm>
            <a:off x="2356865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94610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274695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7469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86050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INT8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04338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1 byte per weight</a:t>
            </a:r>
          </a:p>
        </p:txBody>
      </p:sp>
      <p:sp>
        <p:nvSpPr>
          <p:cNvPr id="18" name="Chevron 17"/>
          <p:cNvSpPr/>
          <p:nvPr/>
        </p:nvSpPr>
        <p:spPr>
          <a:xfrm>
            <a:off x="4494276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32020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412105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1210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23459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INT4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1748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Half a byte per weight</a:t>
            </a:r>
          </a:p>
        </p:txBody>
      </p:sp>
      <p:sp>
        <p:nvSpPr>
          <p:cNvPr id="24" name="Chevron 23"/>
          <p:cNvSpPr/>
          <p:nvPr/>
        </p:nvSpPr>
        <p:spPr>
          <a:xfrm>
            <a:off x="6631686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69429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49515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4951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60869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Trade-off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79157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Less memory, small quality loss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A 3B parameter model needs about 6 GB at FP16, 3 GB at INT8 and 1.5 GB at INT4 (weights only).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Light fine-tuning with LoRA (concept)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25  |  SLMs and Token Optimisation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Freeze the base model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Train two small matrices per layer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A few MB of adapter instead of a full copy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Use only after prompting and RAG fall short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360" b="0" i="0">
                <a:solidFill>
                  <a:srgbClr val="EAF7F5"/>
                </a:solidFill>
                <a:latin typeface="Courier New"/>
              </a:rPr>
              <a:t># LoRA on one d x d weight matrix</a:t>
            </a:r>
          </a:p>
          <a:p>
            <a:r>
              <a:rPr sz="1360" b="0" i="0">
                <a:solidFill>
                  <a:srgbClr val="EAF7F5"/>
                </a:solidFill>
                <a:latin typeface="Courier New"/>
              </a:rPr>
              <a:t>d, r = 4096, 8</a:t>
            </a:r>
          </a:p>
          <a:p>
            <a:r>
              <a:rPr sz="1360" b="0" i="0">
                <a:solidFill>
                  <a:srgbClr val="EAF7F5"/>
                </a:solidFill>
                <a:latin typeface="Courier New"/>
              </a:rPr>
              <a:t>full = d * d      # 16,777,216</a:t>
            </a:r>
          </a:p>
          <a:p>
            <a:r>
              <a:rPr sz="1360" b="0" i="0">
                <a:solidFill>
                  <a:srgbClr val="EAF7F5"/>
                </a:solidFill>
                <a:latin typeface="Courier New"/>
              </a:rPr>
              <a:t>lora = 2 * d * r  # 65,536</a:t>
            </a:r>
          </a:p>
          <a:p>
            <a:r>
              <a:rPr sz="1360" b="0" i="0">
                <a:solidFill>
                  <a:srgbClr val="EAF7F5"/>
                </a:solidFill>
                <a:latin typeface="Courier New"/>
              </a:rPr>
              <a:t>print(f"{lora/full:.2%}")</a:t>
            </a:r>
          </a:p>
          <a:p>
            <a:r>
              <a:rPr sz="1360" b="0" i="0">
                <a:solidFill>
                  <a:srgbClr val="EAF7F5"/>
                </a:solidFill>
                <a:latin typeface="Courier New"/>
              </a:rPr>
              <a:t># 0.39% of the weights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Hands-on: a small model in Colab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25  |  SLMs and Token Optimisation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Runtime &gt; Change runtime type &gt; GPU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No GPU? CPU fallback with a smaller model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Same 20 SmartDesk tickets for both models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Measure accuracy, latency and estimated cost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954" b="0" i="0">
                <a:solidFill>
                  <a:srgbClr val="EAF7F5"/>
                </a:solidFill>
                <a:latin typeface="Courier New"/>
              </a:rPr>
              <a:t>from transformers import pipeline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import torch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gpu = torch.cuda.is_available()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SLM_ID = ("Qwen/Qwen2.5-1.5B-Instruct" if gpu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          else "Qwen/Qwen2.5-0.5B-Instruct")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slm = pipeline("text-generation", model=SLM_ID,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               device=0 if gpu else -1)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out = slm("Classify: my bill doubled. Label:",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          max_new_tokens=5)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What a typical comparison shows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25  |  SLMs and Token Optimisation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097280"/>
          <a:ext cx="82296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Measure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Small open-weight model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API LLM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Accuracy on 4 clear labels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Good, slightly lower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Latency per ticket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Low on GPU, higher on CPU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Network round trip plus queue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Cost per 1,000 tickets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Your compute only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Tokens x price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Data location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Stays where you run it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Sent to the provider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Effort to operate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You patch, scale, monitor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Provider runs it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538727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Your own numbers tonight decide. Offline mode shows how the code works, not real model quality.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Token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Every feature has a price per request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35240" y="228600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2286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The four token prices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25  |  SLMs and Token Optimisation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Everything you send: system prompt, context, tools, user text.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Cached input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 repeated prefix served from cache at a discount.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Output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The visible answer. Usually several times the input price.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Reasoning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Hidden thinking tokens. Billed as output.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Cost per feature: the formula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25  |  SLMs and Token Optimisation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8229600" cy="310896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188719"/>
            <a:ext cx="7863840" cy="28346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043" b="0" i="0">
                <a:solidFill>
                  <a:srgbClr val="EAF7F5"/>
                </a:solidFill>
                <a:latin typeface="Courier New"/>
              </a:rPr>
              <a:t># PLACEHOLDER prices per 1M tokens. Not real prices. Use the approved price sheet.</a:t>
            </a:r>
          </a:p>
          <a:p>
            <a:r>
              <a:rPr sz="1043" b="0" i="0">
                <a:solidFill>
                  <a:srgbClr val="EAF7F5"/>
                </a:solidFill>
                <a:latin typeface="Courier New"/>
              </a:rPr>
              <a:t>PRICE = {"input": 1.00, "cached_input": 0.10, "output": 4.00}</a:t>
            </a:r>
          </a:p>
          <a:p>
            <a:r>
              <a:rPr sz="1043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043" b="0" i="0">
                <a:solidFill>
                  <a:srgbClr val="EAF7F5"/>
                </a:solidFill>
                <a:latin typeface="Courier New"/>
              </a:rPr>
              <a:t>def cost_per_request(inp, out, cached_share=0.0, reasoning=0):</a:t>
            </a:r>
          </a:p>
          <a:p>
            <a:r>
              <a:rPr sz="1043" b="0" i="0">
                <a:solidFill>
                  <a:srgbClr val="EAF7F5"/>
                </a:solidFill>
                <a:latin typeface="Courier New"/>
              </a:rPr>
              <a:t>    cached = inp * cached_share</a:t>
            </a:r>
          </a:p>
          <a:p>
            <a:r>
              <a:rPr sz="1043" b="0" i="0">
                <a:solidFill>
                  <a:srgbClr val="EAF7F5"/>
                </a:solidFill>
                <a:latin typeface="Courier New"/>
              </a:rPr>
              <a:t>    return ((inp - cached) * PRICE["input"] + cached * PRICE["cached_input"]</a:t>
            </a:r>
          </a:p>
          <a:p>
            <a:r>
              <a:rPr sz="1043" b="0" i="0">
                <a:solidFill>
                  <a:srgbClr val="EAF7F5"/>
                </a:solidFill>
                <a:latin typeface="Courier New"/>
              </a:rPr>
              <a:t>            + (out + reasoning) * PRICE["output"]) / 1_000_000</a:t>
            </a:r>
          </a:p>
          <a:p>
            <a:r>
              <a:rPr sz="1043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043" b="0" i="0">
                <a:solidFill>
                  <a:srgbClr val="EAF7F5"/>
                </a:solidFill>
                <a:latin typeface="Courier New"/>
              </a:rPr>
              <a:t># SmartDesk answer: 1,500 in, 300 out</a:t>
            </a:r>
          </a:p>
          <a:p>
            <a:r>
              <a:rPr sz="1043" b="0" i="0">
                <a:solidFill>
                  <a:srgbClr val="EAF7F5"/>
                </a:solidFill>
                <a:latin typeface="Courier New"/>
              </a:rPr>
              <a:t>print(cost_per_request(1500, 300) * 1000)   # 2.7 per 1,000 tickets (placeholder units)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Cost per feature per day = cost per request x requests per day.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Where SmartDesk tokens go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25  |  SLMs and Token Optimisation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7285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728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800: rules, tone, policy</a:t>
            </a:r>
          </a:p>
        </p:txBody>
      </p:sp>
      <p:sp>
        <p:nvSpPr>
          <p:cNvPr id="12" name="Chevron 11"/>
          <p:cNvSpPr/>
          <p:nvPr/>
        </p:nvSpPr>
        <p:spPr>
          <a:xfrm>
            <a:off x="2356865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94610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274695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7469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86050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Context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04338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500: retrieved FAQ chunks</a:t>
            </a:r>
          </a:p>
        </p:txBody>
      </p:sp>
      <p:sp>
        <p:nvSpPr>
          <p:cNvPr id="18" name="Chevron 17"/>
          <p:cNvSpPr/>
          <p:nvPr/>
        </p:nvSpPr>
        <p:spPr>
          <a:xfrm>
            <a:off x="4494276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32020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412105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1210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23459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Ticket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1748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200: the customer text</a:t>
            </a:r>
          </a:p>
        </p:txBody>
      </p:sp>
      <p:sp>
        <p:nvSpPr>
          <p:cNvPr id="24" name="Chevron 23"/>
          <p:cNvSpPr/>
          <p:nvPr/>
        </p:nvSpPr>
        <p:spPr>
          <a:xfrm>
            <a:off x="6631686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69429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49515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4951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60869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Output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79157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300: the reply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The fixed system prompt is over half the input. That is what caching targets.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Optimisation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Measure first, then cut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35240" y="228600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2286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Seven levers to cut token cost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25  |  SLMs and Token Optimisation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25908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Prompt caching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09928"/>
            <a:ext cx="22250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Stable text first, variable text last.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76600" y="1051560"/>
            <a:ext cx="25908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594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594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624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Trim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9480" y="1709928"/>
            <a:ext cx="22250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Compact history; send only what the task needs.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0" y="1051560"/>
            <a:ext cx="25908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2788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788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818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Retrieval top-k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78880" y="1709928"/>
            <a:ext cx="22250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Three good chunks beat ten average ones.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674620"/>
            <a:ext cx="25908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285750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28575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285750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Output limits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332987"/>
            <a:ext cx="22250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Set max tokens; ask for short formats.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76600" y="2674620"/>
            <a:ext cx="25908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459480" y="285750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59480" y="28575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62400" y="285750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Batching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59480" y="3332987"/>
            <a:ext cx="22250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Group jobs that can wait for a lower price.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6000" y="2674620"/>
            <a:ext cx="25908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278880" y="285750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78880" y="28575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81800" y="285750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Reasoning effort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78880" y="3332987"/>
            <a:ext cx="22250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Low for routine tasks; high only when needed.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Lever seven, model routing, is on the next slide.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Cache-friendly prompt layout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25  |  SLMs and Token Optimisation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Same opening on every call: system rules, policy, tool list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Variable parts at the end: ticket text, user question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Do not put timestamps or IDs at the top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Check cached tokens in the usage report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46" b="0" i="0">
                <a:solidFill>
                  <a:srgbClr val="EAF7F5"/>
                </a:solidFill>
                <a:latin typeface="Courier New"/>
              </a:rPr>
              <a:t>messages = [</a:t>
            </a:r>
          </a:p>
          <a:p>
            <a:r>
              <a:rPr sz="1246" b="0" i="0">
                <a:solidFill>
                  <a:srgbClr val="EAF7F5"/>
                </a:solidFill>
                <a:latin typeface="Courier New"/>
              </a:rPr>
              <a:t>  sys(RULES),      # stable</a:t>
            </a:r>
          </a:p>
          <a:p>
            <a:r>
              <a:rPr sz="1246" b="0" i="0">
                <a:solidFill>
                  <a:srgbClr val="EAF7F5"/>
                </a:solidFill>
                <a:latin typeface="Courier New"/>
              </a:rPr>
              <a:t>  sys(POLICY),     # stable</a:t>
            </a:r>
          </a:p>
          <a:p>
            <a:r>
              <a:rPr sz="1246" b="0" i="0">
                <a:solidFill>
                  <a:srgbClr val="EAF7F5"/>
                </a:solidFill>
                <a:latin typeface="Courier New"/>
              </a:rPr>
              <a:t>  user(FAQ_TOP3),  # varies</a:t>
            </a:r>
          </a:p>
          <a:p>
            <a:r>
              <a:rPr sz="1246" b="0" i="0">
                <a:solidFill>
                  <a:srgbClr val="EAF7F5"/>
                </a:solidFill>
                <a:latin typeface="Courier New"/>
              </a:rPr>
              <a:t>  user(ticket),    # varies</a:t>
            </a:r>
          </a:p>
          <a:p>
            <a:r>
              <a:rPr sz="1246" b="0" i="0">
                <a:solidFill>
                  <a:srgbClr val="EAF7F5"/>
                </a:solidFill>
                <a:latin typeface="Courier New"/>
              </a:rPr>
              <a:t>]</a:t>
            </a:r>
          </a:p>
          <a:p>
            <a:r>
              <a:rPr sz="1246" b="0" i="0">
                <a:solidFill>
                  <a:srgbClr val="EAF7F5"/>
                </a:solidFill>
                <a:latin typeface="Courier New"/>
              </a:rPr>
              <a:t># Stable prefix first -&gt; cache hits.</a:t>
            </a:r>
          </a:p>
          <a:p>
            <a:r>
              <a:rPr sz="1246" b="0" i="0">
                <a:solidFill>
                  <a:srgbClr val="EAF7F5"/>
                </a:solidFill>
                <a:latin typeface="Courier New"/>
              </a:rPr>
              <a:t># usage shows cached tokens.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Model routing: SLM first, LLM on escalation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25  |  SLMs and Token Optimisation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Ticket 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Every ticket starts here</a:t>
            </a:r>
          </a:p>
        </p:txBody>
      </p:sp>
      <p:sp>
        <p:nvSpPr>
          <p:cNvPr id="12" name="Chevron 11"/>
          <p:cNvSpPr/>
          <p:nvPr/>
        </p:nvSpPr>
        <p:spPr>
          <a:xfrm>
            <a:off x="1929384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167128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633472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33472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58568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SLM classifies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76856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Cheap, fast, local</a:t>
            </a:r>
          </a:p>
        </p:txBody>
      </p:sp>
      <p:sp>
        <p:nvSpPr>
          <p:cNvPr id="18" name="Chevron 17"/>
          <p:cNvSpPr/>
          <p:nvPr/>
        </p:nvSpPr>
        <p:spPr>
          <a:xfrm>
            <a:off x="3639312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77056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68496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Confident?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86784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Yes: done. No: escalate</a:t>
            </a:r>
          </a:p>
        </p:txBody>
      </p:sp>
      <p:sp>
        <p:nvSpPr>
          <p:cNvPr id="24" name="Chevron 23"/>
          <p:cNvSpPr/>
          <p:nvPr/>
        </p:nvSpPr>
        <p:spPr>
          <a:xfrm>
            <a:off x="5349240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586984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053328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53328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78424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LLM answers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96712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Hard or unclear cases only</a:t>
            </a:r>
          </a:p>
        </p:txBody>
      </p:sp>
      <p:sp>
        <p:nvSpPr>
          <p:cNvPr id="30" name="Chevron 29"/>
          <p:cNvSpPr/>
          <p:nvPr/>
        </p:nvSpPr>
        <p:spPr>
          <a:xfrm>
            <a:off x="7059168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96912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763256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63256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88352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Log both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Tokens, cost, route taken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Measure the escalation rate. If it climbs, routing stops saving money.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Before and after: SmartDesk per 1,000 tickets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25  |  SLMs and Token Optimisation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097280"/>
          <a:ext cx="8229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changed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Cost (placeholder units)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1,500 in, 300 out, default LLM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2.70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+ Caching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50% of input served from cache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2.02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+ Trimming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Context 500 to 250; output cap 150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1.18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+ Routing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80% handled by the SLM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0.25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15467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Placeholder prices. Run the calculator notebook with the approved price sheet before quoting a customer.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FinOps for GenAI and Codex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Budgets, quotas and a daily check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35240" y="228600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2286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FinOps basics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25  |  SLMs and Token Optimisation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Budgets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 monthly budget per project; alerts at 50%, 80% and 100%.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Per-user quotas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Daily token limits per learner or per API key.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Daily usage 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Look at yesterday's spend every morning. Spot runaway jobs early.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Separate projects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Codex and app calls on separate keys, so costs are visible.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Codex usage: do's and don'ts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25  |  SLMs and Token Optimisation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09928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Small tasks, relevant files only, approved default model.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86300" y="105156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9180" y="1709928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Check your daily usage; stop a runaway task.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67462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285750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8575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285750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Don't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332987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Use a top-tier model or high effort for routine edits.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6300" y="267462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69180" y="285750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9180" y="28575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2100" y="285750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Don't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9180" y="3332987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Paste the whole codebase or 'improve everything'.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Model choice by task: see docs/MODEL_GUIDE.md. Confirm names against the approved model list.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SmartDesk step 21: SLM first, LLM for hard cases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25  |  SLMs and Token Optimisation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Classify with an SLM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Category for every ticket, with a confidence score.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Escalate to the LLM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Low confidence or complex replies go to the default model.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Cost report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Cost per 1,000 tickets before and after optimisation.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Build with Codex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Use Day25_App_Build_Prompts.md. Review every line.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25  |  SLMs and Token Optimisation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SLMs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Small, local, cheap and fast; great for narrow tasks.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Choose by four questions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How hard, how often, how private, how fast.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Tokens are money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Input, cached, output and reasoning tokens are priced differently.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Measure, cut, govern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Caching, trimming, routing; budgets and daily checks.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Before tomorrow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25  |  SLMs and Token Optimisation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FA3A3"/>
                </a:solidFill>
                <a:latin typeface="Calibri"/>
              </a:rPr>
              <a:t>Tomorrow starts with a 15 question quiz on today's topics.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Hotel lab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Follow Day25_Hotel_Lab.md: SLM comparison and cost report.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5544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Workbook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Complete the Day 25 workbook.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Pre-read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Skim the Day 26 pre-read on orchestration and tool calling.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Connect with 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Questions after class, feedback, or want to share what you built today? Reach out on LinkedIn.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3108960"/>
            <a:ext cx="4114800" cy="5029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Calibri"/>
              </a:rPr>
              <a:t>Ahmed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  linkedin.com/in/ahmed-al-imaad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See you tomorrow for Day 26: LLM orchestration, tool calling and LangGraph.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CDEFEC"/>
                </a:solidFill>
                <a:latin typeface="Calibri"/>
              </a:rPr>
              <a:t>Otsukaresama deshita (お疲れ様でした): Thank you for your hard work today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