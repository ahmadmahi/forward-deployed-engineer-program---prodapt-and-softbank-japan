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5D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1" i="0">
                <a:solidFill>
                  <a:srgbClr val="FF8A3D"/>
                </a:solidFill>
                <a:latin typeface="Calibri"/>
              </a:rPr>
              <a:t>DAY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Cambria"/>
              </a:rPr>
              <a:t>Program Onboarding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23160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700" b="0" i="0">
                <a:solidFill>
                  <a:srgbClr val="CDEFEC"/>
                </a:solidFill>
                <a:latin typeface="Calibri"/>
              </a:rPr>
              <a:t>Program walkthrough, laptop check, pre-assessment, ways of working and the SmartDesk project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3291840"/>
            <a:ext cx="164592" cy="164592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96112" y="3291840"/>
            <a:ext cx="164592" cy="164592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52144" y="3291840"/>
            <a:ext cx="164592" cy="16459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6118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200" b="0" i="0">
                <a:solidFill>
                  <a:srgbClr val="CDEFEC"/>
                </a:solidFill>
                <a:latin typeface="Calibri"/>
              </a:rPr>
              <a:t>Mon 26 Oct 2026  |  Onboarding track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06908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1" i="0">
                <a:solidFill>
                  <a:srgbClr val="FFFFFF"/>
                </a:solidFill>
                <a:latin typeface="Calibri"/>
              </a:rPr>
              <a:t>Prepared by Ahmed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315968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 i="0">
                <a:solidFill>
                  <a:srgbClr val="CDEFEC"/>
                </a:solidFill>
                <a:latin typeface="Calibri"/>
              </a:rPr>
              <a:t>linkedin.com/in/ahmed-al-imaad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Today's journey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1  |  Program Onboarding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0" y="475488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1">
                <a:solidFill>
                  <a:srgbClr val="FF8A3D"/>
                </a:solidFill>
                <a:latin typeface="Calibri"/>
              </a:rPr>
              <a:t>Hajimemashite (はじめまして): Nice to meet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00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234439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Program walkthrough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70992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Calendar, tracks and assessment days (45 min)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76600" y="105156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459480" y="1234439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594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62400" y="1234439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Laptop check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59480" y="170992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Software check with the setup guide (75 min)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96000" y="105156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2788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788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81800" y="1234439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Pre-assessment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78880" y="170992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50 questions, no preparation needed (60 min)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85750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0080" y="30403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30403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Expectations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51586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Ways of working and support (30 min)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76600" y="285750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459480" y="30403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594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62400" y="30403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SmartDesk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59480" y="351586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The project you build all program (30 min)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96000" y="285750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278880" y="30403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788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81800" y="30403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FDE Mindset 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78880" y="351586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Afternoon session with the FDE team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5D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868680"/>
            <a:ext cx="3657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4000" b="1" i="0">
                <a:solidFill>
                  <a:srgbClr val="FF8A3D"/>
                </a:solidFill>
                <a:latin typeface="Cambria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83080"/>
            <a:ext cx="7863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mbria"/>
              </a:rPr>
              <a:t>The program 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468880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CDEFEC"/>
                </a:solidFill>
                <a:latin typeface="Calibri"/>
              </a:rPr>
              <a:t>40 days, 26 Oct to 21 Dec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Five tracks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1  |  Program Onboarding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4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97280"/>
          <a:ext cx="822960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Track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Days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What you get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Basics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Python, MongoDB, FastAPI, JavaScript, Node, React, testing, data, DevOps, Docker, Azure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GenAI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LLMs, prompting, RAG, SLMs, agents, MCP, security, evaluation, LLMOps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FDE Mindset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Days 1, 14, 19, 24, 29 with the FDE team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Capstone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Days 36 to 40: team project, demo on 21 Dec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Holiday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Mon 9 Nov, Deepavali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3538727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1">
                <a:solidFill>
                  <a:srgbClr val="0FA3A3"/>
                </a:solidFill>
                <a:latin typeface="Calibri"/>
              </a:rPr>
              <a:t>GenAI starts in Week 3 (Day 12) and appears every week after.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Weeks at a glance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1  |  Program Onboarding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97280"/>
          <a:ext cx="82296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Week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Dates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Focus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E3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E3B43"/>
                          </a:solidFill>
                          <a:latin typeface="Calibri"/>
                        </a:rPr>
                        <a:t>26 to 30 Oct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E3B43"/>
                          </a:solidFill>
                          <a:latin typeface="Calibri"/>
                        </a:rPr>
                        <a:t>Python, OOP, OpenAI Codex, MongoDB, FastAPI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E3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E3B43"/>
                          </a:solidFill>
                          <a:latin typeface="Calibri"/>
                        </a:rPr>
                        <a:t>2 to 6 Nov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E3B43"/>
                          </a:solidFill>
                          <a:latin typeface="Calibri"/>
                        </a:rPr>
                        <a:t>SQLAlchemy, security, JavaScript, Node, React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E3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E3B43"/>
                          </a:solidFill>
                          <a:latin typeface="Calibri"/>
                        </a:rPr>
                        <a:t>10 to 13 Nov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E3B43"/>
                          </a:solidFill>
                          <a:latin typeface="Calibri"/>
                        </a:rPr>
                        <a:t>Full stack, GenAI intro, prompt engineering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E3B4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E3B43"/>
                          </a:solidFill>
                          <a:latin typeface="Calibri"/>
                        </a:rPr>
                        <a:t>16 to 20 Nov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E3B43"/>
                          </a:solidFill>
                          <a:latin typeface="Calibri"/>
                        </a:rPr>
                        <a:t>Testing, Spark, DevOps, RAG foundations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E3B4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E3B43"/>
                          </a:solidFill>
                          <a:latin typeface="Calibri"/>
                        </a:rPr>
                        <a:t>23 to 27 Nov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E3B43"/>
                          </a:solidFill>
                          <a:latin typeface="Calibri"/>
                        </a:rPr>
                        <a:t>Git, CI/CD, Docker, Azure, vector search, agentic security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E3B43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E3B43"/>
                          </a:solidFill>
                          <a:latin typeface="Calibri"/>
                        </a:rPr>
                        <a:t>30 Nov to 4 Dec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E3B43"/>
                          </a:solidFill>
                          <a:latin typeface="Calibri"/>
                        </a:rPr>
                        <a:t>SLMs and token cost, LangGraph, agents, MCP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E3B43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E3B43"/>
                          </a:solidFill>
                          <a:latin typeface="Calibri"/>
                        </a:rPr>
                        <a:t>7 to 11 Dec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E3B43"/>
                          </a:solidFill>
                          <a:latin typeface="Calibri"/>
                        </a:rPr>
                        <a:t>Guardrails, evaluation, LLMOps, deployment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E3B43"/>
                          </a:solidFill>
                          <a:latin typeface="Calibri"/>
                        </a:rPr>
                        <a:t>8 to 9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E3B43"/>
                          </a:solidFill>
                          <a:latin typeface="Calibri"/>
                        </a:rPr>
                        <a:t>14 to 21 Dec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E3B43"/>
                          </a:solidFill>
                          <a:latin typeface="Calibri"/>
                        </a:rPr>
                        <a:t>Observability, then the capstone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Assessment and special days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1  |  Program Onboarding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6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Assessments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Days 5, 10, 13, 17, 27 and 33.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863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869180" y="1234439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691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721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Senior FDE interaction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691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Opening slot on Days 22 and 28.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" y="30403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1:1 feedback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End of Days 26 and 32.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863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69180" y="30403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691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721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Capstone demo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691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Day 40, Mon 21 Dec 2026.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A typical technical 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1  |  Program Onboarding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7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23544" y="1554480"/>
            <a:ext cx="457200" cy="45720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3544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Quiz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15 questions on the previous day</a:t>
            </a:r>
          </a:p>
        </p:txBody>
      </p:sp>
      <p:sp>
        <p:nvSpPr>
          <p:cNvPr id="10" name="Chevron 9"/>
          <p:cNvSpPr/>
          <p:nvPr/>
        </p:nvSpPr>
        <p:spPr>
          <a:xfrm>
            <a:off x="1929384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167128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633472" y="1554480"/>
            <a:ext cx="457200" cy="457200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33472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58568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Sessions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76856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Deck and live notebook</a:t>
            </a:r>
          </a:p>
        </p:txBody>
      </p:sp>
      <p:sp>
        <p:nvSpPr>
          <p:cNvPr id="16" name="Chevron 15"/>
          <p:cNvSpPr/>
          <p:nvPr/>
        </p:nvSpPr>
        <p:spPr>
          <a:xfrm>
            <a:off x="3639312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877056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343400" y="1554480"/>
            <a:ext cx="457200" cy="45720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43400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68496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Hands-on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86784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Problems and app build</a:t>
            </a:r>
          </a:p>
        </p:txBody>
      </p:sp>
      <p:sp>
        <p:nvSpPr>
          <p:cNvPr id="22" name="Chevron 21"/>
          <p:cNvSpPr/>
          <p:nvPr/>
        </p:nvSpPr>
        <p:spPr>
          <a:xfrm>
            <a:off x="5349240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586984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053328" y="1554480"/>
            <a:ext cx="457200" cy="457200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53328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78424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Hotel lab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96712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90 to 120 min in the evening</a:t>
            </a:r>
          </a:p>
        </p:txBody>
      </p:sp>
      <p:sp>
        <p:nvSpPr>
          <p:cNvPr id="28" name="Chevron 27"/>
          <p:cNvSpPr/>
          <p:nvPr/>
        </p:nvSpPr>
        <p:spPr>
          <a:xfrm>
            <a:off x="7059168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296912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763256" y="1554480"/>
            <a:ext cx="457200" cy="45720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63256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88352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Pre-read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06640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Short read for tomorrow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Nine files every technical 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1  |  Program Onboarding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8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234439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Deck and reads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Deck, pre-read, post-read (recap and beyond).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76600" y="105156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459480" y="1234439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594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2400" y="1234439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Colab notebook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59480" y="170992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Option A for Colab, Option B for VS Code. Offline mode for GenAI.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96000" y="105156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2788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788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81800" y="1234439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Practice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78880" y="170992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Hands-on problems and an interactive workbook.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85750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0080" y="30403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30403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Build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351586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App build prompts for OpenAI Codex, with a SmartDesk step.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76600" y="285750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59480" y="30403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594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62400" y="30403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Quiz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59480" y="351586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15 questions on the previous training day.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96000" y="285750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278880" y="30403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88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81800" y="30403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Hotel lab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78880" y="351586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NEW (v4): the evening plan, with what to submit.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5D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868680"/>
            <a:ext cx="3657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4000" b="1" i="0">
                <a:solidFill>
                  <a:srgbClr val="FF8A3D"/>
                </a:solidFill>
                <a:latin typeface="Cambria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83080"/>
            <a:ext cx="7863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mbria"/>
              </a:rPr>
              <a:t>Laptop and software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468880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CDEFEC"/>
                </a:solidFill>
                <a:latin typeface="Calibri"/>
              </a:rPr>
              <a:t>Use shared/Laptop_Setup_Guide.pdf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Software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1  |  Program Onboarding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10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97280"/>
          <a:ext cx="8229600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Item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Needed from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Check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E3B43"/>
                          </a:solidFill>
                          <a:latin typeface="Calibri"/>
                        </a:rPr>
                        <a:t>Browser + Google account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E3B43"/>
                          </a:solidFill>
                          <a:latin typeface="Calibri"/>
                        </a:rPr>
                        <a:t>Day 1 to 2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E3B43"/>
                          </a:solidFill>
                          <a:latin typeface="Calibri"/>
                        </a:rPr>
                        <a:t>Colab runs print('hello')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E3B43"/>
                          </a:solidFill>
                          <a:latin typeface="Calibri"/>
                        </a:rPr>
                        <a:t>Python 3.12+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E3B43"/>
                          </a:solidFill>
                          <a:latin typeface="Calibri"/>
                        </a:rPr>
                        <a:t>Day 2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E3B43"/>
                          </a:solidFill>
                          <a:latin typeface="Calibri"/>
                        </a:rPr>
                        <a:t>python --version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E3B43"/>
                          </a:solidFill>
                          <a:latin typeface="Calibri"/>
                        </a:rPr>
                        <a:t>VS Code + OpenAI Codex extension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E3B43"/>
                          </a:solidFill>
                          <a:latin typeface="Calibri"/>
                        </a:rPr>
                        <a:t>Day 3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E3B43"/>
                          </a:solidFill>
                          <a:latin typeface="Calibri"/>
                        </a:rPr>
                        <a:t>code --version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E3B43"/>
                          </a:solidFill>
                          <a:latin typeface="Calibri"/>
                        </a:rPr>
                        <a:t>Git + GitHub account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E3B43"/>
                          </a:solidFill>
                          <a:latin typeface="Calibri"/>
                        </a:rPr>
                        <a:t>Day 3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E3B43"/>
                          </a:solidFill>
                          <a:latin typeface="Calibri"/>
                        </a:rPr>
                        <a:t>git --version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E3B43"/>
                          </a:solidFill>
                          <a:latin typeface="Calibri"/>
                        </a:rPr>
                        <a:t>Node.js LTS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E3B43"/>
                          </a:solidFill>
                          <a:latin typeface="Calibri"/>
                        </a:rPr>
                        <a:t>Day 8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E3B43"/>
                          </a:solidFill>
                          <a:latin typeface="Calibri"/>
                        </a:rPr>
                        <a:t>node --version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E3B43"/>
                          </a:solidFill>
                          <a:latin typeface="Calibri"/>
                        </a:rPr>
                        <a:t>Postman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E3B43"/>
                          </a:solidFill>
                          <a:latin typeface="Calibri"/>
                        </a:rPr>
                        <a:t>Day 9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E3B43"/>
                          </a:solidFill>
                          <a:latin typeface="Calibri"/>
                        </a:rPr>
                        <a:t>GET returns 200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E3B43"/>
                          </a:solidFill>
                          <a:latin typeface="Calibri"/>
                        </a:rPr>
                        <a:t>Docker Desktop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E3B43"/>
                          </a:solidFill>
                          <a:latin typeface="Calibri"/>
                        </a:rPr>
                        <a:t>Day 20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E3B43"/>
                          </a:solidFill>
                          <a:latin typeface="Calibri"/>
                        </a:rPr>
                        <a:t>docker run --rm hello-world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425196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1">
                <a:solidFill>
                  <a:srgbClr val="0FA3A3"/>
                </a:solidFill>
                <a:latin typeface="Calibri"/>
              </a:rPr>
              <a:t>Optional: MongoDB Compass, Java 17, Hugging Face account.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Keys and secrets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1  |  Program Onboarding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Where keys live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Colab Secrets or a git-ignored .env file.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863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869180" y="1234439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691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721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Where keys never go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691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Code, notebooks, prompts, chats, front-end code, AGENTS.md.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" y="30403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Two budgets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One key for Codex from Day 3, one for app calls from Day 12.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863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69180" y="30403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691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721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No key?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691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GenAI notebooks run in offline demo mode.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5D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868680"/>
            <a:ext cx="3657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4000" b="1" i="0">
                <a:solidFill>
                  <a:srgbClr val="FF8A3D"/>
                </a:solidFill>
                <a:latin typeface="Cambria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83080"/>
            <a:ext cx="7863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mbria"/>
              </a:rPr>
              <a:t>Pre-assessment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468880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CDEFEC"/>
                </a:solidFill>
                <a:latin typeface="Calibri"/>
              </a:rPr>
              <a:t>50 questions to find your starting point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Pre-assessment: 50 questions, 60 minutes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1  |  Program Onboarding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8229600" cy="1737360"/>
          </a:xfrm>
          <a:prstGeom prst="rect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7680960" cy="1463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000" b="1" i="0">
                <a:solidFill>
                  <a:srgbClr val="FFFFFF"/>
                </a:solidFill>
                <a:latin typeface="Cambria"/>
              </a:rPr>
              <a:t>There is no pass mark. It shows where you start, so we can support you well.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154680"/>
            <a:ext cx="8229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0">
                <a:solidFill>
                  <a:srgbClr val="0E3B43"/>
                </a:solidFill>
                <a:latin typeface="Calibri"/>
              </a:rPr>
              <a:t>Answer honestly. Skip a question rather than guess. Results are shared only with your trainers.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5D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868680"/>
            <a:ext cx="3657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4000" b="1" i="0">
                <a:solidFill>
                  <a:srgbClr val="FF8A3D"/>
                </a:solidFill>
                <a:latin typeface="Cambria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83080"/>
            <a:ext cx="7863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mbria"/>
              </a:rPr>
              <a:t>Ways of working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468880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CDEFEC"/>
                </a:solidFill>
                <a:latin typeface="Calibri"/>
              </a:rPr>
              <a:t>How we learn together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Expectations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1  |  Program Onboarding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15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234439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Be on time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Each day starts with the quiz.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76600" y="105156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459480" y="1234439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594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2400" y="1234439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Hands on keyboard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59480" y="170992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Run every demo yourself.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96000" y="105156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2788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788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81800" y="1234439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Ask early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78880" y="170992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If you are stuck for 15 minutes, ask.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85750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0080" y="30403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30403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Review AI code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351586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From Day 3, read every diff Codex writes.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76600" y="285750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59480" y="30403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594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62400" y="30403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Hotel lab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59480" y="351586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Do the evening lab and submit the listed item.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96000" y="285750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278880" y="30403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88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81800" y="30403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Respect data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78880" y="351586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No customer data or secrets in any tool.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5D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868680"/>
            <a:ext cx="3657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4000" b="1" i="0">
                <a:solidFill>
                  <a:srgbClr val="FF8A3D"/>
                </a:solidFill>
                <a:latin typeface="Cambria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83080"/>
            <a:ext cx="7863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mbria"/>
              </a:rPr>
              <a:t>SmartDesk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468880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CDEFEC"/>
                </a:solidFill>
                <a:latin typeface="Calibri"/>
              </a:rPr>
              <a:t>One project, built step by step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SmartDesk: a telecom support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1  |  Program Onboarding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17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The brief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Customers raise tickets; agents resolve them faster with AI help.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863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869180" y="1234439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691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721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Users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691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Customer, support agent, team lead, admin.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" y="30403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How it grows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CLI, API, full stack, RAG, agents, production.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863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69180" y="30403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691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721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Where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691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shared/SmartDesk and a SmartDesk prompt in each day's App_Build_Prompts.md.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Before tomorrow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1  |  Program Onboarding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0">
                <a:solidFill>
                  <a:srgbClr val="0FA3A3"/>
                </a:solidFill>
                <a:latin typeface="Calibri"/>
              </a:rPr>
              <a:t>Day 2 has no quiz. It starts straight away.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2590800" cy="30632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0080" y="15544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5544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Laptop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29967"/>
            <a:ext cx="2225040" cy="2285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Finish any Required install you could not complete today.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76600" y="1371600"/>
            <a:ext cx="2590800" cy="30632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459480" y="15544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59480" y="15544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62400" y="15544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Pre-read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59480" y="2029967"/>
            <a:ext cx="2225040" cy="2285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Read the Day 2 pre-read on Python basics.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96000" y="1371600"/>
            <a:ext cx="2590800" cy="30632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278880" y="15544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78880" y="15544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81800" y="15544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Colab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78880" y="2029967"/>
            <a:ext cx="2225040" cy="2285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Check you can open and run a Colab notebook.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5D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7863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Cambria"/>
              </a:rPr>
              <a:t>Connect with 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057400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700" b="0" i="0">
                <a:solidFill>
                  <a:srgbClr val="CDEFEC"/>
                </a:solidFill>
                <a:latin typeface="Calibri"/>
              </a:rPr>
              <a:t>Questions after class, feedback, or want to share what you built today? Reach out on LinkedIn.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3108960"/>
            <a:ext cx="4114800" cy="50292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108960"/>
            <a:ext cx="38404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Calibri"/>
              </a:rPr>
              <a:t>Ahmed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   linkedin.com/in/ahmed-al-imaad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5D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7863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Cambria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057400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700" b="0" i="0">
                <a:solidFill>
                  <a:srgbClr val="CDEFEC"/>
                </a:solidFill>
                <a:latin typeface="Calibri"/>
              </a:rPr>
              <a:t>See you tomorrow for Day 2: Python basics, functions, data structures and files.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0" y="4754880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1">
                <a:solidFill>
                  <a:srgbClr val="CDEFEC"/>
                </a:solidFill>
                <a:latin typeface="Calibri"/>
              </a:rPr>
              <a:t>Otsukaresama deshita (お疲れ様でした): Thank you for your hard work today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