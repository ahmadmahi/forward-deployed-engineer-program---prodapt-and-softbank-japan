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FF8A3D"/>
                </a:solidFill>
                <a:latin typeface="Calibri"/>
              </a:rPr>
              <a:t>DAY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Data Pipelines, Spark and PySpark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2316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Pipeline stages, Spark DataFrames and joins, an end-to-end batch pipeline, Spark SQL and AI-assisted data engineering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 i="0">
                <a:solidFill>
                  <a:srgbClr val="CDEFEC"/>
                </a:solidFill>
                <a:latin typeface="Calibri"/>
              </a:rPr>
              <a:t>Tue 17 Nov 2026  |  Basics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69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Prepared by Ahmed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1596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CDEFEC"/>
                </a:solidFill>
                <a:latin typeface="Calibri"/>
              </a:rPr>
              <a:t>linkedin.com/in/ahmed-al-imaad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Today's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16  |  Data Pipelines, Spark and PySpark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Ohayou gozaimasu (おはようございます): Good morning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Quiz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15 questions on Day 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Pipelines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Stages, medallion layers, why Spark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Spark DataFrames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Transformations, actions, joins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End-to-end pipeline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Run date, checks, run log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766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4594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594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624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Spark SQL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94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SQL refresher on DataFrames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2788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88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18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AI-assisted 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88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Codex drafts, you verify. NEW (v4)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By the end of today you 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16  |  Data Pipelines, Spark and PySpark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Design a batch job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Describe stages, schedules and bronze, silver and gold layers.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Use PySpark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Clean, aggregate and join DataFrames; explain laziness.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Ship a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Parameterised, idempotent, validated and logged, with SQL gold tables.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Verify AI 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Check a Codex-generated transformation against a known answer.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How today is organised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16  |  Data Pipelines, Spark and PySpark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Session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Duration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Focus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Session 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1 hr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Pipelines and stages; why Spark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Session 2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2 hrs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SparkSession, DataFrames, transformations vs actions, joins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Session 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2.5 hrs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End-to-end batch pipeline; Spark SQL refresher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Session 4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1 hr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AI-assisted data engineering: generate a transformation with Codex and verify it (NEW v4)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Pipelines and stages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1 (1 hr): data jobs that run on a schedule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Layers of a modern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16  |  Data Pipelines, Spark and PySpark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2590800" cy="301752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Bronze (raw)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222504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Data exactly as received.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76600" y="1051560"/>
            <a:ext cx="2590800" cy="301752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594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94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24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Silver (clean)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80" y="1709928"/>
            <a:ext cx="222504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Fixed types, no duplicates, valid rows.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0" y="1051560"/>
            <a:ext cx="2590800" cy="301752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788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88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18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Gold (business)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880" y="1709928"/>
            <a:ext cx="222504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Aggregated tables for reports.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Called the medallion architecture. Each layer can be rebuilt from the one before.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What makes a batch job production ready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16  |  Data Pipelines, Spark and PySpark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Scheduled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Runs nightly or hourly with a scheduler.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Idempotent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 re-run gives the same result, no duplicates.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Partitioned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Process one day at a time, not all history.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Observable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Logs row counts, rejects and run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pandas and Spark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16  |  Data Pipelines, Spark and PySpark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F8A3D"/>
                </a:solidFill>
                <a:latin typeface="Calibri"/>
              </a:rPr>
              <a:t>pandas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Runs on one machine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Data must fit in memory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Executes each line immediately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Perfect up to a few GB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FA3A3"/>
                </a:solidFill>
                <a:latin typeface="Calibri"/>
              </a:rPr>
              <a:t>Spark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Runs on a cluster of machines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Handles terabytes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Lazy: builds a plan, then runs it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Same code on a laptop or a cluster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How Spark runs your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16  |  Data Pipelines, Spark and PySpark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7285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728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Driver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Your program builds the plan</a:t>
            </a:r>
          </a:p>
        </p:txBody>
      </p:sp>
      <p:sp>
        <p:nvSpPr>
          <p:cNvPr id="10" name="Chevron 9"/>
          <p:cNvSpPr/>
          <p:nvPr/>
        </p:nvSpPr>
        <p:spPr>
          <a:xfrm>
            <a:off x="2356865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94610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74695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469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86050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4338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Optimiser rewrites it</a:t>
            </a:r>
          </a:p>
        </p:txBody>
      </p:sp>
      <p:sp>
        <p:nvSpPr>
          <p:cNvPr id="16" name="Chevron 15"/>
          <p:cNvSpPr/>
          <p:nvPr/>
        </p:nvSpPr>
        <p:spPr>
          <a:xfrm>
            <a:off x="4494276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32020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412105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1210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3459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Tasks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1748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Split by partition</a:t>
            </a:r>
          </a:p>
        </p:txBody>
      </p:sp>
      <p:sp>
        <p:nvSpPr>
          <p:cNvPr id="22" name="Chevron 21"/>
          <p:cNvSpPr/>
          <p:nvPr/>
        </p:nvSpPr>
        <p:spPr>
          <a:xfrm>
            <a:off x="6631686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69429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549515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951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0869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Executors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9157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Workers run tasks in parallel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A partition is one chunk of the data. More partitions, more parallel work.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Spark DataFrames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2 (2 hrs): describe the result you want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Starting Spark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16  |  Data Pipelines, Spark and PySpark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SparkSession is your entry point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local[1] in class; local[*] uses all cores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Read CSV, JSON or Parquet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printSchema shows column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897" b="0" i="0">
                <a:solidFill>
                  <a:srgbClr val="EAF7F5"/>
                </a:solidFill>
                <a:latin typeface="Courier New"/>
              </a:rPr>
              <a:t>from pyspark.sql import SparkSession</a:t>
            </a:r>
          </a:p>
          <a:p>
            <a:r>
              <a:rPr sz="897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897" b="0" i="0">
                <a:solidFill>
                  <a:srgbClr val="EAF7F5"/>
                </a:solidFill>
                <a:latin typeface="Courier New"/>
              </a:rPr>
              <a:t>spark = (SparkSession.builder</a:t>
            </a:r>
          </a:p>
          <a:p>
            <a:r>
              <a:rPr sz="897" b="0" i="0">
                <a:solidFill>
                  <a:srgbClr val="EAF7F5"/>
                </a:solidFill>
                <a:latin typeface="Courier New"/>
              </a:rPr>
              <a:t>         .master("local[1]")</a:t>
            </a:r>
          </a:p>
          <a:p>
            <a:r>
              <a:rPr sz="897" b="0" i="0">
                <a:solidFill>
                  <a:srgbClr val="EAF7F5"/>
                </a:solidFill>
                <a:latin typeface="Courier New"/>
              </a:rPr>
              <a:t>         .appName("day16")</a:t>
            </a:r>
          </a:p>
          <a:p>
            <a:r>
              <a:rPr sz="897" b="0" i="0">
                <a:solidFill>
                  <a:srgbClr val="EAF7F5"/>
                </a:solidFill>
                <a:latin typeface="Courier New"/>
              </a:rPr>
              <a:t>         .getOrCreate())</a:t>
            </a:r>
          </a:p>
          <a:p>
            <a:r>
              <a:rPr sz="897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897" b="0" i="0">
                <a:solidFill>
                  <a:srgbClr val="EAF7F5"/>
                </a:solidFill>
                <a:latin typeface="Courier New"/>
              </a:rPr>
              <a:t>df = spark.read.csv("orders.csv",</a:t>
            </a:r>
          </a:p>
          <a:p>
            <a:r>
              <a:rPr sz="897" b="0" i="0">
                <a:solidFill>
                  <a:srgbClr val="EAF7F5"/>
                </a:solidFill>
                <a:latin typeface="Courier New"/>
              </a:rPr>
              <a:t>                    header=True, inferSchema=True)</a:t>
            </a:r>
          </a:p>
          <a:p>
            <a:r>
              <a:rPr sz="897" b="0" i="0">
                <a:solidFill>
                  <a:srgbClr val="EAF7F5"/>
                </a:solidFill>
                <a:latin typeface="Courier New"/>
              </a:rPr>
              <a:t>df.printSchema()</a:t>
            </a:r>
          </a:p>
          <a:p>
            <a:r>
              <a:rPr sz="897" b="0" i="0">
                <a:solidFill>
                  <a:srgbClr val="EAF7F5"/>
                </a:solidFill>
                <a:latin typeface="Courier New"/>
              </a:rPr>
              <a:t>df.show(5)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Transformations and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16  |  Data Pipelines, Spark and PySpark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Kind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Examples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happens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Transformation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select, filter, withColumn, groupBy, join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Adds a step to the plan. Nothing runs yet.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show, count, collect, write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Runs the whole plan and returns or saves data.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2386584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Lazy evaluation lets Spark optimise the whole job before touching any data.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Clean and enrich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16  |  Data Pipelines, Spark and PySpark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Seiri (整理): Sorting things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F holds Spark's built-in functions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filter keeps matching rows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withColumn adds or replaces a column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when / otherwise is Spark's if / else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150" b="0" i="0">
                <a:solidFill>
                  <a:srgbClr val="EAF7F5"/>
                </a:solidFill>
                <a:latin typeface="Courier New"/>
              </a:rPr>
              <a:t>from pyspark.sql import functions as F</a:t>
            </a:r>
          </a:p>
          <a:p>
            <a:r>
              <a:rPr sz="1150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150" b="0" i="0">
                <a:solidFill>
                  <a:srgbClr val="EAF7F5"/>
                </a:solidFill>
                <a:latin typeface="Courier New"/>
              </a:rPr>
              <a:t>clean = (df</a:t>
            </a:r>
          </a:p>
          <a:p>
            <a:r>
              <a:rPr sz="1150" b="0" i="0">
                <a:solidFill>
                  <a:srgbClr val="EAF7F5"/>
                </a:solidFill>
                <a:latin typeface="Courier New"/>
              </a:rPr>
              <a:t>  .dropDuplicates(["order_id"])</a:t>
            </a:r>
          </a:p>
          <a:p>
            <a:r>
              <a:rPr sz="1150" b="0" i="0">
                <a:solidFill>
                  <a:srgbClr val="EAF7F5"/>
                </a:solidFill>
                <a:latin typeface="Courier New"/>
              </a:rPr>
              <a:t>  .filter(F.col("amount") &gt; 0)</a:t>
            </a:r>
          </a:p>
          <a:p>
            <a:r>
              <a:rPr sz="1150" b="0" i="0">
                <a:solidFill>
                  <a:srgbClr val="EAF7F5"/>
                </a:solidFill>
                <a:latin typeface="Courier New"/>
              </a:rPr>
              <a:t>  .withColumn("city", F.trim("city"))</a:t>
            </a:r>
          </a:p>
          <a:p>
            <a:r>
              <a:rPr sz="1150" b="0" i="0">
                <a:solidFill>
                  <a:srgbClr val="EAF7F5"/>
                </a:solidFill>
                <a:latin typeface="Courier New"/>
              </a:rPr>
              <a:t>  .withColumn("size", F.when(</a:t>
            </a:r>
          </a:p>
          <a:p>
            <a:r>
              <a:rPr sz="1150" b="0" i="0">
                <a:solidFill>
                  <a:srgbClr val="EAF7F5"/>
                </a:solidFill>
                <a:latin typeface="Courier New"/>
              </a:rPr>
              <a:t>      F.col("amount") &gt;= 1000, "large")</a:t>
            </a:r>
          </a:p>
          <a:p>
            <a:r>
              <a:rPr sz="1150" b="0" i="0">
                <a:solidFill>
                  <a:srgbClr val="EAF7F5"/>
                </a:solidFill>
                <a:latin typeface="Courier New"/>
              </a:rPr>
              <a:t>      .otherwise("small")))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Group and aggregate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16  |  Data Pipelines, Spark and PySpark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groupBy then agg with named results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Many aggregates in one pass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orderBy for sorting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Same idea as SQL GROUP BY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122" b="0" i="0">
                <a:solidFill>
                  <a:srgbClr val="EAF7F5"/>
                </a:solidFill>
                <a:latin typeface="Courier New"/>
              </a:rPr>
              <a:t>daily = (clean</a:t>
            </a:r>
          </a:p>
          <a:p>
            <a:r>
              <a:rPr sz="1122" b="0" i="0">
                <a:solidFill>
                  <a:srgbClr val="EAF7F5"/>
                </a:solidFill>
                <a:latin typeface="Courier New"/>
              </a:rPr>
              <a:t>  .groupBy("order_date", "city")</a:t>
            </a:r>
          </a:p>
          <a:p>
            <a:r>
              <a:rPr sz="1122" b="0" i="0">
                <a:solidFill>
                  <a:srgbClr val="EAF7F5"/>
                </a:solidFill>
                <a:latin typeface="Courier New"/>
              </a:rPr>
              <a:t>  .agg(F.count("*").alias("orders"),</a:t>
            </a:r>
          </a:p>
          <a:p>
            <a:r>
              <a:rPr sz="1122" b="0" i="0">
                <a:solidFill>
                  <a:srgbClr val="EAF7F5"/>
                </a:solidFill>
                <a:latin typeface="Courier New"/>
              </a:rPr>
              <a:t>       F.sum("amount").alias("revenue"),</a:t>
            </a:r>
          </a:p>
          <a:p>
            <a:r>
              <a:rPr sz="1122" b="0" i="0">
                <a:solidFill>
                  <a:srgbClr val="EAF7F5"/>
                </a:solidFill>
                <a:latin typeface="Courier New"/>
              </a:rPr>
              <a:t>       F.round(F.avg("amount"), 2)</a:t>
            </a:r>
          </a:p>
          <a:p>
            <a:r>
              <a:rPr sz="1122" b="0" i="0">
                <a:solidFill>
                  <a:srgbClr val="EAF7F5"/>
                </a:solidFill>
                <a:latin typeface="Courier New"/>
              </a:rPr>
              <a:t>         .alias("avg_order"))</a:t>
            </a:r>
          </a:p>
          <a:p>
            <a:r>
              <a:rPr sz="1122" b="0" i="0">
                <a:solidFill>
                  <a:srgbClr val="EAF7F5"/>
                </a:solidFill>
                <a:latin typeface="Courier New"/>
              </a:rPr>
              <a:t>  .orderBy(F.desc("revenue")))</a:t>
            </a:r>
          </a:p>
          <a:p>
            <a:r>
              <a:rPr sz="1122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122" b="0" i="0">
                <a:solidFill>
                  <a:srgbClr val="EAF7F5"/>
                </a:solidFill>
                <a:latin typeface="Courier New"/>
              </a:rPr>
              <a:t>daily.show()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Choosing a join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16  |  Data Pipelines, Spark and PySpark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Join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Keeps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Question it answers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inner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Rows with a match on both sides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Orders with known customers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left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All left rows, nulls if no match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All orders, with customer if known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left_anti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Left rows with no match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Orders from unknown customers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left_semi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Left rows that have a match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Customers who ordered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15467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Always check row counts before and after a join. Duplicated keys multiply rows.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Joins and writing the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16  |  Data Pipelines, Spark and PySpark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how= picks the join type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Anti joins find data quality gaps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Parquet: columnar, compressed, typed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mode overwrite makes re-runs idempotent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801" b="0" i="0">
                <a:solidFill>
                  <a:srgbClr val="EAF7F5"/>
                </a:solidFill>
                <a:latin typeface="Courier New"/>
              </a:rPr>
              <a:t>enriched = orders.join(customers,</a:t>
            </a:r>
          </a:p>
          <a:p>
            <a:r>
              <a:rPr sz="801" b="0" i="0">
                <a:solidFill>
                  <a:srgbClr val="EAF7F5"/>
                </a:solidFill>
                <a:latin typeface="Courier New"/>
              </a:rPr>
              <a:t>                       on="customer_id", how="left")</a:t>
            </a:r>
          </a:p>
          <a:p>
            <a:r>
              <a:rPr sz="801" b="0" i="0">
                <a:solidFill>
                  <a:srgbClr val="EAF7F5"/>
                </a:solidFill>
                <a:latin typeface="Courier New"/>
              </a:rPr>
              <a:t>unknown = orders.join(customers,</a:t>
            </a:r>
          </a:p>
          <a:p>
            <a:r>
              <a:rPr sz="801" b="0" i="0">
                <a:solidFill>
                  <a:srgbClr val="EAF7F5"/>
                </a:solidFill>
                <a:latin typeface="Courier New"/>
              </a:rPr>
              <a:t>                      on="customer_id", how="left_anti")</a:t>
            </a:r>
          </a:p>
          <a:p>
            <a:r>
              <a:rPr sz="801" b="0" i="0">
                <a:solidFill>
                  <a:srgbClr val="EAF7F5"/>
                </a:solidFill>
                <a:latin typeface="Courier New"/>
              </a:rPr>
              <a:t>print("Unknown customers:", unknown.count())</a:t>
            </a:r>
          </a:p>
          <a:p>
            <a:r>
              <a:rPr sz="801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801" b="0" i="0">
                <a:solidFill>
                  <a:srgbClr val="EAF7F5"/>
                </a:solidFill>
                <a:latin typeface="Courier New"/>
              </a:rPr>
              <a:t>(daily.write</a:t>
            </a:r>
          </a:p>
          <a:p>
            <a:r>
              <a:rPr sz="801" b="0" i="0">
                <a:solidFill>
                  <a:srgbClr val="EAF7F5"/>
                </a:solidFill>
                <a:latin typeface="Courier New"/>
              </a:rPr>
              <a:t>   .mode("overwrite")</a:t>
            </a:r>
          </a:p>
          <a:p>
            <a:r>
              <a:rPr sz="801" b="0" i="0">
                <a:solidFill>
                  <a:srgbClr val="EAF7F5"/>
                </a:solidFill>
                <a:latin typeface="Courier New"/>
              </a:rPr>
              <a:t>   .partitionBy("order_date")</a:t>
            </a:r>
          </a:p>
          <a:p>
            <a:r>
              <a:rPr sz="801" b="0" i="0">
                <a:solidFill>
                  <a:srgbClr val="EAF7F5"/>
                </a:solidFill>
                <a:latin typeface="Courier New"/>
              </a:rPr>
              <a:t>   .parquet("gold/daily_city_revenue"))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An end-to-end batch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3 (2.5 hrs): from prototype to a daily job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SQL refresher: the order clauses run 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16  |  Data Pipelines, Spark and PySpark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Narabi (並び): Order and arrangement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97280"/>
          <a:ext cx="82296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Written order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Runs as step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SELECT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Pick and compute columns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FROM / JOIN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Choose and combine tables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WHERE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Filter rows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GROUP BY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Make groups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HAVING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Filter groups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ORDER BY / LIMIT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Sort and cut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CTEs and window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16  |  Data Pipelines, Spark and PySpark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WITH names an intermediate result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Window functions keep every row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PARTITION BY = per group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Great for ranks and running totals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360" b="0" i="0">
                <a:solidFill>
                  <a:srgbClr val="EAF7F5"/>
                </a:solidFill>
                <a:latin typeface="Courier New"/>
              </a:rPr>
              <a:t>WITH daily AS (</a:t>
            </a:r>
          </a:p>
          <a:p>
            <a:r>
              <a:rPr sz="1360" b="0" i="0">
                <a:solidFill>
                  <a:srgbClr val="EAF7F5"/>
                </a:solidFill>
                <a:latin typeface="Courier New"/>
              </a:rPr>
              <a:t>  SELECT order_date, city,</a:t>
            </a:r>
          </a:p>
          <a:p>
            <a:r>
              <a:rPr sz="1360" b="0" i="0">
                <a:solidFill>
                  <a:srgbClr val="EAF7F5"/>
                </a:solidFill>
                <a:latin typeface="Courier New"/>
              </a:rPr>
              <a:t>         SUM(amount) AS revenue</a:t>
            </a:r>
          </a:p>
          <a:p>
            <a:r>
              <a:rPr sz="1360" b="0" i="0">
                <a:solidFill>
                  <a:srgbClr val="EAF7F5"/>
                </a:solidFill>
                <a:latin typeface="Courier New"/>
              </a:rPr>
              <a:t>  FROM orders</a:t>
            </a:r>
          </a:p>
          <a:p>
            <a:r>
              <a:rPr sz="1360" b="0" i="0">
                <a:solidFill>
                  <a:srgbClr val="EAF7F5"/>
                </a:solidFill>
                <a:latin typeface="Courier New"/>
              </a:rPr>
              <a:t>  GROUP BY order_date, city</a:t>
            </a:r>
          </a:p>
          <a:p>
            <a:r>
              <a:rPr sz="1360" b="0" i="0">
                <a:solidFill>
                  <a:srgbClr val="EAF7F5"/>
                </a:solidFill>
                <a:latin typeface="Courier New"/>
              </a:rPr>
              <a:t>)</a:t>
            </a:r>
          </a:p>
          <a:p>
            <a:r>
              <a:rPr sz="1360" b="0" i="0">
                <a:solidFill>
                  <a:srgbClr val="EAF7F5"/>
                </a:solidFill>
                <a:latin typeface="Courier New"/>
              </a:rPr>
              <a:t>SELECT order_date, city, revenue,</a:t>
            </a:r>
          </a:p>
          <a:p>
            <a:r>
              <a:rPr sz="1360" b="0" i="0">
                <a:solidFill>
                  <a:srgbClr val="EAF7F5"/>
                </a:solidFill>
                <a:latin typeface="Courier New"/>
              </a:rPr>
              <a:t>  RANK() OVER (</a:t>
            </a:r>
          </a:p>
          <a:p>
            <a:r>
              <a:rPr sz="1360" b="0" i="0">
                <a:solidFill>
                  <a:srgbClr val="EAF7F5"/>
                </a:solidFill>
                <a:latin typeface="Courier New"/>
              </a:rPr>
              <a:t>    PARTITION BY order_date</a:t>
            </a:r>
          </a:p>
          <a:p>
            <a:r>
              <a:rPr sz="1360" b="0" i="0">
                <a:solidFill>
                  <a:srgbClr val="EAF7F5"/>
                </a:solidFill>
                <a:latin typeface="Courier New"/>
              </a:rPr>
              <a:t>    ORDER BY revenue DESC) AS rnk</a:t>
            </a:r>
          </a:p>
          <a:p>
            <a:r>
              <a:rPr sz="1360" b="0" i="0">
                <a:solidFill>
                  <a:srgbClr val="EAF7F5"/>
                </a:solidFill>
                <a:latin typeface="Courier New"/>
              </a:rPr>
              <a:t>FROM daily;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Spark SQL: query DataFrames with 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16  |  Data Pipelines, Spark and PySpark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createOrReplaceTempView names a DataFrame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spark.sql returns a new DataFrame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Same optimiser as the DataFrame API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Mix both freely in one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122" b="0" i="0">
                <a:solidFill>
                  <a:srgbClr val="EAF7F5"/>
                </a:solidFill>
                <a:latin typeface="Courier New"/>
              </a:rPr>
              <a:t>orders.createOrReplaceTempView("orders")</a:t>
            </a:r>
          </a:p>
          <a:p>
            <a:r>
              <a:rPr sz="1122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122" b="0" i="0">
                <a:solidFill>
                  <a:srgbClr val="EAF7F5"/>
                </a:solidFill>
                <a:latin typeface="Courier New"/>
              </a:rPr>
              <a:t>top = spark.sql("""</a:t>
            </a:r>
          </a:p>
          <a:p>
            <a:r>
              <a:rPr sz="1122" b="0" i="0">
                <a:solidFill>
                  <a:srgbClr val="EAF7F5"/>
                </a:solidFill>
                <a:latin typeface="Courier New"/>
              </a:rPr>
              <a:t>  SELECT city, SUM(amount) AS revenue</a:t>
            </a:r>
          </a:p>
          <a:p>
            <a:r>
              <a:rPr sz="1122" b="0" i="0">
                <a:solidFill>
                  <a:srgbClr val="EAF7F5"/>
                </a:solidFill>
                <a:latin typeface="Courier New"/>
              </a:rPr>
              <a:t>  FROM orders</a:t>
            </a:r>
          </a:p>
          <a:p>
            <a:r>
              <a:rPr sz="1122" b="0" i="0">
                <a:solidFill>
                  <a:srgbClr val="EAF7F5"/>
                </a:solidFill>
                <a:latin typeface="Courier New"/>
              </a:rPr>
              <a:t>  GROUP BY city</a:t>
            </a:r>
          </a:p>
          <a:p>
            <a:r>
              <a:rPr sz="1122" b="0" i="0">
                <a:solidFill>
                  <a:srgbClr val="EAF7F5"/>
                </a:solidFill>
                <a:latin typeface="Courier New"/>
              </a:rPr>
              <a:t>  ORDER BY revenue DESC</a:t>
            </a:r>
          </a:p>
          <a:p>
            <a:r>
              <a:rPr sz="1122" b="0" i="0">
                <a:solidFill>
                  <a:srgbClr val="EAF7F5"/>
                </a:solidFill>
                <a:latin typeface="Courier New"/>
              </a:rPr>
              <a:t>""")</a:t>
            </a:r>
          </a:p>
          <a:p>
            <a:r>
              <a:rPr sz="1122" b="0" i="0">
                <a:solidFill>
                  <a:srgbClr val="EAF7F5"/>
                </a:solidFill>
                <a:latin typeface="Courier New"/>
              </a:rPr>
              <a:t>top.show()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Anatomy of a production batch job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16  |  Data Pipelines, Spark and PySpark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Config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Paths, schemas, run date</a:t>
            </a:r>
          </a:p>
        </p:txBody>
      </p:sp>
      <p:sp>
        <p:nvSpPr>
          <p:cNvPr id="10" name="Chevron 9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67128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8568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Extract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76856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Read bronze for the run date</a:t>
            </a:r>
          </a:p>
        </p:txBody>
      </p:sp>
      <p:sp>
        <p:nvSpPr>
          <p:cNvPr id="16" name="Chevron 15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77056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8496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Transform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86784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Silver rules, gold aggregates</a:t>
            </a:r>
          </a:p>
        </p:txBody>
      </p:sp>
      <p:sp>
        <p:nvSpPr>
          <p:cNvPr id="22" name="Chevron 21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86984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78424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Counts and quality checks</a:t>
            </a:r>
          </a:p>
        </p:txBody>
      </p:sp>
      <p:sp>
        <p:nvSpPr>
          <p:cNvPr id="28" name="Chevron 27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8352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Load + log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Overwrite partition, record run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Pipeline quality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16  |  Data Pipelines, Spark and PySpark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If it fails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Not empty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silver.count() &gt; 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Stop the run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Unique keys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No duplicate order_id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Stop the run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Valid ranges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amount &gt; 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Move to rejects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Reconciliation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Gold total equals silver total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Alert the team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15467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Fail loudly and early. Silent bad data is worse than a failed job.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AI-assisted data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4 (1 hr): Codex drafts, you verify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228600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35240" y="22860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Generate a transformation, then verify 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16  |  Data Pipelines, Spark and PySpark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Specify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Inputs, rules, output columns</a:t>
            </a:r>
          </a:p>
        </p:txBody>
      </p:sp>
      <p:sp>
        <p:nvSpPr>
          <p:cNvPr id="12" name="Chevron 11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67128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58568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Generate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76856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Codex writes the PySpark</a:t>
            </a:r>
          </a:p>
        </p:txBody>
      </p:sp>
      <p:sp>
        <p:nvSpPr>
          <p:cNvPr id="18" name="Chevron 17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77056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68496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Read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86784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Every line, every filter</a:t>
            </a:r>
          </a:p>
        </p:txBody>
      </p:sp>
      <p:sp>
        <p:nvSpPr>
          <p:cNvPr id="24" name="Chevron 23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86984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78424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Verify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96712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Known answer, counts, totals</a:t>
            </a:r>
          </a:p>
        </p:txBody>
      </p:sp>
      <p:sp>
        <p:nvSpPr>
          <p:cNvPr id="30" name="Chevron 29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96912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88352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Keep or fix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Only code you can explain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Verification is the job. The code is cheap; wrong numbers in a report are expensive.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How to verify AI-written data code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16  |  Data Pipelines, Spark and PySpark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Golden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Tiny input with a hand-calculated expected output.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766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594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94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624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Row counts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94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Before and after every filter and join.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788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88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18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Reconcile totals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88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Sum of gold equals sum of silver.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Second method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Check one result with pandas or SQL as well.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766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4594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594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624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Edge cases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94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Nulls, duplicates, zero, boundary values.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960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2788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788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818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Read the plan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788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df.explain() shows hidden shuffles and filters.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 Codex prompt for a PySpark transformation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16  |  Data Pipelines, Spark and PySpark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8229600" cy="310896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88719"/>
            <a:ext cx="7863840" cy="2834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890" b="0" i="0">
                <a:solidFill>
                  <a:srgbClr val="EAF7F5"/>
                </a:solidFill>
                <a:latin typeface="Courier New"/>
              </a:rPr>
              <a:t>Write a PySpark function sla_metrics(tickets) for SmartDesk.</a:t>
            </a:r>
          </a:p>
          <a:p>
            <a:r>
              <a:rPr sz="890" b="0" i="0">
                <a:solidFill>
                  <a:srgbClr val="EAF7F5"/>
                </a:solidFill>
                <a:latin typeface="Courier New"/>
              </a:rPr>
              <a:t>Input columns: ticket_id, priority (low|medium|high), opened_at, resolved_at (timestamp, may be null).</a:t>
            </a:r>
          </a:p>
          <a:p>
            <a:r>
              <a:rPr sz="890" b="0" i="0">
                <a:solidFill>
                  <a:srgbClr val="EAF7F5"/>
                </a:solidFill>
                <a:latin typeface="Courier New"/>
              </a:rPr>
              <a:t>Rules: SLA minutes are high=60, medium=240, low=1440. Unresolved tickets are excluded.</a:t>
            </a:r>
          </a:p>
          <a:p>
            <a:r>
              <a:rPr sz="890" b="0" i="0">
                <a:solidFill>
                  <a:srgbClr val="EAF7F5"/>
                </a:solidFill>
                <a:latin typeface="Courier New"/>
              </a:rPr>
              <a:t>Duplicate ticket_id rows count once.</a:t>
            </a:r>
          </a:p>
          <a:p>
            <a:r>
              <a:rPr sz="890" b="0" i="0">
                <a:solidFill>
                  <a:srgbClr val="EAF7F5"/>
                </a:solidFill>
                <a:latin typeface="Courier New"/>
              </a:rPr>
              <a:t>Output per priority: tickets, met (resolved within SLA), pct_met rounded to 1 decimal.</a:t>
            </a:r>
          </a:p>
          <a:p>
            <a:r>
              <a:rPr sz="890" b="0" i="0">
                <a:solidFill>
                  <a:srgbClr val="EAF7F5"/>
                </a:solidFill>
                <a:latin typeface="Courier New"/>
              </a:rPr>
              <a:t>Use only pyspark.sql.functions. No UDFs. Add a docstring. Do not read or write files.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Give rules and edge cases. Ask for small, pure functions you can test.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SmartDesk step 14: SLA metrics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16  |  Data Pipelines, Spark and PySpark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Bronze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Raw ticket events as received.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Silver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Deduplicated tickets with resolution minutes.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Gold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SLA met % per priority per day, written as Parquet.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Verify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Codex drafts sla_metrics; you check it against a golden example.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Hands-on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16  |  Data Pipelines, Spark and PySpark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Ganbatte (頑張って): Do your best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8229600" cy="1737360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768096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Cambria"/>
              </a:rPr>
              <a:t>Build a bronze, silver and gold pipeline in PySpark, query it with Spark SQL, then generate one transformation with Codex and prove it is correct.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5468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E3B43"/>
                </a:solidFill>
                <a:latin typeface="Calibri"/>
              </a:rPr>
              <a:t>Print row counts after every step. Surprises in counts are where bugs hide.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16  |  Data Pipelines, Spark and PySpark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Batch pipelines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Bronze, silver, gold. Scheduled, idempotent, observable.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Spark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Driver plans; executors run partitions. Transformations are lazy.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SQL and production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CTEs, windows, Spark SQL; run date, checks, run log.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AI-assisted 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Codex drafts; golden examples, counts and totals verify.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Before tomorrow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16  |  Data Pipelines, Spark and PySpark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FA3A3"/>
                </a:solidFill>
                <a:latin typeface="Calibri"/>
              </a:rPr>
              <a:t>Tomorrow: quiz on today, then Basics assessment 3.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Hotel 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Follow Day16_Hotel_Lab.md: medallion pipeline output table.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5544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Workbook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Complete the Day 16 workbook.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Pre-read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Skim the Day 17 pre-read on DevOps and the cloud.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Connect with 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Questions after class, feedback, or want to share what you built today? Reach out on LinkedIn.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08960"/>
            <a:ext cx="4114800" cy="5029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Ahmed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  linkedin.com/in/ahmed-al-imaad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See you tomorrow for Day 17: DevOps and cloud fundamentals, plus Basics assessment 3.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CDEFEC"/>
                </a:solidFill>
                <a:latin typeface="Calibri"/>
              </a:rPr>
              <a:t>Otsukaresama deshita (お疲れ様でした): Thank you for your hard work today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