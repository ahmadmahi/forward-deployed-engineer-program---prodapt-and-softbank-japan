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91440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400" b="1" i="0">
                <a:solidFill>
                  <a:srgbClr val="FF8A3D"/>
                </a:solidFill>
                <a:latin typeface="Calibri"/>
              </a:rPr>
              <a:t>DAY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400" b="1" i="0">
                <a:solidFill>
                  <a:srgbClr val="FFFFFF"/>
                </a:solidFill>
                <a:latin typeface="Cambria"/>
              </a:rPr>
              <a:t>Python Basics, Functions and Files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2316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0" i="0">
                <a:solidFill>
                  <a:srgbClr val="CDEFEC"/>
                </a:solidFill>
                <a:latin typeface="Calibri"/>
              </a:rPr>
              <a:t>Variables, conditions and loops, reusable functions, lists and dictionaries, and saving data to CSV and JSON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3291840"/>
            <a:ext cx="164592" cy="164592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96112" y="3291840"/>
            <a:ext cx="164592" cy="164592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52144" y="3291840"/>
            <a:ext cx="164592" cy="16459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6118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00" b="0" i="0">
                <a:solidFill>
                  <a:srgbClr val="CDEFEC"/>
                </a:solidFill>
                <a:latin typeface="Calibri"/>
              </a:rPr>
              <a:t>Tue 27 Oct 2026  |  Basics track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06908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1" i="0">
                <a:solidFill>
                  <a:srgbClr val="FFFFFF"/>
                </a:solidFill>
                <a:latin typeface="Calibri"/>
              </a:rPr>
              <a:t>Prepared by Ahmed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315968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CDEFEC"/>
                </a:solidFill>
                <a:latin typeface="Calibri"/>
              </a:rPr>
              <a:t>linkedin.com/in/ahmed-al-imaad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Today's journey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  |  Python Basics, Functions and Files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0" y="475488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1">
                <a:solidFill>
                  <a:srgbClr val="FF8A3D"/>
                </a:solidFill>
                <a:latin typeface="Calibri"/>
              </a:rPr>
              <a:t>Hajimemashou (始めましょう): Let's begin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Kahoot and setup check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70992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Is Colab working for everyone?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76600" y="105156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4594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594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624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Session 1 (1.5 hrs)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59480" y="170992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Variables, types, conditions, loops, casting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6000" y="105156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2788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788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8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Session 2 (1.5 hrs)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78880" y="170992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Functions, parameters, return, built-ins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285750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30403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Session 3 (2 hrs)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351586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Lists, tuples, sets, dicts, nested data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76600" y="285750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34594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594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962400" y="30403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Session 4 (1.5 hrs)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59480" y="351586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Files: CSV and JSON, read and write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96000" y="285750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2788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788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81800" y="30403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SmartDesk step 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78880" y="351586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A CLI ticket logger that saves to JSON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By the end of today you can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  |  Python Basics, Functions and Files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3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Write basic Python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Use variables, types, if/elif/else and loops in Colab.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863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Write functions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91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Define functions with parameters, defaults and return values.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Pick a structure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Choose list, tuple, set or dict, and loop through nested data.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863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691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91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721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Persist data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691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Save and load records with CSV and JSON files.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Self-study before and after today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  |  Python Basics, Functions and Files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4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2590800" cy="301752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Pre-read (self-study)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2225040" cy="2240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Python setup in Colab and VS Code, syntax basics: print, comments, indentation.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76600" y="1051560"/>
            <a:ext cx="2590800" cy="301752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4594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594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624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Post-read (self-study)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59480" y="1709928"/>
            <a:ext cx="2225040" cy="2240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Comprehensions, lambda, map and filter.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6000" y="1051560"/>
            <a:ext cx="2590800" cy="301752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2788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788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18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Why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8880" y="1709928"/>
            <a:ext cx="2225040" cy="2240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Class time goes to practice. The pre-read covers what you can learn alone.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420624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Stuck on setup? Use shared/Laptop_Setup_Guide.pdf and ask in the morning slot.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86868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4000" b="1" i="0">
                <a:solidFill>
                  <a:srgbClr val="FF8A3D"/>
                </a:solidFill>
                <a:latin typeface="Cambria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8308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Cambria"/>
              </a:rPr>
              <a:t>Python basics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46888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CDEFEC"/>
                </a:solidFill>
                <a:latin typeface="Calibri"/>
              </a:rPr>
              <a:t>Session 1 (1.5 hrs): variables, types, conditions, loops, casting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A program is a recipe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  |  Python Basics, Functions and Files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6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97280"/>
            <a:ext cx="4023360" cy="32004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2344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 i="0">
                <a:solidFill>
                  <a:srgbClr val="FF8A3D"/>
                </a:solidFill>
                <a:latin typeface="Calibri"/>
              </a:rPr>
              <a:t>In the kitchen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91640"/>
            <a:ext cx="35661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A recipe lists exact steps in order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Ingredients are measured and labelled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"If the dough is sticky, add flour"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"Stir 10 times"</a:t>
            </a:r>
          </a:p>
        </p:txBody>
      </p:sp>
      <p:sp>
        <p:nvSpPr>
          <p:cNvPr id="8" name="Rectangle 7"/>
          <p:cNvSpPr/>
          <p:nvPr/>
        </p:nvSpPr>
        <p:spPr>
          <a:xfrm>
            <a:off x="4663440" y="1097280"/>
            <a:ext cx="4023360" cy="32004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92040" y="12344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 i="0">
                <a:solidFill>
                  <a:srgbClr val="0FA3A3"/>
                </a:solidFill>
                <a:latin typeface="Calibri"/>
              </a:rPr>
              <a:t>In Python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92040" y="1691640"/>
            <a:ext cx="35661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A program lists exact instructions in order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Data is stored in named variables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if conditions choose what happens next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Loops repeat a step as many times as needed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Variables are labelled boxes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  |  Python Basics, Functions and Files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374903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A variable is a name that points to a value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= means "store", not "equals"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You can change the value later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Python works out the type for you</a:t>
            </a:r>
          </a:p>
        </p:txBody>
      </p:sp>
      <p:sp>
        <p:nvSpPr>
          <p:cNvPr id="6" name="Rectangle 5"/>
          <p:cNvSpPr/>
          <p:nvPr/>
        </p:nvSpPr>
        <p:spPr>
          <a:xfrm>
            <a:off x="4434840" y="1097280"/>
            <a:ext cx="4251960" cy="329184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234439"/>
            <a:ext cx="3886200" cy="30175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863" b="0" i="0">
                <a:solidFill>
                  <a:srgbClr val="EAF7F5"/>
                </a:solidFill>
                <a:latin typeface="Courier New"/>
              </a:rPr>
              <a:t>city = "Bengaluru"</a:t>
            </a:r>
          </a:p>
          <a:p>
            <a:r>
              <a:rPr sz="863" b="0" i="0">
                <a:solidFill>
                  <a:srgbClr val="EAF7F5"/>
                </a:solidFill>
                <a:latin typeface="Courier New"/>
              </a:rPr>
              <a:t>students = 30</a:t>
            </a:r>
          </a:p>
          <a:p>
            <a:r>
              <a:rPr sz="863" b="0" i="0">
                <a:solidFill>
                  <a:srgbClr val="EAF7F5"/>
                </a:solidFill>
                <a:latin typeface="Courier New"/>
              </a:rPr>
              <a:t>fee = 499.50</a:t>
            </a:r>
          </a:p>
          <a:p>
            <a:r>
              <a:rPr sz="863" b="0" i="0">
                <a:solidFill>
                  <a:srgbClr val="EAF7F5"/>
                </a:solidFill>
                <a:latin typeface="Courier New"/>
              </a:rPr>
              <a:t>is_open = True</a:t>
            </a:r>
          </a:p>
          <a:p>
            <a:r>
              <a:rPr sz="863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863" b="0" i="0">
                <a:solidFill>
                  <a:srgbClr val="EAF7F5"/>
                </a:solidFill>
                <a:latin typeface="Courier New"/>
              </a:rPr>
              <a:t>students = students + 5</a:t>
            </a:r>
          </a:p>
          <a:p>
            <a:r>
              <a:rPr sz="863" b="0" i="0">
                <a:solidFill>
                  <a:srgbClr val="EAF7F5"/>
                </a:solidFill>
                <a:latin typeface="Courier New"/>
              </a:rPr>
              <a:t>print(students)</a:t>
            </a:r>
          </a:p>
          <a:p>
            <a:r>
              <a:rPr sz="863" b="0" i="0">
                <a:solidFill>
                  <a:srgbClr val="EAF7F5"/>
                </a:solidFill>
                <a:latin typeface="Courier New"/>
              </a:rPr>
              <a:t>print(f"{city}: {students} students, fee {fee:.2f}")</a:t>
            </a:r>
          </a:p>
          <a:p>
            <a:r>
              <a:rPr sz="863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863" b="0" i="0">
                <a:solidFill>
                  <a:srgbClr val="EAF7F5"/>
                </a:solidFill>
                <a:latin typeface="Courier New"/>
              </a:rPr>
              <a:t>Output:</a:t>
            </a:r>
          </a:p>
          <a:p>
            <a:r>
              <a:rPr sz="863" b="0" i="0">
                <a:solidFill>
                  <a:srgbClr val="EAF7F5"/>
                </a:solidFill>
                <a:latin typeface="Courier New"/>
              </a:rPr>
              <a:t>35</a:t>
            </a:r>
          </a:p>
          <a:p>
            <a:r>
              <a:rPr sz="863" b="0" i="0">
                <a:solidFill>
                  <a:srgbClr val="EAF7F5"/>
                </a:solidFill>
                <a:latin typeface="Courier New"/>
              </a:rPr>
              <a:t>Bengaluru: 35 students, fee 499.50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The four basic data types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  |  Python Basics, Functions and Files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8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82296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Type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What it holds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Example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int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Whole numbers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age = 28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float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Numbers with decimals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price = 99.5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str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Text, always in quotes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name = "Asha"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bool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True or False only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is_member = True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154679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Check any value with type(). For example, type(99.5) gives &lt;class 'float'&gt;.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Type casting: input() always gives you 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  |  Python Basics, Functions and Files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9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82296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Function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Converts to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Example and result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int()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Whole number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int("42") gives 42, int(7.9) gives 7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float()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Decimal number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float("3.5") gives 3.5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str()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Text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str(100) gives "100"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bool()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True or False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bool(0) is False, bool("hi") is True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154679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"5" + "5" gives "55". int("hello") raises a ValueError.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if, elif, else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  |  Python Basics, Functions and Files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374903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Python checks conditions from top to bottom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The first True block runs, the rest are skipped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else catches everything left over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Notice the colon and the indentation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and, or, not combine conditions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4434840" y="1097280"/>
            <a:ext cx="4251960" cy="329184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234439"/>
            <a:ext cx="3886200" cy="30175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400" b="0" i="0">
                <a:solidFill>
                  <a:srgbClr val="EAF7F5"/>
                </a:solidFill>
                <a:latin typeface="Courier New"/>
              </a:rPr>
              <a:t>marks = 72</a:t>
            </a:r>
          </a:p>
          <a:p>
            <a:r>
              <a:rPr sz="1400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1400" b="0" i="0">
                <a:solidFill>
                  <a:srgbClr val="EAF7F5"/>
                </a:solidFill>
                <a:latin typeface="Courier New"/>
              </a:rPr>
              <a:t>if marks &gt;= 85:</a:t>
            </a:r>
          </a:p>
          <a:p>
            <a:r>
              <a:rPr sz="1400" b="0" i="0">
                <a:solidFill>
                  <a:srgbClr val="EAF7F5"/>
                </a:solidFill>
                <a:latin typeface="Courier New"/>
              </a:rPr>
              <a:t>    print("Grade A")</a:t>
            </a:r>
          </a:p>
          <a:p>
            <a:r>
              <a:rPr sz="1400" b="0" i="0">
                <a:solidFill>
                  <a:srgbClr val="EAF7F5"/>
                </a:solidFill>
                <a:latin typeface="Courier New"/>
              </a:rPr>
              <a:t>elif marks &gt;= 60:</a:t>
            </a:r>
          </a:p>
          <a:p>
            <a:r>
              <a:rPr sz="1400" b="0" i="0">
                <a:solidFill>
                  <a:srgbClr val="EAF7F5"/>
                </a:solidFill>
                <a:latin typeface="Courier New"/>
              </a:rPr>
              <a:t>    print("Grade B")</a:t>
            </a:r>
          </a:p>
          <a:p>
            <a:r>
              <a:rPr sz="1400" b="0" i="0">
                <a:solidFill>
                  <a:srgbClr val="EAF7F5"/>
                </a:solidFill>
                <a:latin typeface="Courier New"/>
              </a:rPr>
              <a:t>else:</a:t>
            </a:r>
          </a:p>
          <a:p>
            <a:r>
              <a:rPr sz="1400" b="0" i="0">
                <a:solidFill>
                  <a:srgbClr val="EAF7F5"/>
                </a:solidFill>
                <a:latin typeface="Courier New"/>
              </a:rPr>
              <a:t>    print("Keep practising")</a:t>
            </a:r>
          </a:p>
          <a:p>
            <a:r>
              <a:rPr sz="1400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1400" b="0" i="0">
                <a:solidFill>
                  <a:srgbClr val="EAF7F5"/>
                </a:solidFill>
                <a:latin typeface="Courier New"/>
              </a:rPr>
              <a:t>Output:</a:t>
            </a:r>
          </a:p>
          <a:p>
            <a:r>
              <a:rPr sz="1400" b="0" i="0">
                <a:solidFill>
                  <a:srgbClr val="EAF7F5"/>
                </a:solidFill>
                <a:latin typeface="Courier New"/>
              </a:rPr>
              <a:t>Grade B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for and while loops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  |  Python Basics, Functions and Files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97280"/>
            <a:ext cx="4023360" cy="283464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2344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 i="0">
                <a:solidFill>
                  <a:srgbClr val="FF8A3D"/>
                </a:solidFill>
                <a:latin typeface="Calibri"/>
              </a:rPr>
              <a:t>for: a known number of times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91640"/>
            <a:ext cx="35661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Walks through each item in a sequence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range(1, 6) gives 1 to 5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The stop number is not included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Great for lists and counting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4663440" y="1097280"/>
            <a:ext cx="4023360" cy="283464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92040" y="12344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 i="0">
                <a:solidFill>
                  <a:srgbClr val="0FA3A3"/>
                </a:solidFill>
                <a:latin typeface="Calibri"/>
              </a:rPr>
              <a:t>while: until something changes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92040" y="1691640"/>
            <a:ext cx="35661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Runs while the condition is True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Always change something inside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break exits the loop early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continue skips to the next round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An infinite loop is a while loop whose condition never becomes False.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Common beginner errors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  |  Python Basics, Functions and Files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822960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Error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Usually means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Quick fix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SyntaxError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Missing colon, quote or bracket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Check the end of the line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IndentationError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Spaces are inconsistent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Use 4 spaces per level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NameError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Variable used before it exists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Check spelling and order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TypeError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Mixing incompatible types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Cast with int(), str()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ValueError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Bad value for a conversion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Validate the input first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538727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Read the last line of an error message first: it tells you what went wrong.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86868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4000" b="1" i="0">
                <a:solidFill>
                  <a:srgbClr val="FF8A3D"/>
                </a:solidFill>
                <a:latin typeface="Cambria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8308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Cambria"/>
              </a:rPr>
              <a:t>Functions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46888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CDEFEC"/>
                </a:solidFill>
                <a:latin typeface="Calibri"/>
              </a:rPr>
              <a:t>Session 2 (1.5 hrs): write once, use many times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Why functions?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  |  Python Basics, Functions and Files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14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97280"/>
            <a:ext cx="4023360" cy="32004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2344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 i="0">
                <a:solidFill>
                  <a:srgbClr val="FF8A3D"/>
                </a:solidFill>
                <a:latin typeface="Calibri"/>
              </a:rPr>
              <a:t>Without functions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91640"/>
            <a:ext cx="35661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Same steps copied in many places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One bug must be fixed everywhere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Long scripts that are hard to read</a:t>
            </a:r>
          </a:p>
        </p:txBody>
      </p:sp>
      <p:sp>
        <p:nvSpPr>
          <p:cNvPr id="8" name="Rectangle 7"/>
          <p:cNvSpPr/>
          <p:nvPr/>
        </p:nvSpPr>
        <p:spPr>
          <a:xfrm>
            <a:off x="4663440" y="1097280"/>
            <a:ext cx="4023360" cy="32004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92040" y="12344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 i="0">
                <a:solidFill>
                  <a:srgbClr val="0FA3A3"/>
                </a:solidFill>
                <a:latin typeface="Calibri"/>
              </a:rPr>
              <a:t>With functions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92040" y="1691640"/>
            <a:ext cx="35661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Steps written once, called by name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Fix in one place, fixed everywhere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Small named blocks that explain themselves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Defining and calling a function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  |  Python Basics, Functions and Files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374903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def starts a function definition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Parameters are the inputs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Defaults are used when nothing is passed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return sends a result back</a:t>
            </a:r>
          </a:p>
        </p:txBody>
      </p:sp>
      <p:sp>
        <p:nvSpPr>
          <p:cNvPr id="6" name="Rectangle 5"/>
          <p:cNvSpPr/>
          <p:nvPr/>
        </p:nvSpPr>
        <p:spPr>
          <a:xfrm>
            <a:off x="4434840" y="1097280"/>
            <a:ext cx="4251960" cy="329184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234439"/>
            <a:ext cx="3886200" cy="30175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094" b="0" i="0">
                <a:solidFill>
                  <a:srgbClr val="EAF7F5"/>
                </a:solidFill>
                <a:latin typeface="Courier New"/>
              </a:rPr>
              <a:t>def add_gst(price, rate=18):</a:t>
            </a:r>
          </a:p>
          <a:p>
            <a:r>
              <a:rPr sz="1094" b="0" i="0">
                <a:solidFill>
                  <a:srgbClr val="EAF7F5"/>
                </a:solidFill>
                <a:latin typeface="Courier New"/>
              </a:rPr>
              <a:t>    """Return the price including GST."""</a:t>
            </a:r>
          </a:p>
          <a:p>
            <a:r>
              <a:rPr sz="1094" b="0" i="0">
                <a:solidFill>
                  <a:srgbClr val="EAF7F5"/>
                </a:solidFill>
                <a:latin typeface="Courier New"/>
              </a:rPr>
              <a:t>    tax = price * rate / 100</a:t>
            </a:r>
          </a:p>
          <a:p>
            <a:r>
              <a:rPr sz="1094" b="0" i="0">
                <a:solidFill>
                  <a:srgbClr val="EAF7F5"/>
                </a:solidFill>
                <a:latin typeface="Courier New"/>
              </a:rPr>
              <a:t>    return price + tax</a:t>
            </a:r>
          </a:p>
          <a:p>
            <a:r>
              <a:rPr sz="1094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1094" b="0" i="0">
                <a:solidFill>
                  <a:srgbClr val="EAF7F5"/>
                </a:solidFill>
                <a:latin typeface="Courier New"/>
              </a:rPr>
              <a:t>print(add_gst(1000))</a:t>
            </a:r>
          </a:p>
          <a:p>
            <a:r>
              <a:rPr sz="1094" b="0" i="0">
                <a:solidFill>
                  <a:srgbClr val="EAF7F5"/>
                </a:solidFill>
                <a:latin typeface="Courier New"/>
              </a:rPr>
              <a:t>print(add_gst(1000, rate=5))</a:t>
            </a:r>
          </a:p>
          <a:p>
            <a:r>
              <a:rPr sz="1094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1094" b="0" i="0">
                <a:solidFill>
                  <a:srgbClr val="EAF7F5"/>
                </a:solidFill>
                <a:latin typeface="Courier New"/>
              </a:rPr>
              <a:t>Output:</a:t>
            </a:r>
          </a:p>
          <a:p>
            <a:r>
              <a:rPr sz="1094" b="0" i="0">
                <a:solidFill>
                  <a:srgbClr val="EAF7F5"/>
                </a:solidFill>
                <a:latin typeface="Courier New"/>
              </a:rPr>
              <a:t>1180.0</a:t>
            </a:r>
          </a:p>
          <a:p>
            <a:r>
              <a:rPr sz="1094" b="0" i="0">
                <a:solidFill>
                  <a:srgbClr val="EAF7F5"/>
                </a:solidFill>
                <a:latin typeface="Courier New"/>
              </a:rPr>
              <a:t>1050.0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Function vocabulary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  |  Python Basics, Functions and Files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822960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Term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Meaning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Example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Name in the definition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def greet(name)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Argument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Value passed in the call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greet("Mei")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Default value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Used when nothing is passed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rate=18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Return value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Result handed back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return total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Scope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Where a variable is visible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local vs global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538727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A function without return gives back None.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Built-in functions you will use every 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  |  Python Basics, Functions and Files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17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822960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Function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Example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len()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Number of items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len([3, 5, 7]) gives 3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sum(), min(), max()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Add up, smallest, largest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max([3, 9, 4]) gives 9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sorted()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New sorted list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sorted([3, 1, 2]) gives [1, 2, 3]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round()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Round a number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round(3.14159, 2) gives 3.14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enumerate()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Position and item together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for i, x in enumerate(items, start=1)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range()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A sequence of numbers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range(0, 10, 2)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86868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4000" b="1" i="0">
                <a:solidFill>
                  <a:srgbClr val="FF8A3D"/>
                </a:solidFill>
                <a:latin typeface="Cambria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8308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Cambria"/>
              </a:rPr>
              <a:t>Data structures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46888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CDEFEC"/>
                </a:solidFill>
                <a:latin typeface="Calibri"/>
              </a:rPr>
              <a:t>Session 3 (2 hrs): four ways to organise many values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The four built-in collections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  |  Python Basics, Functions and Files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19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82296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Type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Looks like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Ordered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Changeable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Duplicates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list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[1, 2, 2]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tuple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(1, 2, 2)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set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{1, 2}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dict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{"a": 1}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Keys: No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154679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Choose by asking: do I need order, changes, uniqueness or lookup by name?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Lists: your everyday collection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  |  Python Basics, Functions and Files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374903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Index from 0, negative counts from the end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append() adds, remove() deletes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Slicing [start:stop] copies a part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len() gives the size</a:t>
            </a:r>
          </a:p>
        </p:txBody>
      </p:sp>
      <p:sp>
        <p:nvSpPr>
          <p:cNvPr id="6" name="Rectangle 5"/>
          <p:cNvSpPr/>
          <p:nvPr/>
        </p:nvSpPr>
        <p:spPr>
          <a:xfrm>
            <a:off x="4434840" y="1097280"/>
            <a:ext cx="4251960" cy="329184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234439"/>
            <a:ext cx="3886200" cy="30175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282" b="0" i="0">
                <a:solidFill>
                  <a:srgbClr val="EAF7F5"/>
                </a:solidFill>
                <a:latin typeface="Courier New"/>
              </a:rPr>
              <a:t>fruits = ["apple", "mango", "kiwi"]</a:t>
            </a:r>
          </a:p>
          <a:p>
            <a:r>
              <a:rPr sz="1282" b="0" i="0">
                <a:solidFill>
                  <a:srgbClr val="EAF7F5"/>
                </a:solidFill>
                <a:latin typeface="Courier New"/>
              </a:rPr>
              <a:t>fruits.append("banana")</a:t>
            </a:r>
          </a:p>
          <a:p>
            <a:r>
              <a:rPr sz="1282" b="0" i="0">
                <a:solidFill>
                  <a:srgbClr val="EAF7F5"/>
                </a:solidFill>
                <a:latin typeface="Courier New"/>
              </a:rPr>
              <a:t>print(fruits[0], fruits[-1])</a:t>
            </a:r>
          </a:p>
          <a:p>
            <a:r>
              <a:rPr sz="1282" b="0" i="0">
                <a:solidFill>
                  <a:srgbClr val="EAF7F5"/>
                </a:solidFill>
                <a:latin typeface="Courier New"/>
              </a:rPr>
              <a:t>print(fruits[1:3])</a:t>
            </a:r>
          </a:p>
          <a:p>
            <a:r>
              <a:rPr sz="1282" b="0" i="0">
                <a:solidFill>
                  <a:srgbClr val="EAF7F5"/>
                </a:solidFill>
                <a:latin typeface="Courier New"/>
              </a:rPr>
              <a:t>print(len(fruits))</a:t>
            </a:r>
          </a:p>
          <a:p>
            <a:r>
              <a:rPr sz="1282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1282" b="0" i="0">
                <a:solidFill>
                  <a:srgbClr val="EAF7F5"/>
                </a:solidFill>
                <a:latin typeface="Courier New"/>
              </a:rPr>
              <a:t>Output:</a:t>
            </a:r>
          </a:p>
          <a:p>
            <a:r>
              <a:rPr sz="1282" b="0" i="0">
                <a:solidFill>
                  <a:srgbClr val="EAF7F5"/>
                </a:solidFill>
                <a:latin typeface="Courier New"/>
              </a:rPr>
              <a:t>apple banana</a:t>
            </a:r>
          </a:p>
          <a:p>
            <a:r>
              <a:rPr sz="1282" b="0" i="0">
                <a:solidFill>
                  <a:srgbClr val="EAF7F5"/>
                </a:solidFill>
                <a:latin typeface="Courier New"/>
              </a:rPr>
              <a:t>['mango', 'kiwi']</a:t>
            </a:r>
          </a:p>
          <a:p>
            <a:r>
              <a:rPr sz="1282" b="0" i="0">
                <a:solidFill>
                  <a:srgbClr val="EAF7F5"/>
                </a:solidFill>
                <a:latin typeface="Courier New"/>
              </a:rPr>
              <a:t>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Tuples and sets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  |  Python Basics, Functions and Files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21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97280"/>
            <a:ext cx="4023360" cy="32004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2344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 i="0">
                <a:solidFill>
                  <a:srgbClr val="FF8A3D"/>
                </a:solidFill>
                <a:latin typeface="Calibri"/>
              </a:rPr>
              <a:t>Tuple ( 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91640"/>
            <a:ext cx="35661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Ordered and cannot change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Good for fixed records: (lat, lon)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Can be unpacked: x, y = point</a:t>
            </a:r>
          </a:p>
        </p:txBody>
      </p:sp>
      <p:sp>
        <p:nvSpPr>
          <p:cNvPr id="8" name="Rectangle 7"/>
          <p:cNvSpPr/>
          <p:nvPr/>
        </p:nvSpPr>
        <p:spPr>
          <a:xfrm>
            <a:off x="4663440" y="1097280"/>
            <a:ext cx="4023360" cy="32004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92040" y="12344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 i="0">
                <a:solidFill>
                  <a:srgbClr val="0FA3A3"/>
                </a:solidFill>
                <a:latin typeface="Calibri"/>
              </a:rPr>
              <a:t>Set { 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92040" y="1691640"/>
            <a:ext cx="35661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Unique items only, no order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Remove duplicates: set(my_list)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Fast membership test: x in 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Union |, intersection &amp;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Dictionaries: look up by key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  |  Python Basics, Functions and Files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374903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Key value pairs, like a real dictionary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Keys must be unique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get() avoids errors for missing keys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items() loops over pairs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434840" y="1097280"/>
            <a:ext cx="4251960" cy="329184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234439"/>
            <a:ext cx="3886200" cy="30175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150" b="0" i="0">
                <a:solidFill>
                  <a:srgbClr val="EAF7F5"/>
                </a:solidFill>
                <a:latin typeface="Courier New"/>
              </a:rPr>
              <a:t>student = {"name": "Yuki", "score": 88}</a:t>
            </a:r>
          </a:p>
          <a:p>
            <a:r>
              <a:rPr sz="1150" b="0" i="0">
                <a:solidFill>
                  <a:srgbClr val="EAF7F5"/>
                </a:solidFill>
                <a:latin typeface="Courier New"/>
              </a:rPr>
              <a:t>student["city"] = "Chennai"</a:t>
            </a:r>
          </a:p>
          <a:p>
            <a:r>
              <a:rPr sz="1150" b="0" i="0">
                <a:solidFill>
                  <a:srgbClr val="EAF7F5"/>
                </a:solidFill>
                <a:latin typeface="Courier New"/>
              </a:rPr>
              <a:t>print(student["name"])</a:t>
            </a:r>
          </a:p>
          <a:p>
            <a:r>
              <a:rPr sz="1150" b="0" i="0">
                <a:solidFill>
                  <a:srgbClr val="EAF7F5"/>
                </a:solidFill>
                <a:latin typeface="Courier New"/>
              </a:rPr>
              <a:t>print(student.get("age", "N/A"))</a:t>
            </a:r>
          </a:p>
          <a:p>
            <a:r>
              <a:rPr sz="1150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1150" b="0" i="0">
                <a:solidFill>
                  <a:srgbClr val="EAF7F5"/>
                </a:solidFill>
                <a:latin typeface="Courier New"/>
              </a:rPr>
              <a:t>for key, value in student.items():</a:t>
            </a:r>
          </a:p>
          <a:p>
            <a:r>
              <a:rPr sz="1150" b="0" i="0">
                <a:solidFill>
                  <a:srgbClr val="EAF7F5"/>
                </a:solidFill>
                <a:latin typeface="Courier New"/>
              </a:rPr>
              <a:t>    print(key, ":", value)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Nested data: how real data looks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  |  Python Basics, Functions and Files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0" y="475488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1">
                <a:solidFill>
                  <a:srgbClr val="FF8A3D"/>
                </a:solidFill>
                <a:latin typeface="Calibri"/>
              </a:rPr>
              <a:t>Renshuu (練習): Practice. Add a third order!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374903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A list of dictionaries is like a table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Each dict is one row, keys are columns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Loop and access fields by name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This is exactly the shape of JSON</a:t>
            </a:r>
          </a:p>
        </p:txBody>
      </p:sp>
      <p:sp>
        <p:nvSpPr>
          <p:cNvPr id="7" name="Rectangle 6"/>
          <p:cNvSpPr/>
          <p:nvPr/>
        </p:nvSpPr>
        <p:spPr>
          <a:xfrm>
            <a:off x="4434840" y="1097280"/>
            <a:ext cx="4251960" cy="329184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17720" y="1234439"/>
            <a:ext cx="3886200" cy="30175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122" b="0" i="0">
                <a:solidFill>
                  <a:srgbClr val="EAF7F5"/>
                </a:solidFill>
                <a:latin typeface="Courier New"/>
              </a:rPr>
              <a:t>orders = [</a:t>
            </a:r>
          </a:p>
          <a:p>
            <a:r>
              <a:rPr sz="1122" b="0" i="0">
                <a:solidFill>
                  <a:srgbClr val="EAF7F5"/>
                </a:solidFill>
                <a:latin typeface="Courier New"/>
              </a:rPr>
              <a:t>    {"id": 1, "item": "Pen", "qty": 3},</a:t>
            </a:r>
          </a:p>
          <a:p>
            <a:r>
              <a:rPr sz="1122" b="0" i="0">
                <a:solidFill>
                  <a:srgbClr val="EAF7F5"/>
                </a:solidFill>
                <a:latin typeface="Courier New"/>
              </a:rPr>
              <a:t>    {"id": 2, "item": "Book", "qty": 1},</a:t>
            </a:r>
          </a:p>
          <a:p>
            <a:r>
              <a:rPr sz="1122" b="0" i="0">
                <a:solidFill>
                  <a:srgbClr val="EAF7F5"/>
                </a:solidFill>
                <a:latin typeface="Courier New"/>
              </a:rPr>
              <a:t>]</a:t>
            </a:r>
          </a:p>
          <a:p>
            <a:r>
              <a:rPr sz="1122" b="0" i="0">
                <a:solidFill>
                  <a:srgbClr val="EAF7F5"/>
                </a:solidFill>
                <a:latin typeface="Courier New"/>
              </a:rPr>
              <a:t>for o in orders:</a:t>
            </a:r>
          </a:p>
          <a:p>
            <a:r>
              <a:rPr sz="1122" b="0" i="0">
                <a:solidFill>
                  <a:srgbClr val="EAF7F5"/>
                </a:solidFill>
                <a:latin typeface="Courier New"/>
              </a:rPr>
              <a:t>    print(o["item"], "x", o["qty"])</a:t>
            </a:r>
          </a:p>
          <a:p>
            <a:r>
              <a:rPr sz="1122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1122" b="0" i="0">
                <a:solidFill>
                  <a:srgbClr val="EAF7F5"/>
                </a:solidFill>
                <a:latin typeface="Courier New"/>
              </a:rPr>
              <a:t>total = sum(o["qty"] for o in orders)</a:t>
            </a:r>
          </a:p>
          <a:p>
            <a:r>
              <a:rPr sz="1122" b="0" i="0">
                <a:solidFill>
                  <a:srgbClr val="EAF7F5"/>
                </a:solidFill>
                <a:latin typeface="Courier New"/>
              </a:rPr>
              <a:t>print("Total items:", total)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86868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4000" b="1" i="0">
                <a:solidFill>
                  <a:srgbClr val="FF8A3D"/>
                </a:solidFill>
                <a:latin typeface="Cambria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8308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Cambria"/>
              </a:rPr>
              <a:t>File handling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46888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CDEFEC"/>
                </a:solidFill>
                <a:latin typeface="Calibri"/>
              </a:rPr>
              <a:t>Session 4 (1.5 hrs): keep data after the program ends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Working with a file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  |  Python Basics, Functions and Files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25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2529840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493520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93520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23469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Open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560320"/>
            <a:ext cx="231038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open(path, mode) with r, w or a</a:t>
            </a:r>
          </a:p>
        </p:txBody>
      </p:sp>
      <p:sp>
        <p:nvSpPr>
          <p:cNvPr id="10" name="Chevron 9"/>
          <p:cNvSpPr/>
          <p:nvPr/>
        </p:nvSpPr>
        <p:spPr>
          <a:xfrm>
            <a:off x="3069336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07080" y="1371600"/>
            <a:ext cx="2529840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343400" y="1554480"/>
            <a:ext cx="457200" cy="457200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43400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98520" y="2148840"/>
            <a:ext cx="23469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Read or write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16808" y="2560320"/>
            <a:ext cx="231038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read(), readlines(), write()</a:t>
            </a:r>
          </a:p>
        </p:txBody>
      </p:sp>
      <p:sp>
        <p:nvSpPr>
          <p:cNvPr id="16" name="Chevron 15"/>
          <p:cNvSpPr/>
          <p:nvPr/>
        </p:nvSpPr>
        <p:spPr>
          <a:xfrm>
            <a:off x="5919216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56960" y="1371600"/>
            <a:ext cx="2529840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193280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93280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48400" y="2148840"/>
            <a:ext cx="23469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Close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6688" y="2560320"/>
            <a:ext cx="231038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with closes the file for you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977639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Always prefer: with open("notes.txt", "w") as f: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CSV files: spreadsheets as 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  |  Python Basics, Functions and Files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374903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CSV stores rows, comma separated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csv.DictWriter writes dicts as rows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csv.DictReader reads rows as dicts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Values come back as text: cast numbers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434840" y="1097280"/>
            <a:ext cx="4251960" cy="329184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234439"/>
            <a:ext cx="3886200" cy="30175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997" b="0" i="0">
                <a:solidFill>
                  <a:srgbClr val="EAF7F5"/>
                </a:solidFill>
                <a:latin typeface="Courier New"/>
              </a:rPr>
              <a:t>import csv</a:t>
            </a:r>
          </a:p>
          <a:p>
            <a:r>
              <a:rPr sz="997" b="0" i="0">
                <a:solidFill>
                  <a:srgbClr val="EAF7F5"/>
                </a:solidFill>
                <a:latin typeface="Courier New"/>
              </a:rPr>
              <a:t>rows = [{"name": "Ana", "marks": 81},</a:t>
            </a:r>
          </a:p>
          <a:p>
            <a:r>
              <a:rPr sz="997" b="0" i="0">
                <a:solidFill>
                  <a:srgbClr val="EAF7F5"/>
                </a:solidFill>
                <a:latin typeface="Courier New"/>
              </a:rPr>
              <a:t>        {"name": "Ken", "marks": 67}]</a:t>
            </a:r>
          </a:p>
          <a:p>
            <a:r>
              <a:rPr sz="997" b="0" i="0">
                <a:solidFill>
                  <a:srgbClr val="EAF7F5"/>
                </a:solidFill>
                <a:latin typeface="Courier New"/>
              </a:rPr>
              <a:t>with open("marks.csv", "w", newline="") as f:</a:t>
            </a:r>
          </a:p>
          <a:p>
            <a:r>
              <a:rPr sz="997" b="0" i="0">
                <a:solidFill>
                  <a:srgbClr val="EAF7F5"/>
                </a:solidFill>
                <a:latin typeface="Courier New"/>
              </a:rPr>
              <a:t>    w = csv.DictWriter(f, ["name", "marks"])</a:t>
            </a:r>
          </a:p>
          <a:p>
            <a:r>
              <a:rPr sz="997" b="0" i="0">
                <a:solidFill>
                  <a:srgbClr val="EAF7F5"/>
                </a:solidFill>
                <a:latin typeface="Courier New"/>
              </a:rPr>
              <a:t>    w.writeheader()</a:t>
            </a:r>
          </a:p>
          <a:p>
            <a:r>
              <a:rPr sz="997" b="0" i="0">
                <a:solidFill>
                  <a:srgbClr val="EAF7F5"/>
                </a:solidFill>
                <a:latin typeface="Courier New"/>
              </a:rPr>
              <a:t>    w.writerows(rows)</a:t>
            </a:r>
          </a:p>
          <a:p>
            <a:r>
              <a:rPr sz="997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997" b="0" i="0">
                <a:solidFill>
                  <a:srgbClr val="EAF7F5"/>
                </a:solidFill>
                <a:latin typeface="Courier New"/>
              </a:rPr>
              <a:t>with open("marks.csv") as f:</a:t>
            </a:r>
          </a:p>
          <a:p>
            <a:r>
              <a:rPr sz="997" b="0" i="0">
                <a:solidFill>
                  <a:srgbClr val="EAF7F5"/>
                </a:solidFill>
                <a:latin typeface="Courier New"/>
              </a:rPr>
              <a:t>    for r in csv.DictReader(f):</a:t>
            </a:r>
          </a:p>
          <a:p>
            <a:r>
              <a:rPr sz="997" b="0" i="0">
                <a:solidFill>
                  <a:srgbClr val="EAF7F5"/>
                </a:solidFill>
                <a:latin typeface="Courier New"/>
              </a:rPr>
              <a:t>        print(r["name"], int(r["marks"]))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JSON files: the language of APIs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  |  Python Basics, Functions and Files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374903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JSON looks like Python dicts and lists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json.dump writes, json.load reads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indent=2 makes it human friendly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You will use JSON in every API in this course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4434840" y="1097280"/>
            <a:ext cx="4251960" cy="329184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234439"/>
            <a:ext cx="3886200" cy="30175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122" b="0" i="0">
                <a:solidFill>
                  <a:srgbClr val="EAF7F5"/>
                </a:solidFill>
                <a:latin typeface="Courier New"/>
              </a:rPr>
              <a:t>import json</a:t>
            </a:r>
          </a:p>
          <a:p>
            <a:r>
              <a:rPr sz="1122" b="0" i="0">
                <a:solidFill>
                  <a:srgbClr val="EAF7F5"/>
                </a:solidFill>
                <a:latin typeface="Courier New"/>
              </a:rPr>
              <a:t>ticket = {"id": 1, "customer": "Mei",</a:t>
            </a:r>
          </a:p>
          <a:p>
            <a:r>
              <a:rPr sz="1122" b="0" i="0">
                <a:solidFill>
                  <a:srgbClr val="EAF7F5"/>
                </a:solidFill>
                <a:latin typeface="Courier New"/>
              </a:rPr>
              <a:t>          "issue": "No signal",</a:t>
            </a:r>
          </a:p>
          <a:p>
            <a:r>
              <a:rPr sz="1122" b="0" i="0">
                <a:solidFill>
                  <a:srgbClr val="EAF7F5"/>
                </a:solidFill>
                <a:latin typeface="Courier New"/>
              </a:rPr>
              <a:t>          "tags": ["network", "urgent"]}</a:t>
            </a:r>
          </a:p>
          <a:p>
            <a:r>
              <a:rPr sz="1122" b="0" i="0">
                <a:solidFill>
                  <a:srgbClr val="EAF7F5"/>
                </a:solidFill>
                <a:latin typeface="Courier New"/>
              </a:rPr>
              <a:t>with open("tickets.json", "w") as f:</a:t>
            </a:r>
          </a:p>
          <a:p>
            <a:r>
              <a:rPr sz="1122" b="0" i="0">
                <a:solidFill>
                  <a:srgbClr val="EAF7F5"/>
                </a:solidFill>
                <a:latin typeface="Courier New"/>
              </a:rPr>
              <a:t>    json.dump([ticket], f, indent=2)</a:t>
            </a:r>
          </a:p>
          <a:p>
            <a:r>
              <a:rPr sz="1122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1122" b="0" i="0">
                <a:solidFill>
                  <a:srgbClr val="EAF7F5"/>
                </a:solidFill>
                <a:latin typeface="Courier New"/>
              </a:rPr>
              <a:t>with open("tickets.json") as f:</a:t>
            </a:r>
          </a:p>
          <a:p>
            <a:r>
              <a:rPr sz="1122" b="0" i="0">
                <a:solidFill>
                  <a:srgbClr val="EAF7F5"/>
                </a:solidFill>
                <a:latin typeface="Courier New"/>
              </a:rPr>
              <a:t>    data = json.load(f)</a:t>
            </a:r>
          </a:p>
          <a:p>
            <a:r>
              <a:rPr sz="1122" b="0" i="0">
                <a:solidFill>
                  <a:srgbClr val="EAF7F5"/>
                </a:solidFill>
                <a:latin typeface="Courier New"/>
              </a:rPr>
              <a:t>print(data[0]["tags"][0])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CSV or JSON?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  |  Python Basics, Functions and Files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28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82296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Question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CSV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JSON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Shape of data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Flat rows and columns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Nested objects and lists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Opens in Excel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Not directly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Used by web APIs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Rarely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Almost always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Data types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Everything is text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Numbers, bools, null kept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154679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Rule of thumb: tables go to CSV, structured records go to JSON.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SmartDesk: our running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  |  Python Basics, Functions and Files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29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What it 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A customer support platform for a telecom operator.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863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How it grows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91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One step per technical day, from a CLI to an agentic AI app.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Step 1 today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A CLI ticket logger: add, list and save tickets to JSON.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863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691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91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721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Where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691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shared/SmartDesk/ and Day02_App_Build_Prompts.md.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SmartDesk step 1: CLI ticket logger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  |  Python Basics, Functions and Files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374903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Each ticket is a dict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Functions: load, save, add, list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Tickets saved to tickets.json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Survives a restart</a:t>
            </a:r>
          </a:p>
        </p:txBody>
      </p:sp>
      <p:sp>
        <p:nvSpPr>
          <p:cNvPr id="6" name="Rectangle 5"/>
          <p:cNvSpPr/>
          <p:nvPr/>
        </p:nvSpPr>
        <p:spPr>
          <a:xfrm>
            <a:off x="4434840" y="1097280"/>
            <a:ext cx="4251960" cy="329184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234439"/>
            <a:ext cx="3886200" cy="30175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122" b="0" i="0">
                <a:solidFill>
                  <a:srgbClr val="EAF7F5"/>
                </a:solidFill>
                <a:latin typeface="Courier New"/>
              </a:rPr>
              <a:t>def add_ticket(tickets, customer, issue,</a:t>
            </a:r>
          </a:p>
          <a:p>
            <a:r>
              <a:rPr sz="1122" b="0" i="0">
                <a:solidFill>
                  <a:srgbClr val="EAF7F5"/>
                </a:solidFill>
                <a:latin typeface="Courier New"/>
              </a:rPr>
              <a:t>               priority="medium"):</a:t>
            </a:r>
          </a:p>
          <a:p>
            <a:r>
              <a:rPr sz="1122" b="0" i="0">
                <a:solidFill>
                  <a:srgbClr val="EAF7F5"/>
                </a:solidFill>
                <a:latin typeface="Courier New"/>
              </a:rPr>
              <a:t>    ticket = {"id": len(tickets) + 1,</a:t>
            </a:r>
          </a:p>
          <a:p>
            <a:r>
              <a:rPr sz="1122" b="0" i="0">
                <a:solidFill>
                  <a:srgbClr val="EAF7F5"/>
                </a:solidFill>
                <a:latin typeface="Courier New"/>
              </a:rPr>
              <a:t>              "customer": customer,</a:t>
            </a:r>
          </a:p>
          <a:p>
            <a:r>
              <a:rPr sz="1122" b="0" i="0">
                <a:solidFill>
                  <a:srgbClr val="EAF7F5"/>
                </a:solidFill>
                <a:latin typeface="Courier New"/>
              </a:rPr>
              <a:t>              "issue": issue,</a:t>
            </a:r>
          </a:p>
          <a:p>
            <a:r>
              <a:rPr sz="1122" b="0" i="0">
                <a:solidFill>
                  <a:srgbClr val="EAF7F5"/>
                </a:solidFill>
                <a:latin typeface="Courier New"/>
              </a:rPr>
              <a:t>              "priority": priority,</a:t>
            </a:r>
          </a:p>
          <a:p>
            <a:r>
              <a:rPr sz="1122" b="0" i="0">
                <a:solidFill>
                  <a:srgbClr val="EAF7F5"/>
                </a:solidFill>
                <a:latin typeface="Courier New"/>
              </a:rPr>
              <a:t>              "status": "open"}</a:t>
            </a:r>
          </a:p>
          <a:p>
            <a:r>
              <a:rPr sz="1122" b="0" i="0">
                <a:solidFill>
                  <a:srgbClr val="EAF7F5"/>
                </a:solidFill>
                <a:latin typeface="Courier New"/>
              </a:rPr>
              <a:t>    tickets.append(ticket)</a:t>
            </a:r>
          </a:p>
          <a:p>
            <a:r>
              <a:rPr sz="1122" b="0" i="0">
                <a:solidFill>
                  <a:srgbClr val="EAF7F5"/>
                </a:solidFill>
                <a:latin typeface="Courier New"/>
              </a:rPr>
              <a:t>    return ticket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Hands-on time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  |  Python Basics, Functions and Files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0" y="475488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1">
                <a:solidFill>
                  <a:srgbClr val="FF8A3D"/>
                </a:solidFill>
                <a:latin typeface="Calibri"/>
              </a:rPr>
              <a:t>Ganbatte (頑張って): Do your best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31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88720"/>
            <a:ext cx="8229600" cy="1737360"/>
          </a:xfrm>
          <a:prstGeom prst="rect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7680960" cy="1463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000" b="1" i="0">
                <a:solidFill>
                  <a:srgbClr val="FFFFFF"/>
                </a:solidFill>
                <a:latin typeface="Cambria"/>
              </a:rPr>
              <a:t>Build the contact book, then the SmartDesk ticket logger: functions first, then the data, then save it to a file.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154680"/>
            <a:ext cx="8229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0">
                <a:solidFill>
                  <a:srgbClr val="0E3B43"/>
                </a:solidFill>
                <a:latin typeface="Calibri"/>
              </a:rPr>
              <a:t>Test each function on its own before connecting them together. Work in pairs and explain your code out loud.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Key 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  |  Python Basics, Functions and Files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32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Basics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Variables, types, casting, if/elif/else, for and while.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863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Functions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91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def, parameters, defaults, return. Small, named and reusable.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Collections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list ordered, tuple fixed, set unique, dict key value.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863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691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91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721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Files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691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with open() for text, csv for tables, json for nested records.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Before tomorrow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  |  Python Basics, Functions and Files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33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0">
                <a:solidFill>
                  <a:srgbClr val="0FA3A3"/>
                </a:solidFill>
                <a:latin typeface="Calibri"/>
              </a:rPr>
              <a:t>Tomorrow starts with a 15 question quiz on today's topics.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2590800" cy="30632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15544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5544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5544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Hotel lab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29967"/>
            <a:ext cx="2225040" cy="2285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Follow Day02_Hotel_Lab.md: post-read, notebook, problems, workbook.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76600" y="1371600"/>
            <a:ext cx="2590800" cy="30632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459480" y="15544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59480" y="15544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62400" y="15544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Workbook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59480" y="2029967"/>
            <a:ext cx="2225040" cy="2285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Complete the Day 2 workbook.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6000" y="1371600"/>
            <a:ext cx="2590800" cy="30632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278880" y="15544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78880" y="15544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800" y="15544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Pre-read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78880" y="2029967"/>
            <a:ext cx="2225040" cy="2285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Read the Day 3 pre-read: objects, good habits and OpenAI Codex setup.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91440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400" b="1" i="0">
                <a:solidFill>
                  <a:srgbClr val="FFFFFF"/>
                </a:solidFill>
                <a:latin typeface="Cambria"/>
              </a:rPr>
              <a:t>Connect with 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05740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0" i="0">
                <a:solidFill>
                  <a:srgbClr val="CDEFEC"/>
                </a:solidFill>
                <a:latin typeface="Calibri"/>
              </a:rPr>
              <a:t>Questions after class, feedback, or want to share what you built today? Reach out on LinkedIn.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3108960"/>
            <a:ext cx="4114800" cy="5029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108960"/>
            <a:ext cx="3840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1" i="0">
                <a:solidFill>
                  <a:srgbClr val="FFFFFF"/>
                </a:solidFill>
                <a:latin typeface="Calibri"/>
              </a:rPr>
              <a:t>Ahmed</a:t>
            </a:r>
            <a:r>
              <a:rPr sz="1300" b="0" i="0">
                <a:solidFill>
                  <a:srgbClr val="FFFFFF"/>
                </a:solidFill>
                <a:latin typeface="Calibri"/>
              </a:rPr>
              <a:t>   linkedin.com/in/ahmed-al-imaad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91440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400" b="1" i="0">
                <a:solidFill>
                  <a:srgbClr val="FFFFFF"/>
                </a:solidFill>
                <a:latin typeface="Cambria"/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05740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0" i="0">
                <a:solidFill>
                  <a:srgbClr val="CDEFEC"/>
                </a:solidFill>
                <a:latin typeface="Calibri"/>
              </a:rPr>
              <a:t>See you tomorrow for Day 3: OOP and the OpenAI Codex walkthrough.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0" y="4754880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1">
                <a:solidFill>
                  <a:srgbClr val="CDEFEC"/>
                </a:solidFill>
                <a:latin typeface="Calibri"/>
              </a:rPr>
              <a:t>Otsukaresama deshita (お疲れ様でした): Thank you for your hard work today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