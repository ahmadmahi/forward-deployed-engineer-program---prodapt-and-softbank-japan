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400" b="1" i="0">
                <a:solidFill>
                  <a:srgbClr val="FF8A3D"/>
                </a:solidFill>
                <a:latin typeface="Calibri"/>
              </a:rPr>
              <a:t>DAY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API Fundamentals and FastAPI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42316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REST, HTTP and status codes, then FastAPI routing, parameters, Pydantic models and CRUD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3291840"/>
            <a:ext cx="164592" cy="164592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96112" y="3291840"/>
            <a:ext cx="164592" cy="164592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52144" y="3291840"/>
            <a:ext cx="164592" cy="16459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611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200" b="0" i="0">
                <a:solidFill>
                  <a:srgbClr val="CDEFEC"/>
                </a:solidFill>
                <a:latin typeface="Calibri"/>
              </a:rPr>
              <a:t>Fri 30 Oct 2026  |  Basics track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06908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Prepared by Ahmed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31596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00" b="0" i="0">
                <a:solidFill>
                  <a:srgbClr val="CDEFEC"/>
                </a:solidFill>
                <a:latin typeface="Calibri"/>
              </a:rPr>
              <a:t>linkedin.com/in/ahmed-al-imaad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Today's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5  |  API Fundamentals and FastAPI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Ohayou gozaimasu (おはようございます): Good morning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Quiz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15 questions on Day 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REST and HTTP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Methods, status codes, the request-response lifecycle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FastAPI setup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Uvicorn, routing, path and query parameters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Pydantic and CRUD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Data contracts and a full in-memory API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Codex endpoint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Generate, review and test. NEW (v4)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Assessment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Basics assessment 1, 1.5 hours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By the end of today you can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5  |  API Fundamentals and FastAPI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Explain REST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Describe resources, URLs, methods and stateless requests.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Use HTTP well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Pick the right method and status code for each action.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a FastAPI app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Routes, path and query parameters, Pydantic models, full CRUD.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Review AI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Generate an endpoint with Codex, then review and test every line.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How the web talks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1 | 1 Hr | REST, HTTP methods and status codes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Anatomy of an HTTP exchange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5  |  API Fundamentals and FastAPI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5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What to do: GET, POST...</a:t>
            </a:r>
          </a:p>
        </p:txBody>
      </p:sp>
      <p:sp>
        <p:nvSpPr>
          <p:cNvPr id="10" name="Chevron 9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URL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Which resource: /products/42</a:t>
            </a:r>
          </a:p>
        </p:txBody>
      </p:sp>
      <p:sp>
        <p:nvSpPr>
          <p:cNvPr id="16" name="Chevron 15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Headers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Extra info: content type, auth</a:t>
            </a:r>
          </a:p>
        </p:txBody>
      </p:sp>
      <p:sp>
        <p:nvSpPr>
          <p:cNvPr id="22" name="Chevron 21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Body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Data sent, usually JSON</a:t>
            </a:r>
          </a:p>
        </p:txBody>
      </p:sp>
      <p:sp>
        <p:nvSpPr>
          <p:cNvPr id="28" name="Chevron 27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Response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Status code + JSON body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The request-response lifecycle: client sends, server validates, acts, and replies with a status code.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request and a response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5  |  API Fundamentals and FastAPI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The request line holds method and path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Headers describe the content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The body carries JSON data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The response starts with a status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78" b="0" i="0">
                <a:solidFill>
                  <a:srgbClr val="EAF7F5"/>
                </a:solidFill>
                <a:latin typeface="Courier New"/>
              </a:rPr>
              <a:t>POST /products HTTP/1.1</a:t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>Host: api.shop.com</a:t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>Content-Type: application/json</a:t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>{"name": "Pen", "price": 20}</a:t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>HTTP/1.1 201 Created</a:t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>Content-Type: application/json</a:t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>{"id": 7, "name": "Pen", "price": 20}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Five REST ideas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5  |  API Fundamentals and FastAPI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Resources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Everything is a noun: products, orders, users.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URLs identify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/products/42 points to one product.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Methods 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The HTTP method says what to do with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Stateless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Each request carries all it needs.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JSON in and out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 common, readable format for data.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Consistent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Same patterns everywhere, fewer surprises.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HTTP methods and CRUD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5  |  API Fundamentals and FastAPI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CRUD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Has body?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GET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Read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GET /products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POST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Create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POST /products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PUT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Replace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PUT /products/42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PATCH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Partial update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PATCH /products/42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DELETE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Delete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DELETE /products/42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Usually no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3538727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GET must never change data. GET, PUT and DELETE are idempotent; POST is not.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Good and poor URL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5  |  API Fundamentals and FastAPI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Avoid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/getAllProducts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/createProduct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/deleteProduct?id=42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/Products_List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Prefer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GET /products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POST /products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DELETE /products/42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Plural nouns, lowercase, no verbs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Status codes you will use daily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5  |  API Fundamentals and FastAPI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Code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200 OK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Success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GET, PUT, PATCH worked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201 Created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New resource made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POST worked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204 No Content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Success, nothing to return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DELETE worked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400 / 422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Bad request or invalid data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Missing or wrong fields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401 / 403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Not logged in / not allowed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Auth problems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404 Not Found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Resource does not exist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Wrong id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5xx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Server error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0E3B43"/>
                          </a:solidFill>
                          <a:latin typeface="Calibri"/>
                        </a:rPr>
                        <a:t>We broke something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The first digit tells you who should fix it: 2xx fine, 4xx the client, 5xx the server.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FastAPI setup and routing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2 | 2 Hrs | Uvicorn, routes, path and query parameters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Why FastAPI?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5  |  API Fundamentals and FastAPI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Type hints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Uses the Python type hints you met on Day 2.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Auto validation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Bad data is rejected with clear 422 errors.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Free docs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Interactive Swagger page at /docs.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Fast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One of the quickest Python frameworks.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Setting up FastAPI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5  |  API Fundamentals and FastAPI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3728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3728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Install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pip install fastapi uvicorn</a:t>
            </a:r>
          </a:p>
        </p:txBody>
      </p:sp>
      <p:sp>
        <p:nvSpPr>
          <p:cNvPr id="10" name="Chevron 9"/>
          <p:cNvSpPr/>
          <p:nvPr/>
        </p:nvSpPr>
        <p:spPr>
          <a:xfrm>
            <a:off x="2356865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9461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27469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7469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86050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0433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main.py with app = FastAPI()</a:t>
            </a:r>
          </a:p>
        </p:txBody>
      </p:sp>
      <p:sp>
        <p:nvSpPr>
          <p:cNvPr id="16" name="Chevron 15"/>
          <p:cNvSpPr/>
          <p:nvPr/>
        </p:nvSpPr>
        <p:spPr>
          <a:xfrm>
            <a:off x="449427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32020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412105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210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2345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Run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1748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uvicorn main:app --reload</a:t>
            </a:r>
          </a:p>
        </p:txBody>
      </p:sp>
      <p:sp>
        <p:nvSpPr>
          <p:cNvPr id="22" name="Chevron 21"/>
          <p:cNvSpPr/>
          <p:nvPr/>
        </p:nvSpPr>
        <p:spPr>
          <a:xfrm>
            <a:off x="6631686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69429" y="1371600"/>
            <a:ext cx="1817370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549515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9515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0869" y="2148840"/>
            <a:ext cx="163449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Open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79157" y="2560320"/>
            <a:ext cx="1597914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127.0.0.1:8000/docs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In Colab we test with TestClient, which calls the API without a running server.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Your first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5  |  API Fundamentals and FastAPI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Kantan (簡単): Easy! That is a complete API.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app = FastAPI() creates the application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@app.get is a decorator (Day 3)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The function's return becomes JSON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Path parameters come from the URL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78" b="0" i="0">
                <a:solidFill>
                  <a:srgbClr val="EAF7F5"/>
                </a:solidFill>
                <a:latin typeface="Courier New"/>
              </a:rPr>
              <a:t>from fastapi import FastAPI</a:t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>app = FastAPI()</a:t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>@app.get("/")</a:t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>def home():</a:t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>    return {"message": "Hello, API"}</a:t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>@app.get("/products/{pid}")</a:t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>def get_product(pid: int):</a:t>
            </a:r>
          </a:p>
          <a:p>
            <a:r>
              <a:rPr sz="1378" b="0" i="0">
                <a:solidFill>
                  <a:srgbClr val="EAF7F5"/>
                </a:solidFill>
                <a:latin typeface="Courier New"/>
              </a:rPr>
              <a:t>    return {"id": pid, "name": "Pen"}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Three kinds of parameters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5  |  API Fundamentals and FastAPI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15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Kind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Where it lives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Use it for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In the URL path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Identify one resource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/books/{book_id}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Query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After ? in the URL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Filter, sort, paginate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/books?author=Ito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Body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JSON in the request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Data to create or update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{"title": "..."}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770632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FastAPI decides by type: simple types not in the path are query; Pydantic models are body.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Path and query parameters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5  |  API Fundamentals and FastAPI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Path params are required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Query params with defaults are optional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None means not provided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Query() adds rules like ge and 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133" b="0" i="0">
                <a:solidFill>
                  <a:srgbClr val="EAF7F5"/>
                </a:solidFill>
                <a:latin typeface="Courier New"/>
              </a:rPr>
              <a:t>from fastapi import Query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@app.get("/books/{book_id}")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def get_book(book_id: int):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  return {"id": book_id}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@app.get("/books")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def list_books(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  author: str | None = None,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  limit: int = Query(10, ge=1, le=100),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):</a:t>
            </a:r>
          </a:p>
          <a:p>
            <a:r>
              <a:rPr sz="1133" b="0" i="0">
                <a:solidFill>
                  <a:srgbClr val="EAF7F5"/>
                </a:solidFill>
                <a:latin typeface="Courier New"/>
              </a:rPr>
              <a:t>    return {"author": author, "limit": limit}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APIRouter and the right status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5  |  API Fundamentals and FastAPI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One router per resource, with a prefix and tags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Set status_code on the decorator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Raise HTTPException for errors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FastAPI turns it into a JSON error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62" b="0" i="0">
                <a:solidFill>
                  <a:srgbClr val="EAF7F5"/>
                </a:solidFill>
                <a:latin typeface="Courier New"/>
              </a:rPr>
              <a:t>from fastapi import APIRouter, HTTPException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router = APIRouter(prefix="/quotes", tags=["Quotes"])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quotes = {1: "Small steps every day."}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@router.get("/{qid}")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def read(qid: int):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    if qid not in quotes: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        raise HTTPException(404, "Quote not found")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    return {"id": qid, "text": quotes[qid]}</a:t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62" b="0" i="0">
                <a:solidFill>
                  <a:srgbClr val="EAF7F5"/>
                </a:solidFill>
                <a:latin typeface="Courier New"/>
              </a:rPr>
              <a:t>app.include_router(router)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Pydantic models and CRUD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3 | 2 Hrs | Data contracts and an in-memory API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Why a data contract?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5  |  API Fundamentals and FastAPI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Plain dict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Any field, any type, anything goes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Bugs appear deep in the code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No documentation for clients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663440" y="1097280"/>
            <a:ext cx="4023360" cy="32004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Pydantic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Fields and types are declared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Bad data rejected at the door with 422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Shows up in /docs automatically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Request and response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5  |  API Fundamentals and FastAPI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Inherit from BaseModel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Field() adds rules and examples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response_model shapes what is returned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Invalid input never reaches your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27" b="0" i="0">
                <a:solidFill>
                  <a:srgbClr val="EAF7F5"/>
                </a:solidFill>
                <a:latin typeface="Courier New"/>
              </a:rPr>
              <a:t>from pydantic import BaseModel, Field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class BookCreate(BaseModel):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    title: str = Field(min_length=1)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    author: str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    pages: int = Field(gt=0)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class Book(BookCreate):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    id: int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@app.post("/books", response_model=Book,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          status_code=201)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def create(data: BookCreate):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    book = Book(id=len(books) + 1, **data.model_dump())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    books[book.id] = book</a:t>
            </a:r>
          </a:p>
          <a:p>
            <a:r>
              <a:rPr sz="927" b="0" i="0">
                <a:solidFill>
                  <a:srgbClr val="EAF7F5"/>
                </a:solidFill>
                <a:latin typeface="Courier New"/>
              </a:rPr>
              <a:t>    return book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Separate models for separate jobs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5  |  API Fundamentals and FastAPI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This pattern protects private fields and keeps clients simple.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Create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What the client sends to create: no id.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Update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All fields optional for PATCH.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Response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What we send back: with id, never passwords.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complete books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5  |  API Fundamentals and FastAPI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229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Method and path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Body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Success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Errors</a:t>
                      </a:r>
                    </a:p>
                  </a:txBody>
                  <a:tcPr marL="73152" marR="73152" marT="27432" marB="27432">
                    <a:solidFill>
                      <a:srgbClr val="0FA3A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GET /books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200 list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GET /books/{id}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200 Book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404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POST /books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BookCreate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201 Book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422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PATCH /books/{id}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BookUpdate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200 Book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404, 422</a:t>
                      </a:r>
                    </a:p>
                  </a:txBody>
                  <a:tcPr marL="73152" marR="73152" marT="27432" marB="27432">
                    <a:solidFill>
                      <a:srgbClr val="EAF7F5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DELETE /books/{id}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None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204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0E3B43"/>
                          </a:solidFill>
                          <a:latin typeface="Calibri"/>
                        </a:rPr>
                        <a:t>404</a:t>
                      </a:r>
                    </a:p>
                  </a:txBody>
                  <a:tcPr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Partial updates with PATCH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5  |  API Fundamentals and FastAPI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Renshuu (練習): Practice. Try sending only one field!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3749039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Update model has all fields optional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exclude_unset keeps only sent fields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model_copy(update=...) merges them</a:t>
            </a:r>
          </a:p>
          <a:p>
            <a:pPr>
              <a:spcAft>
                <a:spcPts val="600"/>
              </a:spcAft>
            </a:pPr>
            <a:r>
              <a:rPr sz="1600" b="0" i="0">
                <a:solidFill>
                  <a:srgbClr val="0E3B43"/>
                </a:solidFill>
                <a:latin typeface="Calibri"/>
              </a:rPr>
              <a:t>•  404 if the id does not exist</a:t>
            </a:r>
          </a:p>
        </p:txBody>
      </p:sp>
      <p:sp>
        <p:nvSpPr>
          <p:cNvPr id="7" name="Rectangle 6"/>
          <p:cNvSpPr/>
          <p:nvPr/>
        </p:nvSpPr>
        <p:spPr>
          <a:xfrm>
            <a:off x="4434840" y="1097280"/>
            <a:ext cx="4251960" cy="329184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234439"/>
            <a:ext cx="388620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019" b="0" i="0">
                <a:solidFill>
                  <a:srgbClr val="EAF7F5"/>
                </a:solidFill>
                <a:latin typeface="Courier New"/>
              </a:rPr>
              <a:t>class BookUpdate(BaseModel):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title: str | None = None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pages: int | None = Field(default=None, gt=0)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/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@app.patch("/books/{bid}", response_model=Book)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def update(bid: int, data: BookUpdate):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if bid not in books: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    raise HTTPException(404, "Book not found")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ch = data.model_dump(exclude_unset=True)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books[bid] = books[bid].model_copy(update=ch)</a:t>
            </a:r>
          </a:p>
          <a:p>
            <a:r>
              <a:rPr sz="1019" b="0" i="0">
                <a:solidFill>
                  <a:srgbClr val="EAF7F5"/>
                </a:solidFill>
                <a:latin typeface="Courier New"/>
              </a:rPr>
              <a:t>    return books[bid]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68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4000" b="1" i="0">
                <a:solidFill>
                  <a:srgbClr val="FF8A3D"/>
                </a:solidFill>
                <a:latin typeface="Cambria"/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78308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000" b="1" i="0">
                <a:solidFill>
                  <a:srgbClr val="FFFFFF"/>
                </a:solidFill>
                <a:latin typeface="Cambria"/>
              </a:rPr>
              <a:t>Generate an endpoint with Codex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CDEFEC"/>
                </a:solidFill>
                <a:latin typeface="Calibri"/>
              </a:rPr>
              <a:t>Session 3 | Review it, test it, own 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635240" y="228600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2286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Describe, generate, review, test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5  |  API Fundamentals and FastAPI 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Describe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Method, path, models, status codes, errors</a:t>
            </a:r>
          </a:p>
        </p:txBody>
      </p:sp>
      <p:sp>
        <p:nvSpPr>
          <p:cNvPr id="12" name="Chevron 11"/>
          <p:cNvSpPr/>
          <p:nvPr/>
        </p:nvSpPr>
        <p:spPr>
          <a:xfrm>
            <a:off x="1929384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167128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633472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33472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58568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Generate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76856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Codex writes one endpoint, not the app</a:t>
            </a:r>
          </a:p>
        </p:txBody>
      </p:sp>
      <p:sp>
        <p:nvSpPr>
          <p:cNvPr id="18" name="Chevron 17"/>
          <p:cNvSpPr/>
          <p:nvPr/>
        </p:nvSpPr>
        <p:spPr>
          <a:xfrm>
            <a:off x="3639312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877056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343400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43400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68496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86784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Read every line of the diff</a:t>
            </a:r>
          </a:p>
        </p:txBody>
      </p:sp>
      <p:sp>
        <p:nvSpPr>
          <p:cNvPr id="24" name="Chevron 23"/>
          <p:cNvSpPr/>
          <p:nvPr/>
        </p:nvSpPr>
        <p:spPr>
          <a:xfrm>
            <a:off x="5349240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586984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053328" y="1554480"/>
            <a:ext cx="457200" cy="457200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53328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78424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Test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96712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TestClient: happy path and errors</a:t>
            </a:r>
          </a:p>
        </p:txBody>
      </p:sp>
      <p:sp>
        <p:nvSpPr>
          <p:cNvPr id="30" name="Chevron 29"/>
          <p:cNvSpPr/>
          <p:nvPr/>
        </p:nvSpPr>
        <p:spPr>
          <a:xfrm>
            <a:off x="7059168" y="2377440"/>
            <a:ext cx="155448" cy="274320"/>
          </a:xfrm>
          <a:prstGeom prst="chevron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296912" y="1371600"/>
            <a:ext cx="1389888" cy="228600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763256" y="1554480"/>
            <a:ext cx="457200" cy="457200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63256" y="15544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88352" y="2148840"/>
            <a:ext cx="1207008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0E3B43"/>
                </a:solidFill>
                <a:latin typeface="Calibri"/>
              </a:rPr>
              <a:t>Accept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560320"/>
            <a:ext cx="117043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1F4E55"/>
                </a:solidFill>
                <a:latin typeface="Calibri"/>
              </a:rPr>
              <a:t>Only code you can explain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3977639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Small, specific prompts give small, reviewable diffs and use fewer tokens.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good prompt for Codex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5  |  API Fundamentals and FastAPI 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8229600" cy="3108960"/>
          </a:xfrm>
          <a:prstGeom prst="rect">
            <a:avLst/>
          </a:prstGeom>
          <a:solidFill>
            <a:srgbClr val="0F2C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188719"/>
            <a:ext cx="7863840" cy="2834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6" b="0" i="0">
                <a:solidFill>
                  <a:srgbClr val="EAF7F5"/>
                </a:solidFill>
                <a:latin typeface="Courier New"/>
              </a:rPr>
              <a:t>Add a PATCH /books/{book_id} endpoint to app/main.py.</a:t>
            </a:r>
          </a:p>
          <a:p>
            <a:r>
              <a:rPr sz="1306" b="0" i="0">
                <a:solidFill>
                  <a:srgbClr val="EAF7F5"/>
                </a:solidFill>
                <a:latin typeface="Courier New"/>
              </a:rPr>
              <a:t>- Body: BookUpdate (all fields optional). Use model_dump(exclude_unset=True).</a:t>
            </a:r>
          </a:p>
          <a:p>
            <a:r>
              <a:rPr sz="1306" b="0" i="0">
                <a:solidFill>
                  <a:srgbClr val="EAF7F5"/>
                </a:solidFill>
                <a:latin typeface="Courier New"/>
              </a:rPr>
              <a:t>- 404 with detail "Book not found" if the id is missing.</a:t>
            </a:r>
          </a:p>
          <a:p>
            <a:r>
              <a:rPr sz="1306" b="0" i="0">
                <a:solidFill>
                  <a:srgbClr val="EAF7F5"/>
                </a:solidFill>
                <a:latin typeface="Courier New"/>
              </a:rPr>
              <a:t>- Return the updated Book with status 200.</a:t>
            </a:r>
          </a:p>
          <a:p>
            <a:r>
              <a:rPr sz="1306" b="0" i="0">
                <a:solidFill>
                  <a:srgbClr val="EAF7F5"/>
                </a:solidFill>
                <a:latin typeface="Courier New"/>
              </a:rPr>
              <a:t>- Do not change any other endpoint.</a:t>
            </a:r>
          </a:p>
          <a:p>
            <a:r>
              <a:rPr sz="1306" b="0" i="0">
                <a:solidFill>
                  <a:srgbClr val="EAF7F5"/>
                </a:solidFill>
                <a:latin typeface="Courier New"/>
              </a:rPr>
              <a:t>- Add three TestClient tests: one field updated, unknown id, invalid pages (0).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519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Name the file, the contract, the errors and the tests. Never paste keys or customer data.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Review checklist for AI-generated endpoints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5  |  API Fundamentals and FastAPI 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Right method, path, status codes and response model?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766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4594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94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624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94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Pydantic rules match the business rules?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105156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2788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788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81800" y="1234439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Errors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78880" y="170992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404 and 422 handled, no stack traces leaked?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Side effects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Did it change files or endpoints you did not ask for?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766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4594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594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624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Tests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594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Do the tests fail when the code is wrong?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0" y="2857500"/>
            <a:ext cx="25908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2788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788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81800" y="30403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Explain 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78880" y="3515868"/>
            <a:ext cx="22250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Can you explain every line to a teammate?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71323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 typical bug Codex can write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35240" y="109728"/>
            <a:ext cx="1051560" cy="2743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35240" y="109728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NEW (v4)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5  |  API Fundamentals and FastAPI 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FF8A3D"/>
                </a:solidFill>
                <a:latin typeface="Calibri"/>
              </a:rPr>
              <a:t>Generated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ch = data.model_dump()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Sends None for every field not supplied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PATCH {pages: 250} wipes the title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1097280"/>
            <a:ext cx="4023360" cy="2834640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12344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500" b="1" i="0">
                <a:solidFill>
                  <a:srgbClr val="0FA3A3"/>
                </a:solidFill>
                <a:latin typeface="Calibri"/>
              </a:rPr>
              <a:t>Reviewed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92040" y="1691640"/>
            <a:ext cx="356616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ch = data.model_dump(exclude_unset=True)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Only fields the client sent are changed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0E3B43"/>
                </a:solidFill>
                <a:latin typeface="Calibri"/>
              </a:rPr>
              <a:t>•  A test proves the title survives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1">
                <a:solidFill>
                  <a:srgbClr val="0FA3A3"/>
                </a:solidFill>
                <a:latin typeface="Calibri"/>
              </a:rPr>
              <a:t>It runs, it looks right, and it is wrong. Tests catch it; reading the diff catches it sooner.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SmartDesk step 4: FastAPI ticket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5  |  API Fundamentals and FastAPI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29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Goal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Turn the SmartDesk tickets into a REST API.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TicketCreate, TicketUpdate and Ticket with Pydantic rules.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Endpoints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Full CRUD under /tickets with the right status codes.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Build with Codex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Use Day05_App_Build_Prompts.md. Review every 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Assessment: Basics assessment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5  |  API Fundamentals and FastAPI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FF8A3D"/>
                </a:solidFill>
                <a:latin typeface="Calibri"/>
              </a:rPr>
              <a:t>Ganbatte kudasai (頑張ってください): Please do your best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30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88720"/>
            <a:ext cx="8229600" cy="1737360"/>
          </a:xfrm>
          <a:prstGeom prst="rect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7680960" cy="1463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000" b="1" i="0">
                <a:solidFill>
                  <a:srgbClr val="FFFFFF"/>
                </a:solidFill>
                <a:latin typeface="Cambria"/>
              </a:rPr>
              <a:t>1.5 hours. MCQs and short coding tasks on Python basics, OOP, MongoDB and FastAPI core.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154680"/>
            <a:ext cx="8229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E3B43"/>
                </a:solidFill>
                <a:latin typeface="Calibri"/>
              </a:rPr>
              <a:t>Read every question twice. Attempt everything; partial answers still earn marks.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5  |  API Fundamentals and FastAPI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HTTP and REST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Nouns in URLs, methods for actions, stateless requests, clear status codes.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86300" y="105156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869180" y="1234439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69180" y="1234439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72100" y="1234439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FastAPI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9180" y="170992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Decorated functions become endpoints with free docs.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0080" y="30403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Pydantic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Models validate input and shape output; separate Create, Update, Response.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86300" y="2857500"/>
            <a:ext cx="4000500" cy="15773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69180" y="30403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918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2100" y="3040380"/>
            <a:ext cx="31318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Codex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69180" y="3515868"/>
            <a:ext cx="3634740" cy="8000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Small prompts, read every diff, prove it with tests.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2600" b="1" i="0">
                <a:solidFill>
                  <a:srgbClr val="0E3B43"/>
                </a:solidFill>
                <a:latin typeface="Cambria"/>
              </a:rPr>
              <a:t>Before Monday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754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900" b="0" i="0">
                <a:solidFill>
                  <a:srgbClr val="0FA3A3"/>
                </a:solidFill>
                <a:latin typeface="Calibri"/>
              </a:rPr>
              <a:t>Day 5  |  API Fundamentals and FastAPI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0" y="475488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0">
                <a:solidFill>
                  <a:srgbClr val="3D7C82"/>
                </a:solidFill>
                <a:latin typeface="Calibri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300" b="0" i="0">
                <a:solidFill>
                  <a:srgbClr val="0FA3A3"/>
                </a:solidFill>
                <a:latin typeface="Calibri"/>
              </a:rPr>
              <a:t>Monday starts with a 15 question quiz on today's topics.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400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Hotel lab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Follow Day05_Hotel_Lab.md: post-read, notebook, problems.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766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459480" y="1554480"/>
            <a:ext cx="384048" cy="384048"/>
          </a:xfrm>
          <a:prstGeom prst="ellipse">
            <a:avLst/>
          </a:prstGeom>
          <a:solidFill>
            <a:srgbClr val="0FA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94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624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Workbook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94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Complete the Day 5 workbook.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0" y="1371600"/>
            <a:ext cx="2590800" cy="3063239"/>
          </a:xfrm>
          <a:prstGeom prst="rect">
            <a:avLst/>
          </a:prstGeom>
          <a:solidFill>
            <a:srgbClr val="E3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278880" y="1554480"/>
            <a:ext cx="384048" cy="384048"/>
          </a:xfrm>
          <a:prstGeom prst="ellipse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78880" y="15544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800" y="1554480"/>
            <a:ext cx="17221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500" b="1" i="0">
                <a:solidFill>
                  <a:srgbClr val="0E3B43"/>
                </a:solidFill>
                <a:latin typeface="Calibri"/>
              </a:rPr>
              <a:t>Pre-read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78880" y="2029967"/>
            <a:ext cx="2225040" cy="2285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400" b="0" i="0">
                <a:solidFill>
                  <a:srgbClr val="1F4E55"/>
                </a:solidFill>
                <a:latin typeface="Calibri"/>
              </a:rPr>
              <a:t>Skim the Day 6 pre-read on relationships and docs.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Connect with 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Questions after class, feedback, or want to share what you built today? Reach out on LinkedIn.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108960"/>
            <a:ext cx="4114800" cy="502920"/>
          </a:xfrm>
          <a:prstGeom prst="roundRect">
            <a:avLst/>
          </a:prstGeom>
          <a:solidFill>
            <a:srgbClr val="FF8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08960"/>
            <a:ext cx="3840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Ahmed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  linkedin.com/in/ahmed-al-imaad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D6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914400"/>
            <a:ext cx="786384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057400"/>
            <a:ext cx="786384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1700" b="0" i="0">
                <a:solidFill>
                  <a:srgbClr val="CDEFEC"/>
                </a:solidFill>
                <a:latin typeface="Calibri"/>
              </a:rPr>
              <a:t>See you on Monday for Day 6: SQLAlchemy, relationships and API docs.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06240" y="47548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i="1">
                <a:solidFill>
                  <a:srgbClr val="CDEFEC"/>
                </a:solidFill>
                <a:latin typeface="Calibri"/>
              </a:rPr>
              <a:t>Yoi shuumatsu wo (良い週末を): Have a great weekend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