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274320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400" b="1" i="0">
                <a:solidFill>
                  <a:srgbClr val="FF8A3D"/>
                </a:solidFill>
                <a:latin typeface="Calibri"/>
              </a:rPr>
              <a:t>DAY 15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42316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PyTest and TestClient, tests drafted with Codex, React testing, ETL vs ELT, ingestion and data quality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3291840"/>
            <a:ext cx="164592" cy="164592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96112" y="3291840"/>
            <a:ext cx="164592" cy="164592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52144" y="3291840"/>
            <a:ext cx="164592" cy="164592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361188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200" b="0" i="0">
                <a:solidFill>
                  <a:srgbClr val="CDEFEC"/>
                </a:solidFill>
                <a:latin typeface="Calibri"/>
              </a:rPr>
              <a:t>Mon 16 Nov 2026  |  Basics track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0690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Calibri"/>
              </a:rPr>
              <a:t>Prepared by Ahmed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3159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100" b="0" i="0">
                <a:solidFill>
                  <a:srgbClr val="CDEFEC"/>
                </a:solidFill>
                <a:latin typeface="Calibri"/>
              </a:rPr>
              <a:t>linkedin.com/in/ahmed-al-imaad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Today's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Ohayou gozaimasu (おはようございます): Good morning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Quiz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15 questions on Day 13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PyTest and FastAPI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Tests, fixtures, parametrize, TestClient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Tests with Codex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Draft, review, run. NEW (v4)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React testing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 what the user sees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Data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Lifecycle, ETL vs ELT, ingestion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Data quality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Checks and a tested pipeline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By the end of today you can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Write PyTest tests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Use asserts, fixtures and parametrize; test FastAPI with TestClient.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Review AI-drafted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Let Codex draft tests, then check they test the right thing.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Describe data flow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Walk through the data lifecycle, ETL and ELT.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Build a tested pipeline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Ingest a messy CSV with pandas and prove its quality with tests.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How today is organised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4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Session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Duration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Focus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1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1.5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FastAPI testing with PyTest and TestClient; tests drafted with Codex (NEW v4)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2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1 hr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React app testing basics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3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engineering basics; ingestion; ETL vs ELT; CSV ingestion with pandas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Session 4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2 hrs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quality checks; testing a small pipeline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Testing with PyTest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1 (1.5 hrs): proof that your code works, every time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The testing pyramid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Anshin (安心): Peace of mind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Unit tests (many)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One function at a time. Fast, run on every save.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Integration tests (some)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Parts working together: API + database.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051560"/>
            <a:ext cx="2590800" cy="338327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End-to-end tests (few)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1709928"/>
            <a:ext cx="2225040" cy="26060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The whole app through the browser. Slow but realistic.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Your first PyTest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Files named test_*.py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Functions named test_*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Plain assert statements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 with: pytest -q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75" b="0" i="0">
                <a:solidFill>
                  <a:srgbClr val="EAF7F5"/>
                </a:solidFill>
                <a:latin typeface="Courier New"/>
              </a:rPr>
              <a:t># pricing.py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def with_gst(amount, rate=18):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if amount &lt; 0: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    raise ValueError("negative")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return round(amount * (1 + rate / 100), 2)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# test_pricing.py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import pytest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from pricing import with_gst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def test_default_rate():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assert with_gst(100) == 118.0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def test_negative_raises():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with pytest.raises(ValueError):</a:t>
            </a:r>
          </a:p>
          <a:p>
            <a:r>
              <a:rPr sz="975" b="0" i="0">
                <a:solidFill>
                  <a:srgbClr val="EAF7F5"/>
                </a:solidFill>
                <a:latin typeface="Courier New"/>
              </a:rPr>
              <a:t>        with_gst(-1)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parametrize and fixtures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parametrize runs one test with many inputs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fixture prepares shared test data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Tests ask for fixtures by name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Same idea as FastAPI Depends()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54" b="0" i="0">
                <a:solidFill>
                  <a:srgbClr val="EAF7F5"/>
                </a:solidFill>
                <a:latin typeface="Courier New"/>
              </a:rPr>
              <a:t>@pytest.mark.parametrize("amt, rate, out", [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(100, 18, 118.0),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(100, 5, 105.0),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(0, 18, 0.0),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])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def test_rates(amt, rate, out):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assert with_gst(amt, rate) == out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@pytest.fixture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def cart():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return [{"price": 100}, {"price": 50}]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def test_cart_total(cart):</a:t>
            </a:r>
          </a:p>
          <a:p>
            <a:r>
              <a:rPr sz="954" b="0" i="0">
                <a:solidFill>
                  <a:srgbClr val="EAF7F5"/>
                </a:solidFill>
                <a:latin typeface="Courier New"/>
              </a:rPr>
              <a:t>    assert sum(i["price"] for i in cart) == 150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Testing a FastAPI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TestClient calls the app directly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 fixture gives every test a clean client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Check status codes and JSON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Test unhappy paths too: 404, 422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63" b="0" i="0">
                <a:solidFill>
                  <a:srgbClr val="EAF7F5"/>
                </a:solidFill>
                <a:latin typeface="Courier New"/>
              </a:rPr>
              <a:t>from fastapi.testclient import TestClient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from main import app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@pytest.fixture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def client():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return TestClient(app)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def test_create_ticket(client):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r = client.post("/tickets", json={"title": "x"})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assert r.status_code == 201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assert r.json()["status"] == "open"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def test_missing_ticket(client):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r = client.get("/tickets/999")</a:t>
            </a:r>
          </a:p>
          <a:p>
            <a:r>
              <a:rPr sz="863" b="0" i="0">
                <a:solidFill>
                  <a:srgbClr val="EAF7F5"/>
                </a:solidFill>
                <a:latin typeface="Courier New"/>
              </a:rPr>
              <a:t>    assert r.status_code == 404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Generate tests with Codex, then review and run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10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Describe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Name the function, rules and edge cases</a:t>
            </a:r>
          </a:p>
        </p:txBody>
      </p:sp>
      <p:sp>
        <p:nvSpPr>
          <p:cNvPr id="12" name="Chevron 11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Draft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Codex writes test_*.py</a:t>
            </a:r>
          </a:p>
        </p:txBody>
      </p:sp>
      <p:sp>
        <p:nvSpPr>
          <p:cNvPr id="18" name="Chevron 17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Review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Is each expectation right?</a:t>
            </a:r>
          </a:p>
        </p:txBody>
      </p:sp>
      <p:sp>
        <p:nvSpPr>
          <p:cNvPr id="24" name="Chevron 23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Run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pytest -q; read every failure</a:t>
            </a:r>
          </a:p>
        </p:txBody>
      </p:sp>
      <p:sp>
        <p:nvSpPr>
          <p:cNvPr id="30" name="Chevron 29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Fix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Fix the test or the code, never blindly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A failing AI-drafted test means either the code or the test is wrong. You decide which.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Reviewing an AI-drafted test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11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Right expectation?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Check each expected value against the real rule, not the code.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766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4594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594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624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Real assertions?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594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Reject tests that only check "is not None" or call without asserting.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0" y="105156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788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788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81800" y="1234439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Edge cases?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880" y="170992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Boundaries, empty input, wrong types, error paths.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Independent?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Each test sets up its own data; no order dependence.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766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34594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594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624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Readable?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594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Clear names; one behaviour per test.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96000" y="2857500"/>
            <a:ext cx="25908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62788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2788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781800" y="30403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Cost and safety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78880" y="3515868"/>
            <a:ext cx="22250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Small prompt with only the relevant file; no secrets or customer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713232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Codex prompt for tests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35240" y="109728"/>
            <a:ext cx="1051560" cy="2743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35240" y="109728"/>
            <a:ext cx="1051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NEW (v4)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12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051560"/>
            <a:ext cx="8229600" cy="310896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188719"/>
            <a:ext cx="7863840" cy="283464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1164" b="0" i="0">
                <a:solidFill>
                  <a:srgbClr val="EAF7F5"/>
                </a:solidFill>
                <a:latin typeface="Courier New"/>
              </a:rPr>
              <a:t>Write PyTest tests for grade(marks) in pricing.py.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Rules: 85-100 -&gt; "A", 70-84 -&gt; "B", 50-69 -&gt; "C", 0-49 -&gt; "Needs improvement".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Marks outside 0-100 raise ValueError.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Use one parametrized test for all boundaries (0, 49, 50, 69, 70, 84, 85, 100)</a:t>
            </a:r>
          </a:p>
          <a:p>
            <a:r>
              <a:rPr sz="1164" b="0" i="0">
                <a:solidFill>
                  <a:srgbClr val="EAF7F5"/>
                </a:solidFill>
                <a:latin typeface="Courier New"/>
              </a:rPr>
              <a:t>and one test for each error case. Do not change pricing.py.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Give the rules, not just the code. Otherwise Codex tests what the code does, bugs included.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Testing React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2 (1 hr): test what the user sees, not the internals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Two levels of front end tests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Unit tests (plain JS)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Pure functions: formatPrice, filters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Fast, no browser needed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node --test or Vitest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Component tests (RTL)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Render a component in a fake DOM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Find elements like a user would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Click, type, then check the screen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React Testing Library with Vitest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render the component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screen finds elements by role or text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userEvent simulates real clicks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expect what the user should see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935" b="0" i="0">
                <a:solidFill>
                  <a:srgbClr val="EAF7F5"/>
                </a:solidFill>
                <a:latin typeface="Courier New"/>
              </a:rPr>
              <a:t>import { render, screen } from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"@testing-library/react";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import userEvent from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"@testing-library/user-event";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import Counter from "./Counter";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test("increments on click", async () =&gt; {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render(&lt;Counter /&gt;);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await userEvent.click(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screen.getByRole("button", { name: "+1" }));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expect(screen.getByText("Count: 1"))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    .toBeInTheDocument();</a:t>
            </a:r>
          </a:p>
          <a:p>
            <a:r>
              <a:rPr sz="935" b="0" i="0">
                <a:solidFill>
                  <a:srgbClr val="EAF7F5"/>
                </a:solidFill>
                <a:latin typeface="Courier New"/>
              </a:rPr>
              <a:t>});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Data engineering basics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3 (2 hrs): where data comes from and where it goes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From raw data to decisions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23544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23544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Generate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Apps, sensors, forms, logs</a:t>
            </a:r>
          </a:p>
        </p:txBody>
      </p:sp>
      <p:sp>
        <p:nvSpPr>
          <p:cNvPr id="10" name="Chevron 9"/>
          <p:cNvSpPr/>
          <p:nvPr/>
        </p:nvSpPr>
        <p:spPr>
          <a:xfrm>
            <a:off x="1929384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67128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633472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58568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Ingest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76856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Collect into one place</a:t>
            </a:r>
          </a:p>
        </p:txBody>
      </p:sp>
      <p:sp>
        <p:nvSpPr>
          <p:cNvPr id="16" name="Chevron 15"/>
          <p:cNvSpPr/>
          <p:nvPr/>
        </p:nvSpPr>
        <p:spPr>
          <a:xfrm>
            <a:off x="3639312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877056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43400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968496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Store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86784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Lake or warehouse</a:t>
            </a:r>
          </a:p>
        </p:txBody>
      </p:sp>
      <p:sp>
        <p:nvSpPr>
          <p:cNvPr id="22" name="Chevron 21"/>
          <p:cNvSpPr/>
          <p:nvPr/>
        </p:nvSpPr>
        <p:spPr>
          <a:xfrm>
            <a:off x="5349240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586984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053328" y="1554480"/>
            <a:ext cx="457200" cy="457200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78424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Process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96712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Clean, join, aggregate</a:t>
            </a:r>
          </a:p>
        </p:txBody>
      </p:sp>
      <p:sp>
        <p:nvSpPr>
          <p:cNvPr id="28" name="Chevron 27"/>
          <p:cNvSpPr/>
          <p:nvPr/>
        </p:nvSpPr>
        <p:spPr>
          <a:xfrm>
            <a:off x="7059168" y="2377440"/>
            <a:ext cx="155448" cy="274320"/>
          </a:xfrm>
          <a:prstGeom prst="chevron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296912" y="1371600"/>
            <a:ext cx="1389888" cy="22860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63256" y="1554480"/>
            <a:ext cx="457200" cy="457200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63256" y="155448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88352" y="2148840"/>
            <a:ext cx="1207008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400" b="1" i="0">
                <a:solidFill>
                  <a:srgbClr val="0E3B43"/>
                </a:solidFill>
                <a:latin typeface="Calibri"/>
              </a:rPr>
              <a:t>Serve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406640" y="2560320"/>
            <a:ext cx="1170432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 i="0">
                <a:solidFill>
                  <a:srgbClr val="1F4E55"/>
                </a:solidFill>
                <a:latin typeface="Calibri"/>
              </a:rPr>
              <a:t>Dashboards, APIs, AI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397763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Data engineers build and run the pipes between these stages.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Who does what with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Role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Main focus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Typical output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engineer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Reliable pipelines and storage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Clean tables on schedule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analyst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Answering business questions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Reports and dashboards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Data scientist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Predictions and experiments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Models and insights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FDE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Solving one customer's problem end to end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Working solution in their environment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ETL and ELT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19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FF8A3D"/>
                </a:solidFill>
                <a:latin typeface="Calibri"/>
              </a:rPr>
              <a:t>ETL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Extract, Transform, then Load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Clean before storing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Good when storage is costly or rules strict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Classic warehouses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97280"/>
            <a:ext cx="4023360" cy="3200400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92040" y="1234440"/>
            <a:ext cx="35661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500" b="1" i="0">
                <a:solidFill>
                  <a:srgbClr val="0FA3A3"/>
                </a:solidFill>
                <a:latin typeface="Calibri"/>
              </a:rPr>
              <a:t>ELT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1691640"/>
            <a:ext cx="35661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Extract, Load raw, then Transform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Transform inside the warehouse with SQL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Keeps raw data for replays</a:t>
            </a:r>
          </a:p>
          <a:p>
            <a:pPr>
              <a:spcAft>
                <a:spcPts val="400"/>
              </a:spcAft>
            </a:pPr>
            <a:r>
              <a:rPr sz="1400" b="0" i="0">
                <a:solidFill>
                  <a:srgbClr val="0E3B43"/>
                </a:solidFill>
                <a:latin typeface="Calibri"/>
              </a:rPr>
              <a:t>•  Modern cloud platforms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A tiny ETL with pandas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Extract from CSV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Transform: clean, fix types, dedupe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Load into a database table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Each step is a small testable function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880" b="0" i="0">
                <a:solidFill>
                  <a:srgbClr val="EAF7F5"/>
                </a:solidFill>
                <a:latin typeface="Courier New"/>
              </a:rPr>
              <a:t>import pandas as pd, sqlite3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def extract(path):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    return pd.read_csv(path)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def transform(df):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    df = df.drop_duplicates("ticket_id")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    df["minutes"] = pd.to_numeric(df["minutes"],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                                  errors="coerce")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    return df.dropna(subset=["minutes"])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def load(df, conn):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    df.to_sql("tickets", conn, if_exists="replace")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load(transform(extract("legacy_tickets.csv")),</a:t>
            </a:r>
          </a:p>
          <a:p>
            <a:r>
              <a:rPr sz="880" b="0" i="0">
                <a:solidFill>
                  <a:srgbClr val="EAF7F5"/>
                </a:solidFill>
                <a:latin typeface="Courier New"/>
              </a:rPr>
              <a:t>     sqlite3.connect("smartdesk.db"))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Ingestion patterns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097280"/>
          <a:ext cx="8229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38404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Pattern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marL="73152" marR="73152" marT="27432" marB="27432">
                    <a:solidFill>
                      <a:srgbClr val="0FA3A3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Batch full load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Copy everything each run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Small tables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Incremental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Only rows newer than last run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Growing tables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Streaming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Process events as they arrive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Real-time needs</a:t>
                      </a:r>
                    </a:p>
                  </a:txBody>
                  <a:tcPr marL="73152" marR="73152" marT="27432" marB="27432"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API pull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Call an API on a schedule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0E3B43"/>
                          </a:solidFill>
                          <a:latin typeface="Calibri"/>
                        </a:rPr>
                        <a:t>SaaS data sources</a:t>
                      </a:r>
                    </a:p>
                  </a:txBody>
                  <a:tcPr marL="73152" marR="73152" marT="27432" marB="27432">
                    <a:solidFill>
                      <a:srgbClr val="EAF7F5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57200" y="3154679"/>
            <a:ext cx="8229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1">
                <a:solidFill>
                  <a:srgbClr val="0FA3A3"/>
                </a:solidFill>
                <a:latin typeface="Calibri"/>
              </a:rPr>
              <a:t>Make pipelines idempotent: running twice must not create duplicates.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868680"/>
            <a:ext cx="36576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4000" b="1" i="0">
                <a:solidFill>
                  <a:srgbClr val="FF8A3D"/>
                </a:solidFill>
                <a:latin typeface="Cambria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78308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000" b="1" i="0">
                <a:solidFill>
                  <a:srgbClr val="FFFFFF"/>
                </a:solidFill>
                <a:latin typeface="Cambria"/>
              </a:rPr>
              <a:t>Data quality and pipeline tests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46888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CDEFEC"/>
                </a:solidFill>
                <a:latin typeface="Calibri"/>
              </a:rPr>
              <a:t>Session 4 (2 hrs): trust, then use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Data quality checks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23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Completeness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 missing ids or required fields.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Uniqueness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No duplicate keys after the load.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Validity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Values in range: minutes &gt;= 0, known priorities.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Freshness and volume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Row count close to yesterday; latest date is recent.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Testing a small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3749039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Unit test each transform with a tiny DataFrame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tmp_path gives each test its own database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Assert quality rules on the loaded table</a:t>
            </a:r>
          </a:p>
          <a:p>
            <a:pPr>
              <a:spcAft>
                <a:spcPts val="600"/>
              </a:spcAft>
            </a:pPr>
            <a:r>
              <a:rPr sz="1600" b="0" i="0">
                <a:solidFill>
                  <a:srgbClr val="0E3B43"/>
                </a:solidFill>
                <a:latin typeface="Calibri"/>
              </a:rPr>
              <a:t>•  Run twice to prove idempotency</a:t>
            </a:r>
          </a:p>
        </p:txBody>
      </p:sp>
      <p:sp>
        <p:nvSpPr>
          <p:cNvPr id="6" name="Rectangle 5"/>
          <p:cNvSpPr/>
          <p:nvPr/>
        </p:nvSpPr>
        <p:spPr>
          <a:xfrm>
            <a:off x="4434840" y="1097280"/>
            <a:ext cx="4251960" cy="3291840"/>
          </a:xfrm>
          <a:prstGeom prst="rect">
            <a:avLst/>
          </a:prstGeom>
          <a:solidFill>
            <a:srgbClr val="0F2C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17720" y="1234439"/>
            <a:ext cx="3886200" cy="301752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r>
              <a:rPr sz="760" b="0" i="0">
                <a:solidFill>
                  <a:srgbClr val="EAF7F5"/>
                </a:solidFill>
                <a:latin typeface="Courier New"/>
              </a:rPr>
              <a:t>def test_no_duplicate_ids(loaded):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    ids = pd.read_sql("SELECT ticket_id FROM tickets",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                      loaded)["ticket_id"]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    assert ids.is_unique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def test_minutes_valid(loaded):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    df = pd.read_sql("SELECT minutes FROM tickets", loaded)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    assert (df.minutes &gt;= 0).all()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/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def test_idempotent(tmp_path):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    conn = sqlite3.connect(tmp_path / "t.db")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    assert load_incremental(batch, conn) == 3</a:t>
            </a:r>
          </a:p>
          <a:p>
            <a:r>
              <a:rPr sz="760" b="0" i="0">
                <a:solidFill>
                  <a:srgbClr val="EAF7F5"/>
                </a:solidFill>
                <a:latin typeface="Courier New"/>
              </a:rPr>
              <a:t>    assert load_incremental(batch, conn) == 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SmartDesk step 13: tests and legacy import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25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PyTest suite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TestClient tests for every ticket endpoint, including 404 and 422.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Codex drafts, you review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Ask Codex for tests from the rules; review each expectation.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Legacy CSV import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ETL from the old helpdesk CSV into SmartDesk, idempotent.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Quality tests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Unique ids, valid priorities, no negative minutes.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Hands-on time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FF8A3D"/>
                </a:solidFill>
                <a:latin typeface="Calibri"/>
              </a:rPr>
              <a:t>Ganbatte (頑張って): Do your best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26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8229600" cy="1737360"/>
          </a:xfrm>
          <a:prstGeom prst="rect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25880"/>
            <a:ext cx="7680960" cy="1463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000" b="1" i="0">
                <a:solidFill>
                  <a:srgbClr val="FFFFFF"/>
                </a:solidFill>
                <a:latin typeface="Cambria"/>
              </a:rPr>
              <a:t>Write PyTest tests for your ticket API, review a Codex-drafted test file, then build and test a small ETL pipeline from a messy CSV into SQLite.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154680"/>
            <a:ext cx="822960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E3B43"/>
                </a:solidFill>
                <a:latin typeface="Calibri"/>
              </a:rPr>
              <a:t>Write the test first for at least one function today. Notice how it shapes your code.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27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40080" y="1234439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PyTest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assert, fixtures, parametrize, TestClient for APIs.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86300" y="105156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869180" y="1234439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869180" y="1234439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72100" y="1234439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AI-drafted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69180" y="170992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Give rules, review every expectation, then run.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0080" y="30403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Lifecycle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Generate, ingest, store, process, serve. ETL or ELT.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686300" y="2857500"/>
            <a:ext cx="4000500" cy="15773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69180" y="30403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69180" y="30403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72100" y="3040380"/>
            <a:ext cx="31318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Data quality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69180" y="3515868"/>
            <a:ext cx="3634740" cy="8000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Complete, unique, valid, fresh. Every run idempotent.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56032"/>
            <a:ext cx="8229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2600" b="1" i="0">
                <a:solidFill>
                  <a:srgbClr val="0E3B43"/>
                </a:solidFill>
                <a:latin typeface="Cambria"/>
              </a:rPr>
              <a:t>Before tomorrow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75488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900" b="0" i="0">
                <a:solidFill>
                  <a:srgbClr val="0FA3A3"/>
                </a:solidFill>
                <a:latin typeface="Calibri"/>
              </a:rPr>
              <a:t>Day 15  |  Testing and Data Engineering Intro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0">
                <a:solidFill>
                  <a:srgbClr val="3D7C82"/>
                </a:solidFill>
                <a:latin typeface="Calibri"/>
              </a:rPr>
              <a:t>28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300" b="0" i="0">
                <a:solidFill>
                  <a:srgbClr val="0FA3A3"/>
                </a:solidFill>
                <a:latin typeface="Calibri"/>
              </a:rPr>
              <a:t>Tomorrow starts with a 15 question quiz on today's topics.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6400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Hotel lab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Follow Day15_Hotel_Lab.md: PyTest cases and a messy CSV.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66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459480" y="1554480"/>
            <a:ext cx="384048" cy="384048"/>
          </a:xfrm>
          <a:prstGeom prst="ellipse">
            <a:avLst/>
          </a:prstGeom>
          <a:solidFill>
            <a:srgbClr val="0FA3A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94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624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Workbook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94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Complete the Day 15 workbook.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0" y="1371600"/>
            <a:ext cx="2590800" cy="3063239"/>
          </a:xfrm>
          <a:prstGeom prst="rect">
            <a:avLst/>
          </a:prstGeom>
          <a:solidFill>
            <a:srgbClr val="E3F6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278880" y="1554480"/>
            <a:ext cx="384048" cy="384048"/>
          </a:xfrm>
          <a:prstGeom prst="ellipse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78880" y="155448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81800" y="1554480"/>
            <a:ext cx="172212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500" b="1" i="0">
                <a:solidFill>
                  <a:srgbClr val="0E3B43"/>
                </a:solidFill>
                <a:latin typeface="Calibri"/>
              </a:rPr>
              <a:t>Pre-read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880" y="2029967"/>
            <a:ext cx="2225040" cy="228599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400" b="0" i="0">
                <a:solidFill>
                  <a:srgbClr val="1F4E55"/>
                </a:solidFill>
                <a:latin typeface="Calibri"/>
              </a:rPr>
              <a:t>Skim the Day 16 pre-read on big data and Spark.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Connect with 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Questions after class, feedback, or want to share what you built today? Reach out on LinkedIn.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3108960"/>
            <a:ext cx="4114800" cy="502920"/>
          </a:xfrm>
          <a:prstGeom prst="roundRect">
            <a:avLst/>
          </a:prstGeom>
          <a:solidFill>
            <a:srgbClr val="FF8A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3108960"/>
            <a:ext cx="3840480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r>
              <a:rPr sz="1300" b="1" i="0">
                <a:solidFill>
                  <a:srgbClr val="FFFFFF"/>
                </a:solidFill>
                <a:latin typeface="Calibri"/>
              </a:rPr>
              <a:t>Ahmed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  linkedin.com/in/ahmed-al-imaad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5D6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914400"/>
            <a:ext cx="7863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3400" b="1" i="0">
                <a:solidFill>
                  <a:srgbClr val="FFFFFF"/>
                </a:solidFill>
                <a:latin typeface="Cambria"/>
              </a:rP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057400"/>
            <a:ext cx="786384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r>
              <a:rPr sz="1700" b="0" i="0">
                <a:solidFill>
                  <a:srgbClr val="CDEFEC"/>
                </a:solidFill>
                <a:latin typeface="Calibri"/>
              </a:rPr>
              <a:t>See you tomorrow for Day 16: data pipelines, Spark and PySpark.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06240" y="4754880"/>
            <a:ext cx="448056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/>
            <a:r>
              <a:rPr sz="900" b="0" i="1">
                <a:solidFill>
                  <a:srgbClr val="CDEFEC"/>
                </a:solidFill>
                <a:latin typeface="Calibri"/>
              </a:rPr>
              <a:t>Otsukaresama deshita (お疲れ様でした): Thank you for your hard work today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