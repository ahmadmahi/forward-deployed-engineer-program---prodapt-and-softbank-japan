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 i="0">
                <a:solidFill>
                  <a:srgbClr val="FF8A3D"/>
                </a:solidFill>
                <a:latin typeface="Calibri"/>
              </a:rPr>
              <a:t>DAY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Architecture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2316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Frontend, backend and APIs, charts with Matplotlib, NoSQL and BSON, MongoDB CRUD, indexes and data modelling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3291840"/>
            <a:ext cx="164592" cy="164592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3291840"/>
            <a:ext cx="164592" cy="164592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3291840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CDEFEC"/>
                </a:solidFill>
                <a:latin typeface="Calibri"/>
              </a:rPr>
              <a:t>Thu 29 Oct 2026  |  Basics 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Prepared by Ahmed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CDEFEC"/>
                </a:solidFill>
                <a:latin typeface="Calibri"/>
              </a:rPr>
              <a:t>linkedin.com/in/ahmed-al-imaad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Today's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4  |  Architecture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Ohayou gozaimasu (おはようございます): Good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Quiz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15 questions on Day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Session 1 (1 hr)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Frontend, backend, middleware, APIs; Matplotlib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Session 2 (2.5 hrs)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NoSQL, MongoDB, documents, BSON, ObjectId, Compass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Session 3 (2.5 hrs)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CRUD, indexes, embed vs reference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SmartDesk step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Tickets in MongoDB; chart by priority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Hands-on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Inventory Dashboard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By the end of today you 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4  |  Architecture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Explain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Describe frontend, backend, middleware, clients, servers and APIs.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Visualise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Draw line, bar and pie charts with Matplotlib.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Use MongoDB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Insert, find, update and delete documents with PyMongo.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Design documents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Add indexes and choose between embedding and referencing.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Architecture and charts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1 (1 hr): how modern apps are wired together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Frontend and backend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4  |  Architecture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Frontend (client side)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What the user sees and clicks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Runs in the browser or on the phone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React, HTML, CSS, JavaScript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Never holds secrets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Backend (server side)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Business rules and data access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Runs on a server you control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Python FastAPI, Node.js Express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Talks to the database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request's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4  |  Architecture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Client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Browser or app sends a request</a:t>
            </a:r>
          </a:p>
        </p:txBody>
      </p:sp>
      <p:sp>
        <p:nvSpPr>
          <p:cNvPr id="10" name="Chevron 9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Internet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Travels over HTTP</a:t>
            </a:r>
          </a:p>
        </p:txBody>
      </p:sp>
      <p:sp>
        <p:nvSpPr>
          <p:cNvPr id="16" name="Chevron 15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Middleware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Logging, auth, CORS checks</a:t>
            </a:r>
          </a:p>
        </p:txBody>
      </p:sp>
      <p:sp>
        <p:nvSpPr>
          <p:cNvPr id="22" name="Chevron 21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Server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API code runs the rules</a:t>
            </a:r>
          </a:p>
        </p:txBody>
      </p:sp>
      <p:sp>
        <p:nvSpPr>
          <p:cNvPr id="28" name="Chevron 27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Database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Data is read or saved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The response travels back the same way, usually as JSON.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The restaurant analogy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4  |  Architecture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Irasshaimase (いらっしゃいませ): Welcome!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Customer = client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Asks for what they want from the menu.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Waiter =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Takes the order, follows the rules, brings back the result.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Kitchen = server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Does the real work out of sight.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Pantry = database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Where ingredients, the data, are stored.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Monolith and layered APIs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4  |  Architecture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Everything in one 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UI, logic and data access mixed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Hard to test and change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One bug can affect everything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Layered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Routes: receive requests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Services: business rules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Repositories: talk to the database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Middleware: cross-cutting checks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API-based architecture: every client uses the same API, so web and mobile stay consistent.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Matplotlib basics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4  |  Architecture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import matplotlib.pyplot as plt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plot() for lines, bar() for bars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Always add a title and axis labels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show() displays, savefig() saves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12" b="0" i="0">
                <a:solidFill>
                  <a:srgbClr val="EAF7F5"/>
                </a:solidFill>
                <a:latin typeface="Courier New"/>
              </a:rPr>
              <a:t>import matplotlib.pyplot as plt</a:t>
            </a:r>
          </a:p>
          <a:p>
            <a:r>
              <a:rPr sz="1212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212" b="0" i="0">
                <a:solidFill>
                  <a:srgbClr val="EAF7F5"/>
                </a:solidFill>
                <a:latin typeface="Courier New"/>
              </a:rPr>
              <a:t>months = ["Jan", "Feb", "Mar", "Apr"]</a:t>
            </a:r>
          </a:p>
          <a:p>
            <a:r>
              <a:rPr sz="1212" b="0" i="0">
                <a:solidFill>
                  <a:srgbClr val="EAF7F5"/>
                </a:solidFill>
                <a:latin typeface="Courier New"/>
              </a:rPr>
              <a:t>tickets = [120, 150, 90, 180]</a:t>
            </a:r>
          </a:p>
          <a:p>
            <a:r>
              <a:rPr sz="1212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212" b="0" i="0">
                <a:solidFill>
                  <a:srgbClr val="EAF7F5"/>
                </a:solidFill>
                <a:latin typeface="Courier New"/>
              </a:rPr>
              <a:t>plt.plot(months, tickets, marker="o")</a:t>
            </a:r>
          </a:p>
          <a:p>
            <a:r>
              <a:rPr sz="1212" b="0" i="0">
                <a:solidFill>
                  <a:srgbClr val="EAF7F5"/>
                </a:solidFill>
                <a:latin typeface="Courier New"/>
              </a:rPr>
              <a:t>plt.title("Tickets per month")</a:t>
            </a:r>
          </a:p>
          <a:p>
            <a:r>
              <a:rPr sz="1212" b="0" i="0">
                <a:solidFill>
                  <a:srgbClr val="EAF7F5"/>
                </a:solidFill>
                <a:latin typeface="Courier New"/>
              </a:rPr>
              <a:t>plt.xlabel("Month")</a:t>
            </a:r>
          </a:p>
          <a:p>
            <a:r>
              <a:rPr sz="1212" b="0" i="0">
                <a:solidFill>
                  <a:srgbClr val="EAF7F5"/>
                </a:solidFill>
                <a:latin typeface="Courier New"/>
              </a:rPr>
              <a:t>plt.ylabel("Tickets")</a:t>
            </a:r>
          </a:p>
          <a:p>
            <a:r>
              <a:rPr sz="1212" b="0" i="0">
                <a:solidFill>
                  <a:srgbClr val="EAF7F5"/>
                </a:solidFill>
                <a:latin typeface="Courier New"/>
              </a:rPr>
              <a:t>plt.show()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Pick the right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4  |  Architecture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Question you are asking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Chart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Function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How does it change over time?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Line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plt.plot()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How do categories compare?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Bar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plt.bar()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How is it spread out?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Histogram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plt.hist()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Is there a relationship?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Scatter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plt.scatter()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What share does each part have?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Pie (few parts)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plt.pie()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538727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Good charts answer one question clearly.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NoSQL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2 (2.5 hrs): storing data as documents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SQL and NoSQL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4  |  Architecture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SQL (relational)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Tables with fixed columns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Relationships via joins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Strong structure up front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Examples: PostgreSQL, MySQL, SQLite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NoSQL (document)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Flexible JSON-like documents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Related data often nested together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Schema can evolve over time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Examples: MongoDB, Firestore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MongoDB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4  |  Architecture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3728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728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Server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mongod process or an Atlas cluster</a:t>
            </a:r>
          </a:p>
        </p:txBody>
      </p:sp>
      <p:sp>
        <p:nvSpPr>
          <p:cNvPr id="10" name="Chevron 9"/>
          <p:cNvSpPr/>
          <p:nvPr/>
        </p:nvSpPr>
        <p:spPr>
          <a:xfrm>
            <a:off x="2356865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9461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27469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7469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8605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433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For example smartdesk</a:t>
            </a:r>
          </a:p>
        </p:txBody>
      </p:sp>
      <p:sp>
        <p:nvSpPr>
          <p:cNvPr id="16" name="Chevron 15"/>
          <p:cNvSpPr/>
          <p:nvPr/>
        </p:nvSpPr>
        <p:spPr>
          <a:xfrm>
            <a:off x="449427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3202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1210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210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2345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Collection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174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For example tickets</a:t>
            </a:r>
          </a:p>
        </p:txBody>
      </p:sp>
      <p:sp>
        <p:nvSpPr>
          <p:cNvPr id="22" name="Chevron 21"/>
          <p:cNvSpPr/>
          <p:nvPr/>
        </p:nvSpPr>
        <p:spPr>
          <a:xfrm>
            <a:off x="663168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69429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54951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4951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6086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Document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9157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One ticket, stored as BSON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Atlas runs MongoDB for you in the cloud. A replica set keeps copies for safety.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MongoDB vocabulary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4  |  Architecture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SQL world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MongoDB world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Database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Database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smartdesk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Table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Collection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tickets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Row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Document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{"customer": "Mei"}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priority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Primary key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_id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ObjectId(...)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JSON, BSON and ObjectId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4  |  Architecture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You write documents like JSON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MongoDB stores them as BSON (Binary JSON)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BSON adds types: dates, ObjectId, decimals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ObjectId: 12 bytes, unique, includes a timestamp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975" b="0" i="0">
                <a:solidFill>
                  <a:srgbClr val="EAF7F5"/>
                </a:solidFill>
                <a:latin typeface="Courier New"/>
              </a:rPr>
              <a:t>{</a:t>
            </a:r>
          </a:p>
          <a:p>
            <a:r>
              <a:rPr sz="975" b="0" i="0">
                <a:solidFill>
                  <a:srgbClr val="EAF7F5"/>
                </a:solidFill>
                <a:latin typeface="Courier New"/>
              </a:rPr>
              <a:t>  "_id": ObjectId("6720f1c2a1b2c3d4e5f60718"),</a:t>
            </a:r>
          </a:p>
          <a:p>
            <a:r>
              <a:rPr sz="975" b="0" i="0">
                <a:solidFill>
                  <a:srgbClr val="EAF7F5"/>
                </a:solidFill>
                <a:latin typeface="Courier New"/>
              </a:rPr>
              <a:t>  "customer": "Mei",</a:t>
            </a:r>
          </a:p>
          <a:p>
            <a:r>
              <a:rPr sz="975" b="0" i="0">
                <a:solidFill>
                  <a:srgbClr val="EAF7F5"/>
                </a:solidFill>
                <a:latin typeface="Courier New"/>
              </a:rPr>
              <a:t>  "issue": "No signal at home",</a:t>
            </a:r>
          </a:p>
          <a:p>
            <a:r>
              <a:rPr sz="975" b="0" i="0">
                <a:solidFill>
                  <a:srgbClr val="EAF7F5"/>
                </a:solidFill>
                <a:latin typeface="Courier New"/>
              </a:rPr>
              <a:t>  "priority": "high",</a:t>
            </a:r>
          </a:p>
          <a:p>
            <a:r>
              <a:rPr sz="975" b="0" i="0">
                <a:solidFill>
                  <a:srgbClr val="EAF7F5"/>
                </a:solidFill>
                <a:latin typeface="Courier New"/>
              </a:rPr>
              <a:t>  "tags": ["network", "5g"],</a:t>
            </a:r>
          </a:p>
          <a:p>
            <a:r>
              <a:rPr sz="975" b="0" i="0">
                <a:solidFill>
                  <a:srgbClr val="EAF7F5"/>
                </a:solidFill>
                <a:latin typeface="Courier New"/>
              </a:rPr>
              <a:t>  "created": ISODate("2026-10-29T09:30:00Z")</a:t>
            </a:r>
          </a:p>
          <a:p>
            <a:r>
              <a:rPr sz="975" b="0" i="0">
                <a:solidFill>
                  <a:srgbClr val="EAF7F5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MongoDB Compass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4  |  Architecture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 free desktop app to see and query your data visually.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Connect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Paste a connection string: local or Atlas.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285750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Explore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Browse collections, filter documents, view indexes.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285750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Optional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Colab uses mongomock, so Compass is not required.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Connection strings contain passwords. Keep them in an environment variable, never in code.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CRUD, indexes and data modelling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3 (2.5 hrs): create, read, update, delete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Connect and create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4  |  Architecture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MongoClient connects to the server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Databases and collections appear on first insert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insert_one for one, insert_many for many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The result tells you the new _id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954" b="0" i="0">
                <a:solidFill>
                  <a:srgbClr val="EAF7F5"/>
                </a:solidFill>
                <a:latin typeface="Courier New"/>
              </a:rPr>
              <a:t>import os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from pymongo import MongoClient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client = MongoClient(os.environ.get(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    "MONGO_URI", "mongodb://localhost:27017"))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tickets = client["smartdesk"]["tickets"]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tickets.insert_one({"customer": "Mei",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                    "priority": "high"})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tickets.insert_many([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    {"customer": "Ravi", "priority": "low"},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    {"customer": "Aiko", "priority": "medium"},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])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Read with filters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4  |  Architecture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find_one returns the first match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find returns all matches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Operators: $gt, $lt, $in, $regex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Projection picks which fields come 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831" b="0" i="0">
                <a:solidFill>
                  <a:srgbClr val="EAF7F5"/>
                </a:solidFill>
                <a:latin typeface="Courier New"/>
              </a:rPr>
              <a:t>tickets.find_one({"customer": "Mei"})</a:t>
            </a:r>
          </a:p>
          <a:p>
            <a:r>
              <a:rPr sz="831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831" b="0" i="0">
                <a:solidFill>
                  <a:srgbClr val="EAF7F5"/>
                </a:solidFill>
                <a:latin typeface="Courier New"/>
              </a:rPr>
              <a:t>urgent = tickets.find({"priority": {"$in": ["high"]}})</a:t>
            </a:r>
          </a:p>
          <a:p>
            <a:r>
              <a:rPr sz="831" b="0" i="0">
                <a:solidFill>
                  <a:srgbClr val="EAF7F5"/>
                </a:solidFill>
                <a:latin typeface="Courier New"/>
              </a:rPr>
              <a:t>for t in urgent:</a:t>
            </a:r>
          </a:p>
          <a:p>
            <a:r>
              <a:rPr sz="831" b="0" i="0">
                <a:solidFill>
                  <a:srgbClr val="EAF7F5"/>
                </a:solidFill>
                <a:latin typeface="Courier New"/>
              </a:rPr>
              <a:t>    print(t["customer"])</a:t>
            </a:r>
          </a:p>
          <a:p>
            <a:r>
              <a:rPr sz="831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831" b="0" i="0">
                <a:solidFill>
                  <a:srgbClr val="EAF7F5"/>
                </a:solidFill>
                <a:latin typeface="Courier New"/>
              </a:rPr>
              <a:t>tickets.find({}, {"_id": 0, "customer": 1})</a:t>
            </a:r>
          </a:p>
          <a:p>
            <a:r>
              <a:rPr sz="831" b="0" i="0">
                <a:solidFill>
                  <a:srgbClr val="EAF7F5"/>
                </a:solidFill>
                <a:latin typeface="Courier New"/>
              </a:rPr>
              <a:t>tickets.count_documents({"status": "open"})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Update and delete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4  |  Architecture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Chuui (注意): Caution. delete_many({}) deletes everything!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update_one / update_many need a filter and an operator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$set changes fields, $inc adds to numbers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$push adds to an array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Always test your filter with find first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897" b="0" i="0">
                <a:solidFill>
                  <a:srgbClr val="EAF7F5"/>
                </a:solidFill>
                <a:latin typeface="Courier New"/>
              </a:rPr>
              <a:t>tickets.update_one(</a:t>
            </a:r>
          </a:p>
          <a:p>
            <a:r>
              <a:rPr sz="897" b="0" i="0">
                <a:solidFill>
                  <a:srgbClr val="EAF7F5"/>
                </a:solidFill>
                <a:latin typeface="Courier New"/>
              </a:rPr>
              <a:t>    {"customer": "Mei"},</a:t>
            </a:r>
          </a:p>
          <a:p>
            <a:r>
              <a:rPr sz="897" b="0" i="0">
                <a:solidFill>
                  <a:srgbClr val="EAF7F5"/>
                </a:solidFill>
                <a:latin typeface="Courier New"/>
              </a:rPr>
              <a:t>    {"$set": {"status": "closed"}}</a:t>
            </a:r>
          </a:p>
          <a:p>
            <a:r>
              <a:rPr sz="897" b="0" i="0">
                <a:solidFill>
                  <a:srgbClr val="EAF7F5"/>
                </a:solidFill>
                <a:latin typeface="Courier New"/>
              </a:rPr>
              <a:t>)</a:t>
            </a:r>
          </a:p>
          <a:p>
            <a:r>
              <a:rPr sz="897" b="0" i="0">
                <a:solidFill>
                  <a:srgbClr val="EAF7F5"/>
                </a:solidFill>
                <a:latin typeface="Courier New"/>
              </a:rPr>
              <a:t>tickets.update_many({}, {"$inc": {"reopened": 0}})</a:t>
            </a:r>
          </a:p>
          <a:p>
            <a:r>
              <a:rPr sz="897" b="0" i="0">
                <a:solidFill>
                  <a:srgbClr val="EAF7F5"/>
                </a:solidFill>
                <a:latin typeface="Courier New"/>
              </a:rPr>
              <a:t>tickets.update_one({"customer": "Ravi"},</a:t>
            </a:r>
          </a:p>
          <a:p>
            <a:r>
              <a:rPr sz="897" b="0" i="0">
                <a:solidFill>
                  <a:srgbClr val="EAF7F5"/>
                </a:solidFill>
                <a:latin typeface="Courier New"/>
              </a:rPr>
              <a:t>                   {"$push": {"tags": "billing"}})</a:t>
            </a:r>
          </a:p>
          <a:p>
            <a:r>
              <a:rPr sz="897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897" b="0" i="0">
                <a:solidFill>
                  <a:srgbClr val="EAF7F5"/>
                </a:solidFill>
                <a:latin typeface="Courier New"/>
              </a:rPr>
              <a:t>tickets.delete_one({"customer": "Aiko"})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Indexes: find fast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4  |  Architecture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Without an index MongoDB scans every document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An index is a sorted lookup on one or more fields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Index the fields you filter and sort on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Unique indexes stop duplicates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Each index slows writes a little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975" b="0" i="0">
                <a:solidFill>
                  <a:srgbClr val="EAF7F5"/>
                </a:solidFill>
                <a:latin typeface="Courier New"/>
              </a:rPr>
              <a:t>tickets.create_index("customer")</a:t>
            </a:r>
          </a:p>
          <a:p>
            <a:r>
              <a:rPr sz="975" b="0" i="0">
                <a:solidFill>
                  <a:srgbClr val="EAF7F5"/>
                </a:solidFill>
                <a:latin typeface="Courier New"/>
              </a:rPr>
              <a:t>tickets.create_index([("status", 1),</a:t>
            </a:r>
          </a:p>
          <a:p>
            <a:r>
              <a:rPr sz="975" b="0" i="0">
                <a:solidFill>
                  <a:srgbClr val="EAF7F5"/>
                </a:solidFill>
                <a:latin typeface="Courier New"/>
              </a:rPr>
              <a:t>                      ("priority", -1)])</a:t>
            </a:r>
          </a:p>
          <a:p>
            <a:r>
              <a:rPr sz="975" b="0" i="0">
                <a:solidFill>
                  <a:srgbClr val="EAF7F5"/>
                </a:solidFill>
                <a:latin typeface="Courier New"/>
              </a:rPr>
              <a:t>tickets.create_index("ticket_no", unique=True)</a:t>
            </a:r>
          </a:p>
          <a:p>
            <a:r>
              <a:rPr sz="975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75" b="0" i="0">
                <a:solidFill>
                  <a:srgbClr val="EAF7F5"/>
                </a:solidFill>
                <a:latin typeface="Courier New"/>
              </a:rPr>
              <a:t>print(tickets.index_information().keys())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Data modelling: embed or reference?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4  |  Architecture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Embed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Store related data inside the document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Read together, in one query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Bounded size (comments on a ticket)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Example: ticket with its notes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Reference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Store the other document's _id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Data shared by many documents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Large or growing without limit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Example: ticket points to a customer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Rule of thumb: embed what you read together; reference what you share.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SmartDesk step 3: tickets in MongoDB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4  |  Architecture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 tickets collection with an index on status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Customers referenced by customer_id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Notes embedded inside each ticket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Count tickets by priority, then chart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068" b="0" i="0">
                <a:solidFill>
                  <a:srgbClr val="EAF7F5"/>
                </a:solidFill>
                <a:latin typeface="Courier New"/>
              </a:rPr>
              <a:t>counts = {}</a:t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>for t in tickets.find({"status": "open"}):</a:t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>    p = t["priority"]</a:t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>    counts[p] = counts.get(p, 0) + 1</a:t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>plt.bar(counts.keys(), counts.values())</a:t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>plt.title("Open tickets by priority")</a:t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>plt.show()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Hands-on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4  |  Architecture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Ganbatte (頑張って): Do your best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24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8229600" cy="1737360"/>
          </a:xfrm>
          <a:prstGeom prst="rect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768096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  <a:latin typeface="Cambria"/>
              </a:rPr>
              <a:t>Build the Inventory Dashboard: store products in MongoDB, query them with filters, add an index, and chart stock value per category.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5468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E3B43"/>
                </a:solidFill>
                <a:latin typeface="Calibri"/>
              </a:rPr>
              <a:t>In Colab we use mongomock, a practice MongoDB that runs in memory. The same code works with a real MongoDB or a free Atlas cluster.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4  |  Architecture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Frontend, backend, middleware, API, database. Layers keep code clean.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Charts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Pick the chart that answers your question. Label everything.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Documents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Flexible JSON-like records stored as BSON with an ObjectId.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CRUD and design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Test filters first. Index what you query. Embed or reference.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Before tomorrow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4  |  Architecture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Tomorrow: quiz on today, FastAPI, then Basics assessment 1.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Hotel 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Follow Day04_Hotel_Lab.md: 20 tickets, queries and a chart.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Workbook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Complete the Day 4 workbook.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Pre-read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Skim the Day 5 pre-read on how the web talks.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Connect with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Questions after class, feedback, or want to share what you built today? Reach out on LinkedIn.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108960"/>
            <a:ext cx="4114800" cy="5029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Ahmed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linkedin.com/in/ahmed-al-imaad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See you tomorrow for Day 5: REST APIs, FastAPI and Basics assessment 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CDEFEC"/>
                </a:solidFill>
                <a:latin typeface="Calibri"/>
              </a:rPr>
              <a:t>Otsukaresama deshita (お疲れ様でした): Thank you for your hard work today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